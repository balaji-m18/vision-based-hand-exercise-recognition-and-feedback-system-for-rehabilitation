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2"/>
  </p:notesMasterIdLst>
  <p:sldIdLst>
    <p:sldId id="256" r:id="rId2"/>
    <p:sldId id="257" r:id="rId3"/>
    <p:sldId id="258" r:id="rId4"/>
    <p:sldId id="271" r:id="rId5"/>
    <p:sldId id="259" r:id="rId6"/>
    <p:sldId id="260" r:id="rId7"/>
    <p:sldId id="261" r:id="rId8"/>
    <p:sldId id="274" r:id="rId9"/>
    <p:sldId id="272" r:id="rId10"/>
    <p:sldId id="277" r:id="rId11"/>
    <p:sldId id="284" r:id="rId12"/>
    <p:sldId id="283" r:id="rId13"/>
    <p:sldId id="276" r:id="rId14"/>
    <p:sldId id="278" r:id="rId15"/>
    <p:sldId id="279" r:id="rId16"/>
    <p:sldId id="280" r:id="rId17"/>
    <p:sldId id="281" r:id="rId18"/>
    <p:sldId id="282" r:id="rId19"/>
    <p:sldId id="273" r:id="rId20"/>
    <p:sldId id="265" r:id="rId2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90" autoAdjust="0"/>
  </p:normalViewPr>
  <p:slideViewPr>
    <p:cSldViewPr snapToGrid="0">
      <p:cViewPr varScale="1">
        <p:scale>
          <a:sx n="81" d="100"/>
          <a:sy n="81" d="100"/>
        </p:scale>
        <p:origin x="754" y="53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8122667-FDE9-47ED-B124-1706BBD27374}" type="datetimeFigureOut">
              <a:rPr lang="en-IN" smtClean="0"/>
              <a:t>06-03-2026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CEE7BA8-EC30-4AF1-BDE3-AE80ED9687F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6432954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CEE7BA8-EC30-4AF1-BDE3-AE80ED9687F8}" type="slidenum">
              <a:rPr lang="en-IN" smtClean="0"/>
              <a:t>11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8319461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DBE0F6-7776-B4CA-13E0-0A69C62477D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E2D40ED-7D56-472F-1805-B3D6A7B1164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1D4CB3C-D984-B5D9-F17E-53769DAEBD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4A6545-D21C-459C-AC30-16BCAE01A885}" type="datetimeFigureOut">
              <a:rPr lang="en-IN" smtClean="0"/>
              <a:t>06-03-2026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D5D0D8-7BBD-3F17-A822-D78DB64D18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4820D75-95E0-AB8F-8DD3-C9A5912A59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22F03D-ED38-47BB-8FD5-40131C13295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189790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D95A3B-8C5E-3D53-3BDA-53818E7940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4FD038-433E-1E4F-0D49-2A5ABF1FDDF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CDE7E90-1033-797B-DA94-B2E287C9F2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4A6545-D21C-459C-AC30-16BCAE01A885}" type="datetimeFigureOut">
              <a:rPr lang="en-IN" smtClean="0"/>
              <a:t>06-03-2026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0EF6E0B-7296-73B7-3A34-52B8BA3B10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BFF7F70-6596-E040-F1AF-FB0425F6BD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22F03D-ED38-47BB-8FD5-40131C13295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69784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FF476F-880A-E893-328A-D5D10DB889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DE1163D-6609-AAD4-F50F-5EFB2DA3F33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27C9BAA-C93E-968B-7C4C-38B0757715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4A6545-D21C-459C-AC30-16BCAE01A885}" type="datetimeFigureOut">
              <a:rPr lang="en-IN" smtClean="0"/>
              <a:t>06-03-2026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6749133-FE48-F485-E9A8-E46385982C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B0EC092-6FEA-914E-A2EE-49CD942ADB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22F03D-ED38-47BB-8FD5-40131C13295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541586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13EFB1-B2FB-8958-B5D3-F57B60957A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ED860B-A5B6-3276-D8D2-1E214CA60D9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82A2DBC-D358-A5FA-2321-C0C3874DAC3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CC5C039-FCF9-CD6C-725C-A880EA662C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4A6545-D21C-459C-AC30-16BCAE01A885}" type="datetimeFigureOut">
              <a:rPr lang="en-IN" smtClean="0"/>
              <a:t>06-03-2026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00F3C69-ADC8-92D0-9263-71F40D678A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F615134-B753-2B10-0DBA-DDA02383BE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22F03D-ED38-47BB-8FD5-40131C13295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3915455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DD8C44-AFAD-9FCE-EBBF-B9411F3A71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E6C4A5E-7FD3-A51A-BE13-20B1CD26207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4AD306E-C16F-4C5C-2DE5-EF66A5B8DB7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417DEC6-3A7C-9EE1-6F1D-056E813CAF0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6E27A17-C352-48E6-5FE3-23EB0585470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4F596E4-106F-A2CA-B73D-240AFA7A8C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4A6545-D21C-459C-AC30-16BCAE01A885}" type="datetimeFigureOut">
              <a:rPr lang="en-IN" smtClean="0"/>
              <a:t>06-03-2026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B27FD92-416A-699A-71A7-5728E5162B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6D7FA0E-CE43-162D-CFB2-A6B368D934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22F03D-ED38-47BB-8FD5-40131C13295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456109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FE4B73-C557-DE8D-427C-9A76B62844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11F1383-85BA-09A7-2640-88830DC462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4A6545-D21C-459C-AC30-16BCAE01A885}" type="datetimeFigureOut">
              <a:rPr lang="en-IN" smtClean="0"/>
              <a:t>06-03-2026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C018FE2-5AF7-922B-30D6-1EF940D6C5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7F70055-3685-CAEE-AA19-32592FDA5F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22F03D-ED38-47BB-8FD5-40131C13295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3249313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A5C27F9-49A8-C6EC-8943-2F81BA9A7A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4A6545-D21C-459C-AC30-16BCAE01A885}" type="datetimeFigureOut">
              <a:rPr lang="en-IN" smtClean="0"/>
              <a:t>06-03-2026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3B0D147-4A2A-67A7-1ACE-7DAC066ACE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8A9E682-9055-263F-62D9-BDBD79ED18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22F03D-ED38-47BB-8FD5-40131C13295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6011686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FBEE3D-27DB-7A38-BC7B-D94E951BD9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82AC24-C980-6365-BE04-FD2B1D66FBB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06D6465-82E2-B7F6-395C-02932ABBB50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F064A35-B078-5B26-2EB4-5530F5ED04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4A6545-D21C-459C-AC30-16BCAE01A885}" type="datetimeFigureOut">
              <a:rPr lang="en-IN" smtClean="0"/>
              <a:t>06-03-2026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BE8D121-92B6-536A-2315-68EE7FFBB6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657BF60-7DAB-9094-79FB-38563DEB7F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22F03D-ED38-47BB-8FD5-40131C13295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901458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654DE1-D608-FCB4-E049-D71CD73793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2211727-B8AB-CFFD-3E86-FB540B7EE28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1B21C95-EE24-717F-165D-B3776538BC4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14696EE-D05F-0B8F-ECF1-9F574AFDAC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4A6545-D21C-459C-AC30-16BCAE01A885}" type="datetimeFigureOut">
              <a:rPr lang="en-IN" smtClean="0"/>
              <a:t>06-03-2026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EC023A6-6B96-12E9-B8D1-A68A3A3816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F921E5C-4E80-0D0E-F859-BB5D9E9B35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22F03D-ED38-47BB-8FD5-40131C13295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3622033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869667-275C-3965-2EB1-F75123ECAB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BD6F717-79A7-68D0-44D8-646BE11AB2C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06E270-D539-53E2-642B-0E53A3AAA7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4A6545-D21C-459C-AC30-16BCAE01A885}" type="datetimeFigureOut">
              <a:rPr lang="en-IN" smtClean="0"/>
              <a:t>06-03-2026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22604A3-65BB-DF34-3E01-3BA28783D5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2149ED8-5119-1B11-A441-E183BF1D30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22F03D-ED38-47BB-8FD5-40131C13295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448774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19CD538-A54F-5ADF-5879-26A232396D1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F14407C-6CA7-D5BD-5B47-5570AF862BE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22A35CF-A144-E988-6A48-1E95C7B042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4A6545-D21C-459C-AC30-16BCAE01A885}" type="datetimeFigureOut">
              <a:rPr lang="en-IN" smtClean="0"/>
              <a:t>06-03-2026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1886F57-2CA7-4D44-0A4B-FABFAF1FF2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2423D22-53A1-9F5C-7BA2-CA9316FE79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22F03D-ED38-47BB-8FD5-40131C13295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041609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73505EE-B2D1-92DE-EA00-CFE22C2C48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FF1B819-4E0E-DADB-DBC7-645778BEDD0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84E3CDD-A62D-30BF-E4FC-56BE2D49C55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04A6545-D21C-459C-AC30-16BCAE01A885}" type="datetimeFigureOut">
              <a:rPr lang="en-IN" smtClean="0"/>
              <a:t>06-03-2026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04CB36C-5305-E006-A3BE-B3C93B74694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C9F7CB6-4516-96CA-126C-F2490F1C9AF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C22F03D-ED38-47BB-8FD5-40131C13295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01173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1.jp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object 3">
            <a:extLst>
              <a:ext uri="{FF2B5EF4-FFF2-40B4-BE49-F238E27FC236}">
                <a16:creationId xmlns:a16="http://schemas.microsoft.com/office/drawing/2014/main" id="{14382E05-6842-2243-562D-772C3987FBBB}"/>
              </a:ext>
            </a:extLst>
          </p:cNvPr>
          <p:cNvGrpSpPr/>
          <p:nvPr/>
        </p:nvGrpSpPr>
        <p:grpSpPr>
          <a:xfrm>
            <a:off x="0" y="2252185"/>
            <a:ext cx="12197080" cy="123825"/>
            <a:chOff x="0" y="828738"/>
            <a:chExt cx="12197080" cy="123825"/>
          </a:xfrm>
        </p:grpSpPr>
        <p:sp>
          <p:nvSpPr>
            <p:cNvPr id="9" name="object 4">
              <a:extLst>
                <a:ext uri="{FF2B5EF4-FFF2-40B4-BE49-F238E27FC236}">
                  <a16:creationId xmlns:a16="http://schemas.microsoft.com/office/drawing/2014/main" id="{65CF8F5E-4F85-A8ED-984F-D123FED4E967}"/>
                </a:ext>
              </a:extLst>
            </p:cNvPr>
            <p:cNvSpPr/>
            <p:nvPr/>
          </p:nvSpPr>
          <p:spPr>
            <a:xfrm>
              <a:off x="4763" y="833500"/>
              <a:ext cx="12187555" cy="114300"/>
            </a:xfrm>
            <a:custGeom>
              <a:avLst/>
              <a:gdLst/>
              <a:ahLst/>
              <a:cxnLst/>
              <a:rect l="l" t="t" r="r" b="b"/>
              <a:pathLst>
                <a:path w="12187555" h="114300">
                  <a:moveTo>
                    <a:pt x="12187236" y="0"/>
                  </a:moveTo>
                  <a:lnTo>
                    <a:pt x="0" y="0"/>
                  </a:lnTo>
                  <a:lnTo>
                    <a:pt x="0" y="114300"/>
                  </a:lnTo>
                  <a:lnTo>
                    <a:pt x="12187236" y="114300"/>
                  </a:lnTo>
                  <a:lnTo>
                    <a:pt x="12187236" y="0"/>
                  </a:lnTo>
                  <a:close/>
                </a:path>
              </a:pathLst>
            </a:custGeom>
            <a:solidFill>
              <a:srgbClr val="25257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5">
              <a:extLst>
                <a:ext uri="{FF2B5EF4-FFF2-40B4-BE49-F238E27FC236}">
                  <a16:creationId xmlns:a16="http://schemas.microsoft.com/office/drawing/2014/main" id="{B30DA8AB-FE78-AE2C-0A12-D61B04D45D2F}"/>
                </a:ext>
              </a:extLst>
            </p:cNvPr>
            <p:cNvSpPr/>
            <p:nvPr/>
          </p:nvSpPr>
          <p:spPr>
            <a:xfrm>
              <a:off x="4763" y="833500"/>
              <a:ext cx="12187555" cy="114300"/>
            </a:xfrm>
            <a:custGeom>
              <a:avLst/>
              <a:gdLst/>
              <a:ahLst/>
              <a:cxnLst/>
              <a:rect l="l" t="t" r="r" b="b"/>
              <a:pathLst>
                <a:path w="12187555" h="114300">
                  <a:moveTo>
                    <a:pt x="12187236" y="0"/>
                  </a:moveTo>
                  <a:lnTo>
                    <a:pt x="0" y="0"/>
                  </a:lnTo>
                  <a:lnTo>
                    <a:pt x="0" y="114300"/>
                  </a:lnTo>
                  <a:lnTo>
                    <a:pt x="12187236" y="114300"/>
                  </a:lnTo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TextBox 11">
            <a:extLst>
              <a:ext uri="{FF2B5EF4-FFF2-40B4-BE49-F238E27FC236}">
                <a16:creationId xmlns:a16="http://schemas.microsoft.com/office/drawing/2014/main" id="{A4620B63-F098-F9B9-529C-343875E39577}"/>
              </a:ext>
            </a:extLst>
          </p:cNvPr>
          <p:cNvSpPr txBox="1"/>
          <p:nvPr/>
        </p:nvSpPr>
        <p:spPr>
          <a:xfrm>
            <a:off x="207390" y="2476593"/>
            <a:ext cx="11840066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b="1" dirty="0">
                <a:latin typeface="Arial Black" panose="020B0A04020102020204" pitchFamily="34" charset="0"/>
              </a:rPr>
              <a:t>Vision-Based Hand Exercise Recognition and Feedback System for Rehabilitation</a:t>
            </a:r>
            <a:endParaRPr lang="en-IN" sz="2800" b="1" dirty="0">
              <a:latin typeface="Arial Black" panose="020B0A04020102020204" pitchFamily="34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BECB66A-F4A0-6582-62DF-93620173A8D5}"/>
              </a:ext>
            </a:extLst>
          </p:cNvPr>
          <p:cNvSpPr txBox="1"/>
          <p:nvPr/>
        </p:nvSpPr>
        <p:spPr>
          <a:xfrm>
            <a:off x="122549" y="2969443"/>
            <a:ext cx="11887200" cy="38395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 lang="en-IN" sz="2800" dirty="0"/>
          </a:p>
          <a:p>
            <a:pPr algn="ctr"/>
            <a:endParaRPr lang="en-IN" sz="2800" dirty="0"/>
          </a:p>
          <a:p>
            <a:pPr algn="ctr"/>
            <a:r>
              <a:rPr lang="en-IN" sz="2800" dirty="0"/>
              <a:t>Presented by </a:t>
            </a:r>
          </a:p>
          <a:p>
            <a:pPr algn="ctr"/>
            <a:r>
              <a:rPr lang="en-IN" sz="2800" b="1" dirty="0">
                <a:latin typeface="Arial Black" panose="020B0A04020102020204" pitchFamily="34" charset="0"/>
              </a:rPr>
              <a:t>Balaji M(126006058)</a:t>
            </a:r>
          </a:p>
          <a:p>
            <a:pPr algn="ctr"/>
            <a:endParaRPr lang="en-IN" sz="2800" b="1" dirty="0">
              <a:latin typeface="Arial Black" panose="020B0A04020102020204" pitchFamily="34" charset="0"/>
            </a:endParaRPr>
          </a:p>
          <a:p>
            <a:pPr algn="ctr"/>
            <a:r>
              <a:rPr lang="en-IN" sz="2800" dirty="0"/>
              <a:t>Project Guide</a:t>
            </a:r>
          </a:p>
          <a:p>
            <a:pPr marL="13335" algn="ctr">
              <a:lnSpc>
                <a:spcPts val="3000"/>
              </a:lnSpc>
            </a:pPr>
            <a:r>
              <a:rPr lang="en-US" sz="2800" b="1" dirty="0" err="1">
                <a:latin typeface="Arial"/>
                <a:cs typeface="Arial"/>
              </a:rPr>
              <a:t>Dr.</a:t>
            </a:r>
            <a:r>
              <a:rPr lang="en-US" sz="2800" b="1" spc="-20" dirty="0" err="1">
                <a:latin typeface="Arial"/>
                <a:cs typeface="Arial"/>
              </a:rPr>
              <a:t>Nirmala</a:t>
            </a:r>
            <a:r>
              <a:rPr lang="en-US" sz="2800" b="1" spc="-20" dirty="0">
                <a:latin typeface="Arial"/>
                <a:cs typeface="Arial"/>
              </a:rPr>
              <a:t> </a:t>
            </a:r>
            <a:r>
              <a:rPr lang="en-US" sz="2800" b="1" spc="-20" dirty="0" err="1">
                <a:latin typeface="Arial"/>
                <a:cs typeface="Arial"/>
              </a:rPr>
              <a:t>Jegadeesan</a:t>
            </a:r>
            <a:r>
              <a:rPr lang="en-US" sz="2800" b="1" spc="-20" dirty="0">
                <a:latin typeface="Arial"/>
                <a:cs typeface="Arial"/>
              </a:rPr>
              <a:t>, SEEE</a:t>
            </a:r>
            <a:endParaRPr lang="en-US" sz="2800" dirty="0">
              <a:latin typeface="Arial"/>
              <a:cs typeface="Arial"/>
            </a:endParaRPr>
          </a:p>
          <a:p>
            <a:pPr algn="ctr">
              <a:lnSpc>
                <a:spcPts val="2720"/>
              </a:lnSpc>
            </a:pPr>
            <a:r>
              <a:rPr lang="en-US" sz="2800" dirty="0">
                <a:latin typeface="Arial MT"/>
                <a:cs typeface="Arial MT"/>
              </a:rPr>
              <a:t>SASTRA</a:t>
            </a:r>
            <a:r>
              <a:rPr lang="en-US" sz="2800" spc="-85" dirty="0">
                <a:latin typeface="Arial MT"/>
                <a:cs typeface="Arial MT"/>
              </a:rPr>
              <a:t> </a:t>
            </a:r>
            <a:r>
              <a:rPr lang="en-US" sz="2800" dirty="0">
                <a:latin typeface="Arial MT"/>
                <a:cs typeface="Arial MT"/>
              </a:rPr>
              <a:t>Deemed</a:t>
            </a:r>
            <a:r>
              <a:rPr lang="en-US" sz="2800" spc="100" dirty="0">
                <a:latin typeface="Arial MT"/>
                <a:cs typeface="Arial MT"/>
              </a:rPr>
              <a:t> </a:t>
            </a:r>
            <a:r>
              <a:rPr lang="en-US" sz="2800" dirty="0">
                <a:latin typeface="Arial MT"/>
                <a:cs typeface="Arial MT"/>
              </a:rPr>
              <a:t>to</a:t>
            </a:r>
            <a:r>
              <a:rPr lang="en-US" sz="2800" spc="95" dirty="0">
                <a:latin typeface="Arial MT"/>
                <a:cs typeface="Arial MT"/>
              </a:rPr>
              <a:t> </a:t>
            </a:r>
            <a:r>
              <a:rPr lang="en-US" sz="2800" dirty="0">
                <a:latin typeface="Arial MT"/>
                <a:cs typeface="Arial MT"/>
              </a:rPr>
              <a:t>be</a:t>
            </a:r>
            <a:r>
              <a:rPr lang="en-US" sz="2800" spc="100" dirty="0">
                <a:latin typeface="Arial MT"/>
                <a:cs typeface="Arial MT"/>
              </a:rPr>
              <a:t> </a:t>
            </a:r>
            <a:r>
              <a:rPr lang="en-US" sz="2800" spc="-10" dirty="0">
                <a:latin typeface="Arial MT"/>
                <a:cs typeface="Arial MT"/>
              </a:rPr>
              <a:t>University</a:t>
            </a:r>
            <a:endParaRPr lang="en-US" sz="2800" dirty="0">
              <a:latin typeface="Arial MT"/>
              <a:cs typeface="Arial MT"/>
            </a:endParaRPr>
          </a:p>
          <a:p>
            <a:pPr algn="ctr"/>
            <a:endParaRPr lang="en-IN" sz="2800" b="1" dirty="0">
              <a:latin typeface="Arial Black" panose="020B0A04020102020204" pitchFamily="34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F34F01C-C5FB-D695-2877-F2496741C27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8545" y="0"/>
            <a:ext cx="8305014" cy="22254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838503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E1B83C-6BED-7382-4413-2DAE9464A5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27636" y="82321"/>
            <a:ext cx="10515600" cy="1325563"/>
          </a:xfrm>
        </p:spPr>
        <p:txBody>
          <a:bodyPr/>
          <a:lstStyle/>
          <a:p>
            <a:pPr algn="ctr"/>
            <a:r>
              <a:rPr lang="en-IN" dirty="0">
                <a:latin typeface="Arial Black" panose="020B0A04020102020204" pitchFamily="34" charset="0"/>
              </a:rPr>
              <a:t>Contents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057A08-2C12-83B3-2726-30832792437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Problem Statements</a:t>
            </a:r>
          </a:p>
          <a:p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Objective</a:t>
            </a:r>
          </a:p>
          <a:p>
            <a:r>
              <a:rPr lang="en-IN" sz="2800" dirty="0">
                <a:latin typeface="Arial"/>
                <a:cs typeface="Arial"/>
              </a:rPr>
              <a:t>Literature</a:t>
            </a:r>
            <a:r>
              <a:rPr lang="en-IN" sz="2800" b="1" spc="215" dirty="0">
                <a:latin typeface="Arial"/>
                <a:cs typeface="Arial"/>
              </a:rPr>
              <a:t> </a:t>
            </a:r>
            <a:r>
              <a:rPr lang="en-IN" sz="2800" spc="-10" dirty="0">
                <a:latin typeface="Arial"/>
                <a:cs typeface="Arial"/>
              </a:rPr>
              <a:t>Survey</a:t>
            </a:r>
          </a:p>
          <a:p>
            <a:r>
              <a:rPr lang="en-US" sz="2800" dirty="0">
                <a:solidFill>
                  <a:srgbClr val="000000"/>
                </a:solidFill>
                <a:latin typeface="Arial" panose="020B0604020202020204" pitchFamily="34" charset="0"/>
                <a:ea typeface="Times New Roman Bold"/>
                <a:cs typeface="Arial" panose="020B0604020202020204" pitchFamily="34" charset="0"/>
                <a:sym typeface="Times New Roman Bold"/>
              </a:rPr>
              <a:t>Methodology</a:t>
            </a:r>
          </a:p>
          <a:p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  <a:ea typeface="Times New Roman Bold"/>
                <a:cs typeface="Arial" panose="020B0604020202020204" pitchFamily="34" charset="0"/>
                <a:sym typeface="Times New Roman Bold"/>
              </a:rPr>
              <a:t>Exercise Selection</a:t>
            </a:r>
          </a:p>
          <a:p>
            <a:r>
              <a:rPr lang="en-US" sz="2800" dirty="0">
                <a:solidFill>
                  <a:srgbClr val="000000"/>
                </a:solidFill>
                <a:latin typeface="Arial" panose="020B0604020202020204" pitchFamily="34" charset="0"/>
                <a:ea typeface="Times New Roman Bold"/>
                <a:cs typeface="Arial" panose="020B0604020202020204" pitchFamily="34" charset="0"/>
                <a:sym typeface="Times New Roman Bold"/>
              </a:rPr>
              <a:t>Data Acquisition</a:t>
            </a:r>
          </a:p>
          <a:p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  <a:ea typeface="Garet"/>
                <a:cs typeface="Arial" panose="020B0604020202020204" pitchFamily="34" charset="0"/>
                <a:sym typeface="Garet"/>
              </a:rPr>
              <a:t>Feature Normalization</a:t>
            </a:r>
          </a:p>
          <a:p>
            <a:r>
              <a:rPr lang="en-US" sz="2800" dirty="0">
                <a:solidFill>
                  <a:srgbClr val="000000"/>
                </a:solidFill>
                <a:latin typeface="Arial" panose="020B0604020202020204" pitchFamily="34" charset="0"/>
                <a:ea typeface="Times New Roman Bold"/>
                <a:cs typeface="Arial" panose="020B0604020202020204" pitchFamily="34" charset="0"/>
                <a:sym typeface="Times New Roman Bold"/>
              </a:rPr>
              <a:t>Model Training</a:t>
            </a:r>
          </a:p>
          <a:p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  <a:ea typeface="Times New Roman Bold"/>
                <a:cs typeface="Arial" panose="020B0604020202020204" pitchFamily="34" charset="0"/>
                <a:sym typeface="Times New Roman Bold"/>
              </a:rPr>
              <a:t>Performance Evaluation</a:t>
            </a:r>
            <a:endParaRPr lang="en-US" sz="2800" dirty="0">
              <a:solidFill>
                <a:srgbClr val="000000"/>
              </a:solidFill>
              <a:latin typeface="Arial" panose="020B0604020202020204" pitchFamily="34" charset="0"/>
              <a:ea typeface="Times New Roman Bold"/>
              <a:cs typeface="Arial" panose="020B0604020202020204" pitchFamily="34" charset="0"/>
              <a:sym typeface="Times New Roman Bold"/>
            </a:endParaRPr>
          </a:p>
          <a:p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  <a:ea typeface="Times New Roman Bold"/>
                <a:cs typeface="Arial" panose="020B0604020202020204" pitchFamily="34" charset="0"/>
                <a:sym typeface="Times New Roman Bold"/>
              </a:rPr>
              <a:t>Future Work</a:t>
            </a:r>
            <a:endParaRPr lang="en-US" sz="2800" dirty="0">
              <a:solidFill>
                <a:srgbClr val="000000"/>
              </a:solidFill>
              <a:latin typeface="Arial" panose="020B0604020202020204" pitchFamily="34" charset="0"/>
              <a:ea typeface="Times New Roman Bold"/>
              <a:cs typeface="Arial" panose="020B0604020202020204" pitchFamily="34" charset="0"/>
              <a:sym typeface="Times New Roman Bold"/>
            </a:endParaRPr>
          </a:p>
        </p:txBody>
      </p:sp>
      <p:grpSp>
        <p:nvGrpSpPr>
          <p:cNvPr id="4" name="object 3">
            <a:extLst>
              <a:ext uri="{FF2B5EF4-FFF2-40B4-BE49-F238E27FC236}">
                <a16:creationId xmlns:a16="http://schemas.microsoft.com/office/drawing/2014/main" id="{DB4BCB49-CFF5-F28D-78A2-458E62853C9D}"/>
              </a:ext>
            </a:extLst>
          </p:cNvPr>
          <p:cNvGrpSpPr/>
          <p:nvPr/>
        </p:nvGrpSpPr>
        <p:grpSpPr>
          <a:xfrm>
            <a:off x="-5080" y="0"/>
            <a:ext cx="12197080" cy="123825"/>
            <a:chOff x="0" y="828738"/>
            <a:chExt cx="12197080" cy="123825"/>
          </a:xfrm>
        </p:grpSpPr>
        <p:sp>
          <p:nvSpPr>
            <p:cNvPr id="5" name="object 4">
              <a:extLst>
                <a:ext uri="{FF2B5EF4-FFF2-40B4-BE49-F238E27FC236}">
                  <a16:creationId xmlns:a16="http://schemas.microsoft.com/office/drawing/2014/main" id="{C31AACD9-8FE4-E8E5-6C4A-5C318F90138E}"/>
                </a:ext>
              </a:extLst>
            </p:cNvPr>
            <p:cNvSpPr/>
            <p:nvPr/>
          </p:nvSpPr>
          <p:spPr>
            <a:xfrm>
              <a:off x="4763" y="833500"/>
              <a:ext cx="12187555" cy="114300"/>
            </a:xfrm>
            <a:custGeom>
              <a:avLst/>
              <a:gdLst/>
              <a:ahLst/>
              <a:cxnLst/>
              <a:rect l="l" t="t" r="r" b="b"/>
              <a:pathLst>
                <a:path w="12187555" h="114300">
                  <a:moveTo>
                    <a:pt x="12187236" y="0"/>
                  </a:moveTo>
                  <a:lnTo>
                    <a:pt x="0" y="0"/>
                  </a:lnTo>
                  <a:lnTo>
                    <a:pt x="0" y="114300"/>
                  </a:lnTo>
                  <a:lnTo>
                    <a:pt x="12187236" y="114300"/>
                  </a:lnTo>
                  <a:lnTo>
                    <a:pt x="12187236" y="0"/>
                  </a:lnTo>
                  <a:close/>
                </a:path>
              </a:pathLst>
            </a:custGeom>
            <a:solidFill>
              <a:srgbClr val="252573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6" name="object 5">
              <a:extLst>
                <a:ext uri="{FF2B5EF4-FFF2-40B4-BE49-F238E27FC236}">
                  <a16:creationId xmlns:a16="http://schemas.microsoft.com/office/drawing/2014/main" id="{D162C2EF-0D70-BBB2-907F-FFC23929EF92}"/>
                </a:ext>
              </a:extLst>
            </p:cNvPr>
            <p:cNvSpPr/>
            <p:nvPr/>
          </p:nvSpPr>
          <p:spPr>
            <a:xfrm>
              <a:off x="4763" y="833500"/>
              <a:ext cx="12187555" cy="114300"/>
            </a:xfrm>
            <a:custGeom>
              <a:avLst/>
              <a:gdLst/>
              <a:ahLst/>
              <a:cxnLst/>
              <a:rect l="l" t="t" r="r" b="b"/>
              <a:pathLst>
                <a:path w="12187555" h="114300">
                  <a:moveTo>
                    <a:pt x="12187236" y="0"/>
                  </a:moveTo>
                  <a:lnTo>
                    <a:pt x="0" y="0"/>
                  </a:lnTo>
                  <a:lnTo>
                    <a:pt x="0" y="114300"/>
                  </a:lnTo>
                  <a:lnTo>
                    <a:pt x="12187236" y="114300"/>
                  </a:lnTo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7" name="object 3">
            <a:extLst>
              <a:ext uri="{FF2B5EF4-FFF2-40B4-BE49-F238E27FC236}">
                <a16:creationId xmlns:a16="http://schemas.microsoft.com/office/drawing/2014/main" id="{0E12C6BA-8172-451C-8979-0C38C5D1356F}"/>
              </a:ext>
            </a:extLst>
          </p:cNvPr>
          <p:cNvGrpSpPr/>
          <p:nvPr/>
        </p:nvGrpSpPr>
        <p:grpSpPr>
          <a:xfrm>
            <a:off x="0" y="1196383"/>
            <a:ext cx="12197080" cy="123825"/>
            <a:chOff x="0" y="828738"/>
            <a:chExt cx="12197080" cy="123825"/>
          </a:xfrm>
        </p:grpSpPr>
        <p:sp>
          <p:nvSpPr>
            <p:cNvPr id="8" name="object 4">
              <a:extLst>
                <a:ext uri="{FF2B5EF4-FFF2-40B4-BE49-F238E27FC236}">
                  <a16:creationId xmlns:a16="http://schemas.microsoft.com/office/drawing/2014/main" id="{106729E8-21AF-EC8D-5D14-40805351E296}"/>
                </a:ext>
              </a:extLst>
            </p:cNvPr>
            <p:cNvSpPr/>
            <p:nvPr/>
          </p:nvSpPr>
          <p:spPr>
            <a:xfrm>
              <a:off x="4763" y="833500"/>
              <a:ext cx="12187555" cy="114300"/>
            </a:xfrm>
            <a:custGeom>
              <a:avLst/>
              <a:gdLst/>
              <a:ahLst/>
              <a:cxnLst/>
              <a:rect l="l" t="t" r="r" b="b"/>
              <a:pathLst>
                <a:path w="12187555" h="114300">
                  <a:moveTo>
                    <a:pt x="12187236" y="0"/>
                  </a:moveTo>
                  <a:lnTo>
                    <a:pt x="0" y="0"/>
                  </a:lnTo>
                  <a:lnTo>
                    <a:pt x="0" y="114300"/>
                  </a:lnTo>
                  <a:lnTo>
                    <a:pt x="12187236" y="114300"/>
                  </a:lnTo>
                  <a:lnTo>
                    <a:pt x="12187236" y="0"/>
                  </a:lnTo>
                  <a:close/>
                </a:path>
              </a:pathLst>
            </a:custGeom>
            <a:solidFill>
              <a:srgbClr val="25257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5">
              <a:extLst>
                <a:ext uri="{FF2B5EF4-FFF2-40B4-BE49-F238E27FC236}">
                  <a16:creationId xmlns:a16="http://schemas.microsoft.com/office/drawing/2014/main" id="{BDF36638-7933-D33B-D3B9-2C3BE1CB1C5F}"/>
                </a:ext>
              </a:extLst>
            </p:cNvPr>
            <p:cNvSpPr/>
            <p:nvPr/>
          </p:nvSpPr>
          <p:spPr>
            <a:xfrm>
              <a:off x="4763" y="833500"/>
              <a:ext cx="12187555" cy="114300"/>
            </a:xfrm>
            <a:custGeom>
              <a:avLst/>
              <a:gdLst/>
              <a:ahLst/>
              <a:cxnLst/>
              <a:rect l="l" t="t" r="r" b="b"/>
              <a:pathLst>
                <a:path w="12187555" h="114300">
                  <a:moveTo>
                    <a:pt x="12187236" y="0"/>
                  </a:moveTo>
                  <a:lnTo>
                    <a:pt x="0" y="0"/>
                  </a:lnTo>
                  <a:lnTo>
                    <a:pt x="0" y="114300"/>
                  </a:lnTo>
                  <a:lnTo>
                    <a:pt x="12187236" y="114300"/>
                  </a:lnTo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12" name="Picture 11">
            <a:extLst>
              <a:ext uri="{FF2B5EF4-FFF2-40B4-BE49-F238E27FC236}">
                <a16:creationId xmlns:a16="http://schemas.microsoft.com/office/drawing/2014/main" id="{BC7B5024-7A8F-85D1-68F7-38ACC1C835D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59756"/>
            <a:ext cx="3827282" cy="10255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209906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object 3">
            <a:extLst>
              <a:ext uri="{FF2B5EF4-FFF2-40B4-BE49-F238E27FC236}">
                <a16:creationId xmlns:a16="http://schemas.microsoft.com/office/drawing/2014/main" id="{ED23F4B6-933D-F153-11F1-69CEBE555C84}"/>
              </a:ext>
            </a:extLst>
          </p:cNvPr>
          <p:cNvGrpSpPr/>
          <p:nvPr/>
        </p:nvGrpSpPr>
        <p:grpSpPr>
          <a:xfrm>
            <a:off x="0" y="0"/>
            <a:ext cx="12197080" cy="123825"/>
            <a:chOff x="0" y="828738"/>
            <a:chExt cx="12197080" cy="123825"/>
          </a:xfrm>
        </p:grpSpPr>
        <p:sp>
          <p:nvSpPr>
            <p:cNvPr id="14" name="object 4">
              <a:extLst>
                <a:ext uri="{FF2B5EF4-FFF2-40B4-BE49-F238E27FC236}">
                  <a16:creationId xmlns:a16="http://schemas.microsoft.com/office/drawing/2014/main" id="{1E7B41B5-81AA-45CD-0217-3CA0591BAD26}"/>
                </a:ext>
              </a:extLst>
            </p:cNvPr>
            <p:cNvSpPr/>
            <p:nvPr/>
          </p:nvSpPr>
          <p:spPr>
            <a:xfrm>
              <a:off x="4763" y="833500"/>
              <a:ext cx="12187555" cy="114300"/>
            </a:xfrm>
            <a:custGeom>
              <a:avLst/>
              <a:gdLst/>
              <a:ahLst/>
              <a:cxnLst/>
              <a:rect l="l" t="t" r="r" b="b"/>
              <a:pathLst>
                <a:path w="12187555" h="114300">
                  <a:moveTo>
                    <a:pt x="12187236" y="0"/>
                  </a:moveTo>
                  <a:lnTo>
                    <a:pt x="0" y="0"/>
                  </a:lnTo>
                  <a:lnTo>
                    <a:pt x="0" y="114300"/>
                  </a:lnTo>
                  <a:lnTo>
                    <a:pt x="12187236" y="114300"/>
                  </a:lnTo>
                  <a:lnTo>
                    <a:pt x="12187236" y="0"/>
                  </a:lnTo>
                  <a:close/>
                </a:path>
              </a:pathLst>
            </a:custGeom>
            <a:solidFill>
              <a:srgbClr val="252573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15" name="object 5">
              <a:extLst>
                <a:ext uri="{FF2B5EF4-FFF2-40B4-BE49-F238E27FC236}">
                  <a16:creationId xmlns:a16="http://schemas.microsoft.com/office/drawing/2014/main" id="{995BEEDF-AB7E-4635-A9C2-1821638B337D}"/>
                </a:ext>
              </a:extLst>
            </p:cNvPr>
            <p:cNvSpPr/>
            <p:nvPr/>
          </p:nvSpPr>
          <p:spPr>
            <a:xfrm>
              <a:off x="4763" y="833500"/>
              <a:ext cx="12187555" cy="114300"/>
            </a:xfrm>
            <a:custGeom>
              <a:avLst/>
              <a:gdLst/>
              <a:ahLst/>
              <a:cxnLst/>
              <a:rect l="l" t="t" r="r" b="b"/>
              <a:pathLst>
                <a:path w="12187555" h="114300">
                  <a:moveTo>
                    <a:pt x="12187236" y="0"/>
                  </a:moveTo>
                  <a:lnTo>
                    <a:pt x="0" y="0"/>
                  </a:lnTo>
                  <a:lnTo>
                    <a:pt x="0" y="114300"/>
                  </a:lnTo>
                  <a:lnTo>
                    <a:pt x="12187236" y="114300"/>
                  </a:lnTo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6" name="object 3">
            <a:extLst>
              <a:ext uri="{FF2B5EF4-FFF2-40B4-BE49-F238E27FC236}">
                <a16:creationId xmlns:a16="http://schemas.microsoft.com/office/drawing/2014/main" id="{CF1635C2-157F-1531-9653-1F95E7DE7241}"/>
              </a:ext>
            </a:extLst>
          </p:cNvPr>
          <p:cNvGrpSpPr/>
          <p:nvPr/>
        </p:nvGrpSpPr>
        <p:grpSpPr>
          <a:xfrm>
            <a:off x="0" y="1196383"/>
            <a:ext cx="12197080" cy="123825"/>
            <a:chOff x="0" y="828738"/>
            <a:chExt cx="12197080" cy="123825"/>
          </a:xfrm>
        </p:grpSpPr>
        <p:sp>
          <p:nvSpPr>
            <p:cNvPr id="17" name="object 4">
              <a:extLst>
                <a:ext uri="{FF2B5EF4-FFF2-40B4-BE49-F238E27FC236}">
                  <a16:creationId xmlns:a16="http://schemas.microsoft.com/office/drawing/2014/main" id="{1820B751-87AE-5CD4-B44D-00DC8A329695}"/>
                </a:ext>
              </a:extLst>
            </p:cNvPr>
            <p:cNvSpPr/>
            <p:nvPr/>
          </p:nvSpPr>
          <p:spPr>
            <a:xfrm>
              <a:off x="4763" y="833500"/>
              <a:ext cx="12187555" cy="114300"/>
            </a:xfrm>
            <a:custGeom>
              <a:avLst/>
              <a:gdLst/>
              <a:ahLst/>
              <a:cxnLst/>
              <a:rect l="l" t="t" r="r" b="b"/>
              <a:pathLst>
                <a:path w="12187555" h="114300">
                  <a:moveTo>
                    <a:pt x="12187236" y="0"/>
                  </a:moveTo>
                  <a:lnTo>
                    <a:pt x="0" y="0"/>
                  </a:lnTo>
                  <a:lnTo>
                    <a:pt x="0" y="114300"/>
                  </a:lnTo>
                  <a:lnTo>
                    <a:pt x="12187236" y="114300"/>
                  </a:lnTo>
                  <a:lnTo>
                    <a:pt x="12187236" y="0"/>
                  </a:lnTo>
                  <a:close/>
                </a:path>
              </a:pathLst>
            </a:custGeom>
            <a:solidFill>
              <a:srgbClr val="25257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5">
              <a:extLst>
                <a:ext uri="{FF2B5EF4-FFF2-40B4-BE49-F238E27FC236}">
                  <a16:creationId xmlns:a16="http://schemas.microsoft.com/office/drawing/2014/main" id="{BDC60279-D44C-69EF-A494-08941B15335A}"/>
                </a:ext>
              </a:extLst>
            </p:cNvPr>
            <p:cNvSpPr/>
            <p:nvPr/>
          </p:nvSpPr>
          <p:spPr>
            <a:xfrm>
              <a:off x="4763" y="833500"/>
              <a:ext cx="12187555" cy="114300"/>
            </a:xfrm>
            <a:custGeom>
              <a:avLst/>
              <a:gdLst/>
              <a:ahLst/>
              <a:cxnLst/>
              <a:rect l="l" t="t" r="r" b="b"/>
              <a:pathLst>
                <a:path w="12187555" h="114300">
                  <a:moveTo>
                    <a:pt x="12187236" y="0"/>
                  </a:moveTo>
                  <a:lnTo>
                    <a:pt x="0" y="0"/>
                  </a:lnTo>
                  <a:lnTo>
                    <a:pt x="0" y="114300"/>
                  </a:lnTo>
                  <a:lnTo>
                    <a:pt x="12187236" y="114300"/>
                  </a:lnTo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1" name="TextBox 20">
            <a:extLst>
              <a:ext uri="{FF2B5EF4-FFF2-40B4-BE49-F238E27FC236}">
                <a16:creationId xmlns:a16="http://schemas.microsoft.com/office/drawing/2014/main" id="{60B9D1D0-5CBD-254A-9885-E134819E3701}"/>
              </a:ext>
            </a:extLst>
          </p:cNvPr>
          <p:cNvSpPr txBox="1"/>
          <p:nvPr/>
        </p:nvSpPr>
        <p:spPr>
          <a:xfrm>
            <a:off x="4652126" y="258393"/>
            <a:ext cx="7159659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4400" dirty="0">
                <a:latin typeface="Arial Black" panose="020B0A04020102020204" pitchFamily="34" charset="0"/>
              </a:rPr>
              <a:t>Problem Statements</a:t>
            </a:r>
            <a:endParaRPr lang="en-IN" sz="4400" dirty="0"/>
          </a:p>
        </p:txBody>
      </p:sp>
      <p:sp>
        <p:nvSpPr>
          <p:cNvPr id="24" name="object 3">
            <a:extLst>
              <a:ext uri="{FF2B5EF4-FFF2-40B4-BE49-F238E27FC236}">
                <a16:creationId xmlns:a16="http://schemas.microsoft.com/office/drawing/2014/main" id="{CE9C61D3-EFE2-EA53-4A06-D720C9E69E9F}"/>
              </a:ext>
            </a:extLst>
          </p:cNvPr>
          <p:cNvSpPr txBox="1"/>
          <p:nvPr/>
        </p:nvSpPr>
        <p:spPr>
          <a:xfrm>
            <a:off x="155723" y="1425020"/>
            <a:ext cx="11732262" cy="3515065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584200" indent="-571500">
              <a:spcBef>
                <a:spcPts val="130"/>
              </a:spcBef>
              <a:buFont typeface="+mj-lt"/>
              <a:buAutoNum type="romanUcPeriod"/>
              <a:tabLst>
                <a:tab pos="469900" algn="l"/>
              </a:tabLst>
            </a:pPr>
            <a:r>
              <a:rPr lang="en-US" sz="2800" dirty="0"/>
              <a:t>Stroke patients with hand paralysis often lack continuous supervision during rehabilitation, making it difficult to ensure correct exercise performance.</a:t>
            </a:r>
          </a:p>
          <a:p>
            <a:pPr marL="584200" indent="-571500" algn="l" rtl="0">
              <a:spcBef>
                <a:spcPts val="130"/>
              </a:spcBef>
              <a:buFont typeface="+mj-lt"/>
              <a:buAutoNum type="romanUcPeriod"/>
              <a:tabLst>
                <a:tab pos="469900" algn="l"/>
              </a:tabLst>
            </a:pPr>
            <a:endParaRPr lang="en-US" sz="2800" dirty="0"/>
          </a:p>
          <a:p>
            <a:pPr marL="584200" indent="-571500">
              <a:spcBef>
                <a:spcPts val="130"/>
              </a:spcBef>
              <a:buFont typeface="+mj-lt"/>
              <a:buAutoNum type="romanUcPeriod"/>
              <a:tabLst>
                <a:tab pos="469900" algn="l"/>
              </a:tabLst>
            </a:pPr>
            <a:r>
              <a:rPr lang="en-US" sz="2800" dirty="0"/>
              <a:t>Existing rehabilitation systems commonly rely on wearable sensors, which may be uncomfortable, expensive, or unsuitable for long-term home use.</a:t>
            </a:r>
          </a:p>
          <a:p>
            <a:pPr marL="584200" indent="-571500" algn="l" rtl="0">
              <a:spcBef>
                <a:spcPts val="130"/>
              </a:spcBef>
              <a:buFont typeface="+mj-lt"/>
              <a:buAutoNum type="romanUcPeriod"/>
              <a:tabLst>
                <a:tab pos="469900" algn="l"/>
              </a:tabLst>
            </a:pPr>
            <a:endParaRPr lang="en-US" sz="2800" dirty="0"/>
          </a:p>
          <a:p>
            <a:pPr marL="584200" indent="-571500">
              <a:spcBef>
                <a:spcPts val="130"/>
              </a:spcBef>
              <a:buFont typeface="+mj-lt"/>
              <a:buAutoNum type="romanUcPeriod"/>
              <a:tabLst>
                <a:tab pos="469900" algn="l"/>
              </a:tabLst>
            </a:pPr>
            <a:r>
              <a:rPr lang="en-US" sz="2800" dirty="0"/>
              <a:t>There is a need for a low-cost, non-invasive system that can automatically recognize hand rehabilitation exercises and provide real-time feedback.</a:t>
            </a:r>
            <a:endParaRPr lang="en-US" sz="2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5AED000C-CF7D-12FB-4354-63B6A2A2F8F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59756"/>
            <a:ext cx="3827282" cy="10255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719234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CED7CC-7B5A-ADED-C733-5BA2F982D4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object 3">
            <a:extLst>
              <a:ext uri="{FF2B5EF4-FFF2-40B4-BE49-F238E27FC236}">
                <a16:creationId xmlns:a16="http://schemas.microsoft.com/office/drawing/2014/main" id="{062928BA-0B09-0010-0B3D-D631F472E3E5}"/>
              </a:ext>
            </a:extLst>
          </p:cNvPr>
          <p:cNvGrpSpPr/>
          <p:nvPr/>
        </p:nvGrpSpPr>
        <p:grpSpPr>
          <a:xfrm>
            <a:off x="0" y="0"/>
            <a:ext cx="12197080" cy="123825"/>
            <a:chOff x="0" y="828738"/>
            <a:chExt cx="12197080" cy="123825"/>
          </a:xfrm>
        </p:grpSpPr>
        <p:sp>
          <p:nvSpPr>
            <p:cNvPr id="14" name="object 4">
              <a:extLst>
                <a:ext uri="{FF2B5EF4-FFF2-40B4-BE49-F238E27FC236}">
                  <a16:creationId xmlns:a16="http://schemas.microsoft.com/office/drawing/2014/main" id="{4424E834-8362-8278-002C-668BC3C09B60}"/>
                </a:ext>
              </a:extLst>
            </p:cNvPr>
            <p:cNvSpPr/>
            <p:nvPr/>
          </p:nvSpPr>
          <p:spPr>
            <a:xfrm>
              <a:off x="4763" y="833500"/>
              <a:ext cx="12187555" cy="114300"/>
            </a:xfrm>
            <a:custGeom>
              <a:avLst/>
              <a:gdLst/>
              <a:ahLst/>
              <a:cxnLst/>
              <a:rect l="l" t="t" r="r" b="b"/>
              <a:pathLst>
                <a:path w="12187555" h="114300">
                  <a:moveTo>
                    <a:pt x="12187236" y="0"/>
                  </a:moveTo>
                  <a:lnTo>
                    <a:pt x="0" y="0"/>
                  </a:lnTo>
                  <a:lnTo>
                    <a:pt x="0" y="114300"/>
                  </a:lnTo>
                  <a:lnTo>
                    <a:pt x="12187236" y="114300"/>
                  </a:lnTo>
                  <a:lnTo>
                    <a:pt x="12187236" y="0"/>
                  </a:lnTo>
                  <a:close/>
                </a:path>
              </a:pathLst>
            </a:custGeom>
            <a:solidFill>
              <a:srgbClr val="252573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15" name="object 5">
              <a:extLst>
                <a:ext uri="{FF2B5EF4-FFF2-40B4-BE49-F238E27FC236}">
                  <a16:creationId xmlns:a16="http://schemas.microsoft.com/office/drawing/2014/main" id="{D1E29209-08E7-BC30-BB0F-1AB4C11FF175}"/>
                </a:ext>
              </a:extLst>
            </p:cNvPr>
            <p:cNvSpPr/>
            <p:nvPr/>
          </p:nvSpPr>
          <p:spPr>
            <a:xfrm>
              <a:off x="4763" y="833500"/>
              <a:ext cx="12187555" cy="114300"/>
            </a:xfrm>
            <a:custGeom>
              <a:avLst/>
              <a:gdLst/>
              <a:ahLst/>
              <a:cxnLst/>
              <a:rect l="l" t="t" r="r" b="b"/>
              <a:pathLst>
                <a:path w="12187555" h="114300">
                  <a:moveTo>
                    <a:pt x="12187236" y="0"/>
                  </a:moveTo>
                  <a:lnTo>
                    <a:pt x="0" y="0"/>
                  </a:lnTo>
                  <a:lnTo>
                    <a:pt x="0" y="114300"/>
                  </a:lnTo>
                  <a:lnTo>
                    <a:pt x="12187236" y="114300"/>
                  </a:lnTo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6" name="object 3">
            <a:extLst>
              <a:ext uri="{FF2B5EF4-FFF2-40B4-BE49-F238E27FC236}">
                <a16:creationId xmlns:a16="http://schemas.microsoft.com/office/drawing/2014/main" id="{467B7D3C-902D-D56C-190B-3C4DA11F77CD}"/>
              </a:ext>
            </a:extLst>
          </p:cNvPr>
          <p:cNvGrpSpPr/>
          <p:nvPr/>
        </p:nvGrpSpPr>
        <p:grpSpPr>
          <a:xfrm>
            <a:off x="0" y="1196383"/>
            <a:ext cx="12197080" cy="123825"/>
            <a:chOff x="0" y="828738"/>
            <a:chExt cx="12197080" cy="123825"/>
          </a:xfrm>
        </p:grpSpPr>
        <p:sp>
          <p:nvSpPr>
            <p:cNvPr id="17" name="object 4">
              <a:extLst>
                <a:ext uri="{FF2B5EF4-FFF2-40B4-BE49-F238E27FC236}">
                  <a16:creationId xmlns:a16="http://schemas.microsoft.com/office/drawing/2014/main" id="{832D33F2-5E02-237F-98C9-84A152E5EFEB}"/>
                </a:ext>
              </a:extLst>
            </p:cNvPr>
            <p:cNvSpPr/>
            <p:nvPr/>
          </p:nvSpPr>
          <p:spPr>
            <a:xfrm>
              <a:off x="4763" y="833500"/>
              <a:ext cx="12187555" cy="114300"/>
            </a:xfrm>
            <a:custGeom>
              <a:avLst/>
              <a:gdLst/>
              <a:ahLst/>
              <a:cxnLst/>
              <a:rect l="l" t="t" r="r" b="b"/>
              <a:pathLst>
                <a:path w="12187555" h="114300">
                  <a:moveTo>
                    <a:pt x="12187236" y="0"/>
                  </a:moveTo>
                  <a:lnTo>
                    <a:pt x="0" y="0"/>
                  </a:lnTo>
                  <a:lnTo>
                    <a:pt x="0" y="114300"/>
                  </a:lnTo>
                  <a:lnTo>
                    <a:pt x="12187236" y="114300"/>
                  </a:lnTo>
                  <a:lnTo>
                    <a:pt x="12187236" y="0"/>
                  </a:lnTo>
                  <a:close/>
                </a:path>
              </a:pathLst>
            </a:custGeom>
            <a:solidFill>
              <a:srgbClr val="25257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5">
              <a:extLst>
                <a:ext uri="{FF2B5EF4-FFF2-40B4-BE49-F238E27FC236}">
                  <a16:creationId xmlns:a16="http://schemas.microsoft.com/office/drawing/2014/main" id="{39DAA594-696A-49FD-DC37-830B599E4780}"/>
                </a:ext>
              </a:extLst>
            </p:cNvPr>
            <p:cNvSpPr/>
            <p:nvPr/>
          </p:nvSpPr>
          <p:spPr>
            <a:xfrm>
              <a:off x="4763" y="833500"/>
              <a:ext cx="12187555" cy="114300"/>
            </a:xfrm>
            <a:custGeom>
              <a:avLst/>
              <a:gdLst/>
              <a:ahLst/>
              <a:cxnLst/>
              <a:rect l="l" t="t" r="r" b="b"/>
              <a:pathLst>
                <a:path w="12187555" h="114300">
                  <a:moveTo>
                    <a:pt x="12187236" y="0"/>
                  </a:moveTo>
                  <a:lnTo>
                    <a:pt x="0" y="0"/>
                  </a:lnTo>
                  <a:lnTo>
                    <a:pt x="0" y="114300"/>
                  </a:lnTo>
                  <a:lnTo>
                    <a:pt x="12187236" y="114300"/>
                  </a:lnTo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1" name="TextBox 20">
            <a:extLst>
              <a:ext uri="{FF2B5EF4-FFF2-40B4-BE49-F238E27FC236}">
                <a16:creationId xmlns:a16="http://schemas.microsoft.com/office/drawing/2014/main" id="{6A7D7D77-B7A0-773E-FADB-FA40720CE6B4}"/>
              </a:ext>
            </a:extLst>
          </p:cNvPr>
          <p:cNvSpPr txBox="1"/>
          <p:nvPr/>
        </p:nvSpPr>
        <p:spPr>
          <a:xfrm>
            <a:off x="4652126" y="258393"/>
            <a:ext cx="7159659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4400" dirty="0">
                <a:latin typeface="Arial Black" panose="020B0A04020102020204" pitchFamily="34" charset="0"/>
              </a:rPr>
              <a:t>Objective</a:t>
            </a:r>
            <a:endParaRPr lang="en-IN" sz="4400" dirty="0"/>
          </a:p>
        </p:txBody>
      </p:sp>
      <p:sp>
        <p:nvSpPr>
          <p:cNvPr id="24" name="object 3">
            <a:extLst>
              <a:ext uri="{FF2B5EF4-FFF2-40B4-BE49-F238E27FC236}">
                <a16:creationId xmlns:a16="http://schemas.microsoft.com/office/drawing/2014/main" id="{C0E8A97A-6D04-DEC3-174A-0F06AA5523BB}"/>
              </a:ext>
            </a:extLst>
          </p:cNvPr>
          <p:cNvSpPr txBox="1"/>
          <p:nvPr/>
        </p:nvSpPr>
        <p:spPr>
          <a:xfrm>
            <a:off x="155723" y="1425020"/>
            <a:ext cx="11732262" cy="860492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584200" indent="-571500">
              <a:spcBef>
                <a:spcPts val="130"/>
              </a:spcBef>
              <a:buFont typeface="+mj-lt"/>
              <a:buAutoNum type="romanUcPeriod"/>
              <a:tabLst>
                <a:tab pos="469900" algn="l"/>
              </a:tabLst>
            </a:pPr>
            <a:endParaRPr lang="en-IN" sz="2800" b="1" dirty="0"/>
          </a:p>
          <a:p>
            <a:pPr marL="584200" indent="-571500" algn="l" rtl="0">
              <a:spcBef>
                <a:spcPts val="130"/>
              </a:spcBef>
              <a:buFont typeface="+mj-lt"/>
              <a:buAutoNum type="romanUcPeriod"/>
              <a:tabLst>
                <a:tab pos="469900" algn="l"/>
              </a:tabLst>
            </a:pPr>
            <a:endParaRPr lang="en-US" sz="2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8A5FBAE3-6200-32D4-FFE7-FE524F7A851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59756"/>
            <a:ext cx="3827282" cy="1025592"/>
          </a:xfrm>
          <a:prstGeom prst="rect">
            <a:avLst/>
          </a:prstGeom>
        </p:spPr>
      </p:pic>
      <p:sp>
        <p:nvSpPr>
          <p:cNvPr id="4" name="Rectangle 2">
            <a:extLst>
              <a:ext uri="{FF2B5EF4-FFF2-40B4-BE49-F238E27FC236}">
                <a16:creationId xmlns:a16="http://schemas.microsoft.com/office/drawing/2014/main" id="{A83BB149-4241-4235-7540-D7BE52C268F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0255" y="1550564"/>
            <a:ext cx="11604395" cy="39703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457200" marR="0" lvl="0" indent="-45720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Pct val="100000"/>
              <a:buFont typeface="Arial" panose="020B0604020202020204" pitchFamily="34" charset="0"/>
              <a:buChar char="•"/>
              <a:tabLst/>
            </a:pPr>
            <a:r>
              <a:rPr kumimoji="0" lang="en-US" altLang="en-US" sz="2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Literature review – Study existing hand rehab and gesture systems</a:t>
            </a:r>
          </a:p>
          <a:p>
            <a:pPr marL="457200" marR="0" lvl="0" indent="-45720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Pct val="100000"/>
              <a:buFont typeface="Arial" panose="020B0604020202020204" pitchFamily="34" charset="0"/>
              <a:buChar char="•"/>
              <a:tabLst/>
            </a:pPr>
            <a:endParaRPr kumimoji="0" lang="en-US" altLang="en-US" sz="28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457200" marR="0" lvl="0" indent="-45720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Pct val="100000"/>
              <a:buFont typeface="Arial" panose="020B0604020202020204" pitchFamily="34" charset="0"/>
              <a:buChar char="•"/>
              <a:tabLst/>
            </a:pPr>
            <a:r>
              <a:rPr kumimoji="0" lang="en-US" altLang="en-US" sz="2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Exercise selection – Choose predefined hand exercises</a:t>
            </a:r>
          </a:p>
          <a:p>
            <a:pPr marL="457200" marR="0" lvl="0" indent="-45720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Pct val="100000"/>
              <a:buFont typeface="Arial" panose="020B0604020202020204" pitchFamily="34" charset="0"/>
              <a:buChar char="•"/>
              <a:tabLst/>
            </a:pPr>
            <a:endParaRPr kumimoji="0" lang="en-US" altLang="en-US" sz="28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457200" marR="0" lvl="0" indent="-45720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Pct val="100000"/>
              <a:buFont typeface="Arial" panose="020B0604020202020204" pitchFamily="34" charset="0"/>
              <a:buChar char="•"/>
              <a:tabLst/>
            </a:pPr>
            <a:r>
              <a:rPr kumimoji="0" lang="en-US" altLang="en-US" sz="2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Image capture – Collect hand exercise images using a camera</a:t>
            </a:r>
          </a:p>
          <a:p>
            <a:pPr marL="457200" marR="0" lvl="0" indent="-45720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Pct val="100000"/>
              <a:buFont typeface="Arial" panose="020B0604020202020204" pitchFamily="34" charset="0"/>
              <a:buChar char="•"/>
              <a:tabLst/>
            </a:pPr>
            <a:endParaRPr kumimoji="0" lang="en-US" altLang="en-US" sz="28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457200" marR="0" lvl="0" indent="-45720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Pct val="100000"/>
              <a:buFont typeface="Arial" panose="020B0604020202020204" pitchFamily="34" charset="0"/>
              <a:buChar char="•"/>
              <a:tabLst/>
            </a:pPr>
            <a:r>
              <a:rPr kumimoji="0" lang="en-US" altLang="en-US" sz="2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Recognition – Detect exercises in real time using live video</a:t>
            </a:r>
          </a:p>
          <a:p>
            <a:pPr marL="457200" marR="0" lvl="0" indent="-45720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Pct val="100000"/>
              <a:buFont typeface="Arial" panose="020B0604020202020204" pitchFamily="34" charset="0"/>
              <a:buChar char="•"/>
              <a:tabLst/>
            </a:pPr>
            <a:endParaRPr lang="en-US" altLang="en-US" sz="2800" dirty="0">
              <a:latin typeface="Arial" panose="020B0604020202020204" pitchFamily="34" charset="0"/>
            </a:endParaRPr>
          </a:p>
          <a:p>
            <a:pPr marL="457200" marR="0" lvl="0" indent="-45720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Pct val="100000"/>
              <a:buFont typeface="Arial" panose="020B0604020202020204" pitchFamily="34" charset="0"/>
              <a:buChar char="•"/>
              <a:tabLst/>
            </a:pPr>
            <a:r>
              <a:rPr kumimoji="0" lang="en-US" altLang="en-US" sz="2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Feedback – Provide real-time hardware feedback </a:t>
            </a:r>
          </a:p>
        </p:txBody>
      </p:sp>
    </p:spTree>
    <p:extLst>
      <p:ext uri="{BB962C8B-B14F-4D97-AF65-F5344CB8AC3E}">
        <p14:creationId xmlns:p14="http://schemas.microsoft.com/office/powerpoint/2010/main" val="58595622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B83BD6-4995-D69E-8AF5-A591CC8C4A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object 3">
            <a:extLst>
              <a:ext uri="{FF2B5EF4-FFF2-40B4-BE49-F238E27FC236}">
                <a16:creationId xmlns:a16="http://schemas.microsoft.com/office/drawing/2014/main" id="{330AF756-BAAC-9C69-2CAF-CA896593B243}"/>
              </a:ext>
            </a:extLst>
          </p:cNvPr>
          <p:cNvGrpSpPr/>
          <p:nvPr/>
        </p:nvGrpSpPr>
        <p:grpSpPr>
          <a:xfrm>
            <a:off x="0" y="0"/>
            <a:ext cx="12197080" cy="123825"/>
            <a:chOff x="0" y="828738"/>
            <a:chExt cx="12197080" cy="123825"/>
          </a:xfrm>
        </p:grpSpPr>
        <p:sp>
          <p:nvSpPr>
            <p:cNvPr id="14" name="object 4">
              <a:extLst>
                <a:ext uri="{FF2B5EF4-FFF2-40B4-BE49-F238E27FC236}">
                  <a16:creationId xmlns:a16="http://schemas.microsoft.com/office/drawing/2014/main" id="{646BD34E-7FC5-B6BE-6FC8-1885E71B953C}"/>
                </a:ext>
              </a:extLst>
            </p:cNvPr>
            <p:cNvSpPr/>
            <p:nvPr/>
          </p:nvSpPr>
          <p:spPr>
            <a:xfrm>
              <a:off x="4763" y="833500"/>
              <a:ext cx="12187555" cy="114300"/>
            </a:xfrm>
            <a:custGeom>
              <a:avLst/>
              <a:gdLst/>
              <a:ahLst/>
              <a:cxnLst/>
              <a:rect l="l" t="t" r="r" b="b"/>
              <a:pathLst>
                <a:path w="12187555" h="114300">
                  <a:moveTo>
                    <a:pt x="12187236" y="0"/>
                  </a:moveTo>
                  <a:lnTo>
                    <a:pt x="0" y="0"/>
                  </a:lnTo>
                  <a:lnTo>
                    <a:pt x="0" y="114300"/>
                  </a:lnTo>
                  <a:lnTo>
                    <a:pt x="12187236" y="114300"/>
                  </a:lnTo>
                  <a:lnTo>
                    <a:pt x="12187236" y="0"/>
                  </a:lnTo>
                  <a:close/>
                </a:path>
              </a:pathLst>
            </a:custGeom>
            <a:solidFill>
              <a:srgbClr val="252573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15" name="object 5">
              <a:extLst>
                <a:ext uri="{FF2B5EF4-FFF2-40B4-BE49-F238E27FC236}">
                  <a16:creationId xmlns:a16="http://schemas.microsoft.com/office/drawing/2014/main" id="{BC65759D-3EA7-E8C9-4B4E-2B9BBAC81703}"/>
                </a:ext>
              </a:extLst>
            </p:cNvPr>
            <p:cNvSpPr/>
            <p:nvPr/>
          </p:nvSpPr>
          <p:spPr>
            <a:xfrm>
              <a:off x="4763" y="833500"/>
              <a:ext cx="12187555" cy="114300"/>
            </a:xfrm>
            <a:custGeom>
              <a:avLst/>
              <a:gdLst/>
              <a:ahLst/>
              <a:cxnLst/>
              <a:rect l="l" t="t" r="r" b="b"/>
              <a:pathLst>
                <a:path w="12187555" h="114300">
                  <a:moveTo>
                    <a:pt x="12187236" y="0"/>
                  </a:moveTo>
                  <a:lnTo>
                    <a:pt x="0" y="0"/>
                  </a:lnTo>
                  <a:lnTo>
                    <a:pt x="0" y="114300"/>
                  </a:lnTo>
                  <a:lnTo>
                    <a:pt x="12187236" y="114300"/>
                  </a:lnTo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6" name="object 3">
            <a:extLst>
              <a:ext uri="{FF2B5EF4-FFF2-40B4-BE49-F238E27FC236}">
                <a16:creationId xmlns:a16="http://schemas.microsoft.com/office/drawing/2014/main" id="{704E0464-A50E-E78B-2BA2-7B3C58408D9C}"/>
              </a:ext>
            </a:extLst>
          </p:cNvPr>
          <p:cNvGrpSpPr/>
          <p:nvPr/>
        </p:nvGrpSpPr>
        <p:grpSpPr>
          <a:xfrm>
            <a:off x="0" y="1196383"/>
            <a:ext cx="12197080" cy="123825"/>
            <a:chOff x="0" y="828738"/>
            <a:chExt cx="12197080" cy="123825"/>
          </a:xfrm>
        </p:grpSpPr>
        <p:sp>
          <p:nvSpPr>
            <p:cNvPr id="17" name="object 4">
              <a:extLst>
                <a:ext uri="{FF2B5EF4-FFF2-40B4-BE49-F238E27FC236}">
                  <a16:creationId xmlns:a16="http://schemas.microsoft.com/office/drawing/2014/main" id="{E471EE69-00D1-9AEC-3533-6A2BF0CFAB78}"/>
                </a:ext>
              </a:extLst>
            </p:cNvPr>
            <p:cNvSpPr/>
            <p:nvPr/>
          </p:nvSpPr>
          <p:spPr>
            <a:xfrm>
              <a:off x="4763" y="833500"/>
              <a:ext cx="12187555" cy="114300"/>
            </a:xfrm>
            <a:custGeom>
              <a:avLst/>
              <a:gdLst/>
              <a:ahLst/>
              <a:cxnLst/>
              <a:rect l="l" t="t" r="r" b="b"/>
              <a:pathLst>
                <a:path w="12187555" h="114300">
                  <a:moveTo>
                    <a:pt x="12187236" y="0"/>
                  </a:moveTo>
                  <a:lnTo>
                    <a:pt x="0" y="0"/>
                  </a:lnTo>
                  <a:lnTo>
                    <a:pt x="0" y="114300"/>
                  </a:lnTo>
                  <a:lnTo>
                    <a:pt x="12187236" y="114300"/>
                  </a:lnTo>
                  <a:lnTo>
                    <a:pt x="12187236" y="0"/>
                  </a:lnTo>
                  <a:close/>
                </a:path>
              </a:pathLst>
            </a:custGeom>
            <a:solidFill>
              <a:srgbClr val="25257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5">
              <a:extLst>
                <a:ext uri="{FF2B5EF4-FFF2-40B4-BE49-F238E27FC236}">
                  <a16:creationId xmlns:a16="http://schemas.microsoft.com/office/drawing/2014/main" id="{90EA71CF-C2A1-6EEA-FE04-BFF763E98237}"/>
                </a:ext>
              </a:extLst>
            </p:cNvPr>
            <p:cNvSpPr/>
            <p:nvPr/>
          </p:nvSpPr>
          <p:spPr>
            <a:xfrm>
              <a:off x="4763" y="833500"/>
              <a:ext cx="12187555" cy="114300"/>
            </a:xfrm>
            <a:custGeom>
              <a:avLst/>
              <a:gdLst/>
              <a:ahLst/>
              <a:cxnLst/>
              <a:rect l="l" t="t" r="r" b="b"/>
              <a:pathLst>
                <a:path w="12187555" h="114300">
                  <a:moveTo>
                    <a:pt x="12187236" y="0"/>
                  </a:moveTo>
                  <a:lnTo>
                    <a:pt x="0" y="0"/>
                  </a:lnTo>
                  <a:lnTo>
                    <a:pt x="0" y="114300"/>
                  </a:lnTo>
                  <a:lnTo>
                    <a:pt x="12187236" y="114300"/>
                  </a:lnTo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1" name="TextBox 20">
            <a:extLst>
              <a:ext uri="{FF2B5EF4-FFF2-40B4-BE49-F238E27FC236}">
                <a16:creationId xmlns:a16="http://schemas.microsoft.com/office/drawing/2014/main" id="{9515B9C1-3AEF-EDBA-06C0-41F52806D9C6}"/>
              </a:ext>
            </a:extLst>
          </p:cNvPr>
          <p:cNvSpPr txBox="1"/>
          <p:nvPr/>
        </p:nvSpPr>
        <p:spPr>
          <a:xfrm>
            <a:off x="4652126" y="258393"/>
            <a:ext cx="7159659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4400" dirty="0">
                <a:latin typeface="Arial Black" panose="020B0A04020102020204" pitchFamily="34" charset="0"/>
              </a:rPr>
              <a:t>Literature Survey</a:t>
            </a:r>
            <a:endParaRPr lang="en-IN" sz="4400" dirty="0"/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3379172F-0C3F-A2D7-5D37-9C75AC59D48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23149196"/>
              </p:ext>
            </p:extLst>
          </p:nvPr>
        </p:nvGraphicFramePr>
        <p:xfrm>
          <a:off x="540727" y="1450130"/>
          <a:ext cx="11167107" cy="513659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22369">
                  <a:extLst>
                    <a:ext uri="{9D8B030D-6E8A-4147-A177-3AD203B41FA5}">
                      <a16:colId xmlns:a16="http://schemas.microsoft.com/office/drawing/2014/main" val="741973221"/>
                    </a:ext>
                  </a:extLst>
                </a:gridCol>
                <a:gridCol w="3722369">
                  <a:extLst>
                    <a:ext uri="{9D8B030D-6E8A-4147-A177-3AD203B41FA5}">
                      <a16:colId xmlns:a16="http://schemas.microsoft.com/office/drawing/2014/main" val="2461659747"/>
                    </a:ext>
                  </a:extLst>
                </a:gridCol>
                <a:gridCol w="3722369">
                  <a:extLst>
                    <a:ext uri="{9D8B030D-6E8A-4147-A177-3AD203B41FA5}">
                      <a16:colId xmlns:a16="http://schemas.microsoft.com/office/drawing/2014/main" val="2994232230"/>
                    </a:ext>
                  </a:extLst>
                </a:gridCol>
              </a:tblGrid>
              <a:tr h="218136">
                <a:tc>
                  <a:txBody>
                    <a:bodyPr/>
                    <a:lstStyle/>
                    <a:p>
                      <a:r>
                        <a:rPr lang="en-IN" sz="2000" dirty="0"/>
                        <a:t>Title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000" dirty="0"/>
                        <a:t>Limitations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000" dirty="0"/>
                        <a:t>Improvements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04697499"/>
                  </a:ext>
                </a:extLst>
              </a:tr>
              <a:tr h="2088595">
                <a:tc>
                  <a:txBody>
                    <a:bodyPr/>
                    <a:lstStyle/>
                    <a:p>
                      <a:r>
                        <a:rPr lang="en-US" sz="1800" b="1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A Device for Local or Remote Monitoring of Hand</a:t>
                      </a:r>
                    </a:p>
                    <a:p>
                      <a:r>
                        <a:rPr lang="en-IN" sz="1800" b="1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Rehabilitation Sessions for Rheumatic Patients</a:t>
                      </a:r>
                    </a:p>
                    <a:p>
                      <a:r>
                        <a:rPr lang="en-IN" b="0" i="0" dirty="0"/>
                        <a:t>D. Pani, G. Barabino, A. </a:t>
                      </a:r>
                      <a:r>
                        <a:rPr lang="en-IN" b="0" i="0" dirty="0" err="1"/>
                        <a:t>Dessì</a:t>
                      </a:r>
                      <a:r>
                        <a:rPr lang="en-IN" b="0" i="0" dirty="0"/>
                        <a:t>, IEEE Journal of Biomedical and Health Informatics, Nov. 2015.</a:t>
                      </a:r>
                      <a:endParaRPr lang="it-IT" sz="18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Focused on static gestures, limited classes, no rehabilitation feedback, and constrained real-time adaptability.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 Extended to dynamic hand exercises with real-time recognition and hardware-based feedback for rehabilitation support.</a:t>
                      </a:r>
                      <a:endParaRPr lang="en-IN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78072323"/>
                  </a:ext>
                </a:extLst>
              </a:tr>
              <a:tr h="1399328">
                <a:tc>
                  <a:txBody>
                    <a:bodyPr/>
                    <a:lstStyle/>
                    <a:p>
                      <a:r>
                        <a:rPr lang="en-IN" sz="1800" b="1" dirty="0"/>
                        <a:t>Wearable Hand Rehabilitation System With Soft Gloves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b="0" i="0" dirty="0"/>
                        <a:t>X. Chen, L. Gong, L. Wei, S.-C. Yeh,</a:t>
                      </a:r>
                      <a:br>
                        <a:rPr lang="en-IN" b="0" i="0" dirty="0"/>
                      </a:br>
                      <a:r>
                        <a:rPr lang="en-IN" b="0" i="0" dirty="0"/>
                        <a:t>IEEE Transactions on Industrial Informatics, Feb. 2021.</a:t>
                      </a:r>
                      <a:endParaRPr lang="en-US" sz="1800" b="0" i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The glove doesn’t support many rehab tasks, and we don’t know if it works well long-term. Adding more therapy features and better real-time changes can help more patients.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Adding more exercises to help with different hand movements and recovery. Testing the glove for a longer time to see how well it works.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82446779"/>
                  </a:ext>
                </a:extLst>
              </a:tr>
              <a:tr h="904249">
                <a:tc>
                  <a:txBody>
                    <a:bodyPr/>
                    <a:lstStyle/>
                    <a:p>
                      <a:r>
                        <a:rPr lang="en-US" b="1" dirty="0"/>
                        <a:t>Sign language detection</a:t>
                      </a:r>
                    </a:p>
                    <a:p>
                      <a:r>
                        <a:rPr lang="en-US" dirty="0"/>
                        <a:t>P</a:t>
                      </a:r>
                      <a:r>
                        <a:rPr lang="en-US" i="0" dirty="0"/>
                        <a:t>. Kadiyala, International Research Journal of Engineering and Technology (IRJET),</a:t>
                      </a:r>
                      <a:r>
                        <a:rPr lang="en-US" b="0" i="0" dirty="0"/>
                        <a:t>Jul. 2021.</a:t>
                      </a:r>
                      <a:endParaRPr lang="en-IN" b="0" i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Limited to static sign recognition for communication, lacks real-time monitoring, rehabilitation focus, exercise evaluation, and hardware-based feedback.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Supports real-time hand rehabilitation exercise recognition, continuous monitoring, and integrates hardware-based visual or auditory feedback for effective therapy.</a:t>
                      </a:r>
                      <a:endParaRPr lang="en-IN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7608656"/>
                  </a:ext>
                </a:extLst>
              </a:tr>
            </a:tbl>
          </a:graphicData>
        </a:graphic>
      </p:graphicFrame>
      <p:pic>
        <p:nvPicPr>
          <p:cNvPr id="3" name="Picture 2">
            <a:extLst>
              <a:ext uri="{FF2B5EF4-FFF2-40B4-BE49-F238E27FC236}">
                <a16:creationId xmlns:a16="http://schemas.microsoft.com/office/drawing/2014/main" id="{285CF207-FE7D-24AA-3FEE-B6271225DD0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59756"/>
            <a:ext cx="3827282" cy="10255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119683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E7E4B6-01CE-2C9E-0477-53A140997C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object 3">
            <a:extLst>
              <a:ext uri="{FF2B5EF4-FFF2-40B4-BE49-F238E27FC236}">
                <a16:creationId xmlns:a16="http://schemas.microsoft.com/office/drawing/2014/main" id="{246A967B-4A6C-B71C-84F1-52918CF115FD}"/>
              </a:ext>
            </a:extLst>
          </p:cNvPr>
          <p:cNvGrpSpPr/>
          <p:nvPr/>
        </p:nvGrpSpPr>
        <p:grpSpPr>
          <a:xfrm>
            <a:off x="0" y="0"/>
            <a:ext cx="12197080" cy="123825"/>
            <a:chOff x="0" y="828738"/>
            <a:chExt cx="12197080" cy="123825"/>
          </a:xfrm>
        </p:grpSpPr>
        <p:sp>
          <p:nvSpPr>
            <p:cNvPr id="14" name="object 4">
              <a:extLst>
                <a:ext uri="{FF2B5EF4-FFF2-40B4-BE49-F238E27FC236}">
                  <a16:creationId xmlns:a16="http://schemas.microsoft.com/office/drawing/2014/main" id="{0D107270-6E47-99B4-95DB-3051DA64E115}"/>
                </a:ext>
              </a:extLst>
            </p:cNvPr>
            <p:cNvSpPr/>
            <p:nvPr/>
          </p:nvSpPr>
          <p:spPr>
            <a:xfrm>
              <a:off x="4763" y="833500"/>
              <a:ext cx="12187555" cy="114300"/>
            </a:xfrm>
            <a:custGeom>
              <a:avLst/>
              <a:gdLst/>
              <a:ahLst/>
              <a:cxnLst/>
              <a:rect l="l" t="t" r="r" b="b"/>
              <a:pathLst>
                <a:path w="12187555" h="114300">
                  <a:moveTo>
                    <a:pt x="12187236" y="0"/>
                  </a:moveTo>
                  <a:lnTo>
                    <a:pt x="0" y="0"/>
                  </a:lnTo>
                  <a:lnTo>
                    <a:pt x="0" y="114300"/>
                  </a:lnTo>
                  <a:lnTo>
                    <a:pt x="12187236" y="114300"/>
                  </a:lnTo>
                  <a:lnTo>
                    <a:pt x="12187236" y="0"/>
                  </a:lnTo>
                  <a:close/>
                </a:path>
              </a:pathLst>
            </a:custGeom>
            <a:solidFill>
              <a:srgbClr val="252573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15" name="object 5">
              <a:extLst>
                <a:ext uri="{FF2B5EF4-FFF2-40B4-BE49-F238E27FC236}">
                  <a16:creationId xmlns:a16="http://schemas.microsoft.com/office/drawing/2014/main" id="{B33943C9-DBCA-2F9B-0CE4-3B868A7E9192}"/>
                </a:ext>
              </a:extLst>
            </p:cNvPr>
            <p:cNvSpPr/>
            <p:nvPr/>
          </p:nvSpPr>
          <p:spPr>
            <a:xfrm>
              <a:off x="4763" y="833500"/>
              <a:ext cx="12187555" cy="114300"/>
            </a:xfrm>
            <a:custGeom>
              <a:avLst/>
              <a:gdLst/>
              <a:ahLst/>
              <a:cxnLst/>
              <a:rect l="l" t="t" r="r" b="b"/>
              <a:pathLst>
                <a:path w="12187555" h="114300">
                  <a:moveTo>
                    <a:pt x="12187236" y="0"/>
                  </a:moveTo>
                  <a:lnTo>
                    <a:pt x="0" y="0"/>
                  </a:lnTo>
                  <a:lnTo>
                    <a:pt x="0" y="114300"/>
                  </a:lnTo>
                  <a:lnTo>
                    <a:pt x="12187236" y="114300"/>
                  </a:lnTo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6" name="object 3">
            <a:extLst>
              <a:ext uri="{FF2B5EF4-FFF2-40B4-BE49-F238E27FC236}">
                <a16:creationId xmlns:a16="http://schemas.microsoft.com/office/drawing/2014/main" id="{97DDDA6B-4974-CA19-0211-2660D42E932F}"/>
              </a:ext>
            </a:extLst>
          </p:cNvPr>
          <p:cNvGrpSpPr/>
          <p:nvPr/>
        </p:nvGrpSpPr>
        <p:grpSpPr>
          <a:xfrm>
            <a:off x="0" y="1196383"/>
            <a:ext cx="12197080" cy="123825"/>
            <a:chOff x="0" y="828738"/>
            <a:chExt cx="12197080" cy="123825"/>
          </a:xfrm>
        </p:grpSpPr>
        <p:sp>
          <p:nvSpPr>
            <p:cNvPr id="17" name="object 4">
              <a:extLst>
                <a:ext uri="{FF2B5EF4-FFF2-40B4-BE49-F238E27FC236}">
                  <a16:creationId xmlns:a16="http://schemas.microsoft.com/office/drawing/2014/main" id="{00797473-E15B-048E-FBA1-BAFC9984E960}"/>
                </a:ext>
              </a:extLst>
            </p:cNvPr>
            <p:cNvSpPr/>
            <p:nvPr/>
          </p:nvSpPr>
          <p:spPr>
            <a:xfrm>
              <a:off x="4763" y="833500"/>
              <a:ext cx="12187555" cy="114300"/>
            </a:xfrm>
            <a:custGeom>
              <a:avLst/>
              <a:gdLst/>
              <a:ahLst/>
              <a:cxnLst/>
              <a:rect l="l" t="t" r="r" b="b"/>
              <a:pathLst>
                <a:path w="12187555" h="114300">
                  <a:moveTo>
                    <a:pt x="12187236" y="0"/>
                  </a:moveTo>
                  <a:lnTo>
                    <a:pt x="0" y="0"/>
                  </a:lnTo>
                  <a:lnTo>
                    <a:pt x="0" y="114300"/>
                  </a:lnTo>
                  <a:lnTo>
                    <a:pt x="12187236" y="114300"/>
                  </a:lnTo>
                  <a:lnTo>
                    <a:pt x="12187236" y="0"/>
                  </a:lnTo>
                  <a:close/>
                </a:path>
              </a:pathLst>
            </a:custGeom>
            <a:solidFill>
              <a:srgbClr val="25257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5">
              <a:extLst>
                <a:ext uri="{FF2B5EF4-FFF2-40B4-BE49-F238E27FC236}">
                  <a16:creationId xmlns:a16="http://schemas.microsoft.com/office/drawing/2014/main" id="{AC360F44-1F18-3182-898D-2AB81E2695BC}"/>
                </a:ext>
              </a:extLst>
            </p:cNvPr>
            <p:cNvSpPr/>
            <p:nvPr/>
          </p:nvSpPr>
          <p:spPr>
            <a:xfrm>
              <a:off x="4763" y="833500"/>
              <a:ext cx="12187555" cy="114300"/>
            </a:xfrm>
            <a:custGeom>
              <a:avLst/>
              <a:gdLst/>
              <a:ahLst/>
              <a:cxnLst/>
              <a:rect l="l" t="t" r="r" b="b"/>
              <a:pathLst>
                <a:path w="12187555" h="114300">
                  <a:moveTo>
                    <a:pt x="12187236" y="0"/>
                  </a:moveTo>
                  <a:lnTo>
                    <a:pt x="0" y="0"/>
                  </a:lnTo>
                  <a:lnTo>
                    <a:pt x="0" y="114300"/>
                  </a:lnTo>
                  <a:lnTo>
                    <a:pt x="12187236" y="114300"/>
                  </a:lnTo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1" name="TextBox 20">
            <a:extLst>
              <a:ext uri="{FF2B5EF4-FFF2-40B4-BE49-F238E27FC236}">
                <a16:creationId xmlns:a16="http://schemas.microsoft.com/office/drawing/2014/main" id="{B054C501-2A59-D585-2C8D-DF9D906ED513}"/>
              </a:ext>
            </a:extLst>
          </p:cNvPr>
          <p:cNvSpPr txBox="1"/>
          <p:nvPr/>
        </p:nvSpPr>
        <p:spPr>
          <a:xfrm>
            <a:off x="4652126" y="258393"/>
            <a:ext cx="7159659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4400" b="1" dirty="0">
                <a:solidFill>
                  <a:srgbClr val="000000"/>
                </a:solidFill>
                <a:latin typeface="Arial Black" panose="020B0A04020102020204" pitchFamily="34" charset="0"/>
                <a:ea typeface="Times New Roman Bold"/>
                <a:cs typeface="Arial" panose="020B0604020202020204" pitchFamily="34" charset="0"/>
                <a:sym typeface="Times New Roman Bold"/>
              </a:rPr>
              <a:t>Methodology</a:t>
            </a:r>
            <a:endParaRPr lang="en-IN" sz="4400" b="1" dirty="0">
              <a:latin typeface="Arial Black" panose="020B0A04020102020204" pitchFamily="34" charset="0"/>
            </a:endParaRPr>
          </a:p>
        </p:txBody>
      </p:sp>
      <p:grpSp>
        <p:nvGrpSpPr>
          <p:cNvPr id="187" name="Group 10">
            <a:extLst>
              <a:ext uri="{FF2B5EF4-FFF2-40B4-BE49-F238E27FC236}">
                <a16:creationId xmlns:a16="http://schemas.microsoft.com/office/drawing/2014/main" id="{9C60596C-C55D-F068-8874-77829A1E5424}"/>
              </a:ext>
            </a:extLst>
          </p:cNvPr>
          <p:cNvGrpSpPr/>
          <p:nvPr/>
        </p:nvGrpSpPr>
        <p:grpSpPr>
          <a:xfrm>
            <a:off x="9159998" y="1476077"/>
            <a:ext cx="1917117" cy="933179"/>
            <a:chOff x="0" y="0"/>
            <a:chExt cx="812800" cy="441477"/>
          </a:xfrm>
        </p:grpSpPr>
        <p:sp>
          <p:nvSpPr>
            <p:cNvPr id="188" name="Freeform 11">
              <a:extLst>
                <a:ext uri="{FF2B5EF4-FFF2-40B4-BE49-F238E27FC236}">
                  <a16:creationId xmlns:a16="http://schemas.microsoft.com/office/drawing/2014/main" id="{1E6AF394-5A12-DB11-1A99-AD8010BE968B}"/>
                </a:ext>
              </a:extLst>
            </p:cNvPr>
            <p:cNvSpPr/>
            <p:nvPr/>
          </p:nvSpPr>
          <p:spPr>
            <a:xfrm>
              <a:off x="0" y="0"/>
              <a:ext cx="812800" cy="441477"/>
            </a:xfrm>
            <a:custGeom>
              <a:avLst/>
              <a:gdLst/>
              <a:ahLst/>
              <a:cxnLst/>
              <a:rect l="l" t="t" r="r" b="b"/>
              <a:pathLst>
                <a:path w="812800" h="441477">
                  <a:moveTo>
                    <a:pt x="32358" y="0"/>
                  </a:moveTo>
                  <a:lnTo>
                    <a:pt x="780442" y="0"/>
                  </a:lnTo>
                  <a:cubicBezTo>
                    <a:pt x="798313" y="0"/>
                    <a:pt x="812800" y="14487"/>
                    <a:pt x="812800" y="32358"/>
                  </a:cubicBezTo>
                  <a:lnTo>
                    <a:pt x="812800" y="409119"/>
                  </a:lnTo>
                  <a:cubicBezTo>
                    <a:pt x="812800" y="426990"/>
                    <a:pt x="798313" y="441477"/>
                    <a:pt x="780442" y="441477"/>
                  </a:cubicBezTo>
                  <a:lnTo>
                    <a:pt x="32358" y="441477"/>
                  </a:lnTo>
                  <a:cubicBezTo>
                    <a:pt x="14487" y="441477"/>
                    <a:pt x="0" y="426990"/>
                    <a:pt x="0" y="409119"/>
                  </a:cubicBezTo>
                  <a:lnTo>
                    <a:pt x="0" y="32358"/>
                  </a:lnTo>
                  <a:cubicBezTo>
                    <a:pt x="0" y="14487"/>
                    <a:pt x="14487" y="0"/>
                    <a:pt x="32358" y="0"/>
                  </a:cubicBezTo>
                  <a:close/>
                </a:path>
              </a:pathLst>
            </a:custGeom>
            <a:solidFill>
              <a:srgbClr val="2D3546"/>
            </a:solidFill>
            <a:ln cap="sq">
              <a:noFill/>
              <a:prstDash val="solid"/>
              <a:miter/>
            </a:ln>
          </p:spPr>
        </p:sp>
        <p:sp>
          <p:nvSpPr>
            <p:cNvPr id="189" name="TextBox 12">
              <a:extLst>
                <a:ext uri="{FF2B5EF4-FFF2-40B4-BE49-F238E27FC236}">
                  <a16:creationId xmlns:a16="http://schemas.microsoft.com/office/drawing/2014/main" id="{B6C50CDE-3DE0-C7EB-3C09-432AF3F377FE}"/>
                </a:ext>
              </a:extLst>
            </p:cNvPr>
            <p:cNvSpPr txBox="1"/>
            <p:nvPr/>
          </p:nvSpPr>
          <p:spPr>
            <a:xfrm>
              <a:off x="0" y="0"/>
              <a:ext cx="812800" cy="44147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331"/>
                </a:lnSpc>
              </a:pPr>
              <a:endParaRPr/>
            </a:p>
          </p:txBody>
        </p:sp>
      </p:grpSp>
      <p:grpSp>
        <p:nvGrpSpPr>
          <p:cNvPr id="190" name="Group 13">
            <a:extLst>
              <a:ext uri="{FF2B5EF4-FFF2-40B4-BE49-F238E27FC236}">
                <a16:creationId xmlns:a16="http://schemas.microsoft.com/office/drawing/2014/main" id="{902A7327-948D-01DC-00CE-D7E252672A5A}"/>
              </a:ext>
            </a:extLst>
          </p:cNvPr>
          <p:cNvGrpSpPr/>
          <p:nvPr/>
        </p:nvGrpSpPr>
        <p:grpSpPr>
          <a:xfrm>
            <a:off x="10040547" y="1291544"/>
            <a:ext cx="323455" cy="289872"/>
            <a:chOff x="0" y="0"/>
            <a:chExt cx="812800" cy="812800"/>
          </a:xfrm>
        </p:grpSpPr>
        <p:sp>
          <p:nvSpPr>
            <p:cNvPr id="191" name="Freeform 14">
              <a:extLst>
                <a:ext uri="{FF2B5EF4-FFF2-40B4-BE49-F238E27FC236}">
                  <a16:creationId xmlns:a16="http://schemas.microsoft.com/office/drawing/2014/main" id="{7C0E2E18-000F-7D47-CE0E-EDF901F392AA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2593F"/>
            </a:solidFill>
            <a:ln cap="sq">
              <a:noFill/>
              <a:prstDash val="solid"/>
              <a:miter/>
            </a:ln>
          </p:spPr>
        </p:sp>
        <p:sp>
          <p:nvSpPr>
            <p:cNvPr id="192" name="TextBox 15">
              <a:extLst>
                <a:ext uri="{FF2B5EF4-FFF2-40B4-BE49-F238E27FC236}">
                  <a16:creationId xmlns:a16="http://schemas.microsoft.com/office/drawing/2014/main" id="{BD97FAAE-4AFD-E543-0090-FBAC5C25BFCB}"/>
                </a:ext>
              </a:extLst>
            </p:cNvPr>
            <p:cNvSpPr txBox="1"/>
            <p:nvPr/>
          </p:nvSpPr>
          <p:spPr>
            <a:xfrm>
              <a:off x="76200" y="47626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679"/>
                </a:lnSpc>
              </a:pPr>
              <a:r>
                <a:rPr lang="en-US" sz="1200" b="1" dirty="0">
                  <a:solidFill>
                    <a:srgbClr val="FFFFFF"/>
                  </a:solidFill>
                  <a:latin typeface="Garet Bold"/>
                  <a:ea typeface="Garet Bold"/>
                  <a:cs typeface="Garet Bold"/>
                  <a:sym typeface="Garet Bold"/>
                </a:rPr>
                <a:t>1</a:t>
              </a:r>
            </a:p>
          </p:txBody>
        </p:sp>
      </p:grpSp>
      <p:sp>
        <p:nvSpPr>
          <p:cNvPr id="193" name="TextBox 16">
            <a:extLst>
              <a:ext uri="{FF2B5EF4-FFF2-40B4-BE49-F238E27FC236}">
                <a16:creationId xmlns:a16="http://schemas.microsoft.com/office/drawing/2014/main" id="{B412E37A-3AEF-538E-2373-119CB862B684}"/>
              </a:ext>
            </a:extLst>
          </p:cNvPr>
          <p:cNvSpPr txBox="1"/>
          <p:nvPr/>
        </p:nvSpPr>
        <p:spPr>
          <a:xfrm>
            <a:off x="9480361" y="1757832"/>
            <a:ext cx="1321453" cy="30707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682"/>
              </a:lnSpc>
              <a:spcBef>
                <a:spcPct val="0"/>
              </a:spcBef>
            </a:pPr>
            <a:r>
              <a:rPr lang="en-US" sz="1400" dirty="0">
                <a:solidFill>
                  <a:srgbClr val="EAEAEC"/>
                </a:solidFill>
                <a:ea typeface="Garet"/>
                <a:cs typeface="Garet"/>
                <a:sym typeface="Garet"/>
              </a:rPr>
              <a:t>Literature Review</a:t>
            </a:r>
          </a:p>
        </p:txBody>
      </p:sp>
      <p:grpSp>
        <p:nvGrpSpPr>
          <p:cNvPr id="194" name="Group 17">
            <a:extLst>
              <a:ext uri="{FF2B5EF4-FFF2-40B4-BE49-F238E27FC236}">
                <a16:creationId xmlns:a16="http://schemas.microsoft.com/office/drawing/2014/main" id="{CB74373B-5F2B-7180-C681-78574D373D40}"/>
              </a:ext>
            </a:extLst>
          </p:cNvPr>
          <p:cNvGrpSpPr/>
          <p:nvPr/>
        </p:nvGrpSpPr>
        <p:grpSpPr>
          <a:xfrm>
            <a:off x="6428707" y="2374887"/>
            <a:ext cx="1917117" cy="933179"/>
            <a:chOff x="0" y="0"/>
            <a:chExt cx="812800" cy="441477"/>
          </a:xfrm>
        </p:grpSpPr>
        <p:sp>
          <p:nvSpPr>
            <p:cNvPr id="195" name="Freeform 18">
              <a:extLst>
                <a:ext uri="{FF2B5EF4-FFF2-40B4-BE49-F238E27FC236}">
                  <a16:creationId xmlns:a16="http://schemas.microsoft.com/office/drawing/2014/main" id="{45B83CAE-2CA3-1506-F037-C69F51DF9034}"/>
                </a:ext>
              </a:extLst>
            </p:cNvPr>
            <p:cNvSpPr/>
            <p:nvPr/>
          </p:nvSpPr>
          <p:spPr>
            <a:xfrm>
              <a:off x="0" y="0"/>
              <a:ext cx="812800" cy="441477"/>
            </a:xfrm>
            <a:custGeom>
              <a:avLst/>
              <a:gdLst/>
              <a:ahLst/>
              <a:cxnLst/>
              <a:rect l="l" t="t" r="r" b="b"/>
              <a:pathLst>
                <a:path w="812800" h="441477">
                  <a:moveTo>
                    <a:pt x="32358" y="0"/>
                  </a:moveTo>
                  <a:lnTo>
                    <a:pt x="780442" y="0"/>
                  </a:lnTo>
                  <a:cubicBezTo>
                    <a:pt x="798313" y="0"/>
                    <a:pt x="812800" y="14487"/>
                    <a:pt x="812800" y="32358"/>
                  </a:cubicBezTo>
                  <a:lnTo>
                    <a:pt x="812800" y="409119"/>
                  </a:lnTo>
                  <a:cubicBezTo>
                    <a:pt x="812800" y="426990"/>
                    <a:pt x="798313" y="441477"/>
                    <a:pt x="780442" y="441477"/>
                  </a:cubicBezTo>
                  <a:lnTo>
                    <a:pt x="32358" y="441477"/>
                  </a:lnTo>
                  <a:cubicBezTo>
                    <a:pt x="14487" y="441477"/>
                    <a:pt x="0" y="426990"/>
                    <a:pt x="0" y="409119"/>
                  </a:cubicBezTo>
                  <a:lnTo>
                    <a:pt x="0" y="32358"/>
                  </a:lnTo>
                  <a:cubicBezTo>
                    <a:pt x="0" y="14487"/>
                    <a:pt x="14487" y="0"/>
                    <a:pt x="32358" y="0"/>
                  </a:cubicBezTo>
                  <a:close/>
                </a:path>
              </a:pathLst>
            </a:custGeom>
            <a:solidFill>
              <a:srgbClr val="EAEAEC"/>
            </a:solidFill>
            <a:ln cap="sq">
              <a:noFill/>
              <a:prstDash val="solid"/>
              <a:miter/>
            </a:ln>
          </p:spPr>
        </p:sp>
        <p:sp>
          <p:nvSpPr>
            <p:cNvPr id="196" name="TextBox 19">
              <a:extLst>
                <a:ext uri="{FF2B5EF4-FFF2-40B4-BE49-F238E27FC236}">
                  <a16:creationId xmlns:a16="http://schemas.microsoft.com/office/drawing/2014/main" id="{03122B95-6535-2471-B483-AFAD1AA90ED2}"/>
                </a:ext>
              </a:extLst>
            </p:cNvPr>
            <p:cNvSpPr txBox="1"/>
            <p:nvPr/>
          </p:nvSpPr>
          <p:spPr>
            <a:xfrm>
              <a:off x="0" y="0"/>
              <a:ext cx="812800" cy="44147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331"/>
                </a:lnSpc>
              </a:pPr>
              <a:endParaRPr/>
            </a:p>
          </p:txBody>
        </p:sp>
      </p:grpSp>
      <p:sp>
        <p:nvSpPr>
          <p:cNvPr id="200" name="TextBox 23">
            <a:extLst>
              <a:ext uri="{FF2B5EF4-FFF2-40B4-BE49-F238E27FC236}">
                <a16:creationId xmlns:a16="http://schemas.microsoft.com/office/drawing/2014/main" id="{13B1D844-479B-B345-C0B8-C5697C980326}"/>
              </a:ext>
            </a:extLst>
          </p:cNvPr>
          <p:cNvSpPr txBox="1"/>
          <p:nvPr/>
        </p:nvSpPr>
        <p:spPr>
          <a:xfrm>
            <a:off x="6693021" y="2566682"/>
            <a:ext cx="1321453" cy="30707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682"/>
              </a:lnSpc>
              <a:spcBef>
                <a:spcPct val="0"/>
              </a:spcBef>
            </a:pPr>
            <a:r>
              <a:rPr lang="en-US" sz="1400" dirty="0">
                <a:solidFill>
                  <a:srgbClr val="000000"/>
                </a:solidFill>
                <a:ea typeface="Garet"/>
                <a:cs typeface="Garet"/>
                <a:sym typeface="Garet"/>
              </a:rPr>
              <a:t>Exercise Selection</a:t>
            </a:r>
          </a:p>
        </p:txBody>
      </p:sp>
      <p:grpSp>
        <p:nvGrpSpPr>
          <p:cNvPr id="203" name="Group 26">
            <a:extLst>
              <a:ext uri="{FF2B5EF4-FFF2-40B4-BE49-F238E27FC236}">
                <a16:creationId xmlns:a16="http://schemas.microsoft.com/office/drawing/2014/main" id="{58EB053E-4793-51F3-9A21-1289EF23C4EC}"/>
              </a:ext>
            </a:extLst>
          </p:cNvPr>
          <p:cNvGrpSpPr/>
          <p:nvPr/>
        </p:nvGrpSpPr>
        <p:grpSpPr>
          <a:xfrm>
            <a:off x="3261169" y="2306699"/>
            <a:ext cx="1917117" cy="933179"/>
            <a:chOff x="0" y="0"/>
            <a:chExt cx="812800" cy="441477"/>
          </a:xfrm>
        </p:grpSpPr>
        <p:sp>
          <p:nvSpPr>
            <p:cNvPr id="204" name="Freeform 27">
              <a:extLst>
                <a:ext uri="{FF2B5EF4-FFF2-40B4-BE49-F238E27FC236}">
                  <a16:creationId xmlns:a16="http://schemas.microsoft.com/office/drawing/2014/main" id="{ACCB8EB9-FE4B-35B3-78FC-3872558B655E}"/>
                </a:ext>
              </a:extLst>
            </p:cNvPr>
            <p:cNvSpPr/>
            <p:nvPr/>
          </p:nvSpPr>
          <p:spPr>
            <a:xfrm>
              <a:off x="0" y="0"/>
              <a:ext cx="812800" cy="441477"/>
            </a:xfrm>
            <a:custGeom>
              <a:avLst/>
              <a:gdLst/>
              <a:ahLst/>
              <a:cxnLst/>
              <a:rect l="l" t="t" r="r" b="b"/>
              <a:pathLst>
                <a:path w="812800" h="441477">
                  <a:moveTo>
                    <a:pt x="32358" y="0"/>
                  </a:moveTo>
                  <a:lnTo>
                    <a:pt x="780442" y="0"/>
                  </a:lnTo>
                  <a:cubicBezTo>
                    <a:pt x="798313" y="0"/>
                    <a:pt x="812800" y="14487"/>
                    <a:pt x="812800" y="32358"/>
                  </a:cubicBezTo>
                  <a:lnTo>
                    <a:pt x="812800" y="409119"/>
                  </a:lnTo>
                  <a:cubicBezTo>
                    <a:pt x="812800" y="426990"/>
                    <a:pt x="798313" y="441477"/>
                    <a:pt x="780442" y="441477"/>
                  </a:cubicBezTo>
                  <a:lnTo>
                    <a:pt x="32358" y="441477"/>
                  </a:lnTo>
                  <a:cubicBezTo>
                    <a:pt x="14487" y="441477"/>
                    <a:pt x="0" y="426990"/>
                    <a:pt x="0" y="409119"/>
                  </a:cubicBezTo>
                  <a:lnTo>
                    <a:pt x="0" y="32358"/>
                  </a:lnTo>
                  <a:cubicBezTo>
                    <a:pt x="0" y="14487"/>
                    <a:pt x="14487" y="0"/>
                    <a:pt x="32358" y="0"/>
                  </a:cubicBezTo>
                  <a:close/>
                </a:path>
              </a:pathLst>
            </a:custGeom>
            <a:solidFill>
              <a:srgbClr val="EAEAEC"/>
            </a:solidFill>
            <a:ln cap="sq">
              <a:noFill/>
              <a:prstDash val="solid"/>
              <a:miter/>
            </a:ln>
          </p:spPr>
        </p:sp>
        <p:sp>
          <p:nvSpPr>
            <p:cNvPr id="205" name="TextBox 28">
              <a:extLst>
                <a:ext uri="{FF2B5EF4-FFF2-40B4-BE49-F238E27FC236}">
                  <a16:creationId xmlns:a16="http://schemas.microsoft.com/office/drawing/2014/main" id="{DB72860E-3034-392A-DDE6-ABABA02A8AEB}"/>
                </a:ext>
              </a:extLst>
            </p:cNvPr>
            <p:cNvSpPr txBox="1"/>
            <p:nvPr/>
          </p:nvSpPr>
          <p:spPr>
            <a:xfrm>
              <a:off x="0" y="0"/>
              <a:ext cx="812800" cy="44147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331"/>
                </a:lnSpc>
              </a:pPr>
              <a:endParaRPr/>
            </a:p>
          </p:txBody>
        </p:sp>
      </p:grpSp>
      <p:sp>
        <p:nvSpPr>
          <p:cNvPr id="209" name="TextBox 32">
            <a:extLst>
              <a:ext uri="{FF2B5EF4-FFF2-40B4-BE49-F238E27FC236}">
                <a16:creationId xmlns:a16="http://schemas.microsoft.com/office/drawing/2014/main" id="{4839A923-AE6A-CB0D-C18E-607744B9FA12}"/>
              </a:ext>
            </a:extLst>
          </p:cNvPr>
          <p:cNvSpPr txBox="1"/>
          <p:nvPr/>
        </p:nvSpPr>
        <p:spPr>
          <a:xfrm>
            <a:off x="3431719" y="2566681"/>
            <a:ext cx="1593575" cy="30707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682"/>
              </a:lnSpc>
              <a:spcBef>
                <a:spcPct val="0"/>
              </a:spcBef>
            </a:pPr>
            <a:r>
              <a:rPr lang="en-US" sz="1400" dirty="0">
                <a:solidFill>
                  <a:srgbClr val="000000"/>
                </a:solidFill>
                <a:ea typeface="Garet"/>
                <a:cs typeface="Garet"/>
                <a:sym typeface="Garet"/>
              </a:rPr>
              <a:t>Data Acquisition</a:t>
            </a:r>
          </a:p>
        </p:txBody>
      </p:sp>
      <p:sp>
        <p:nvSpPr>
          <p:cNvPr id="210" name="AutoShape 33">
            <a:extLst>
              <a:ext uri="{FF2B5EF4-FFF2-40B4-BE49-F238E27FC236}">
                <a16:creationId xmlns:a16="http://schemas.microsoft.com/office/drawing/2014/main" id="{654CEA4F-B5DC-43B7-D4E1-7CE53009C9AC}"/>
              </a:ext>
            </a:extLst>
          </p:cNvPr>
          <p:cNvSpPr/>
          <p:nvPr/>
        </p:nvSpPr>
        <p:spPr>
          <a:xfrm flipV="1">
            <a:off x="1517715" y="4440023"/>
            <a:ext cx="1734531" cy="18854"/>
          </a:xfrm>
          <a:prstGeom prst="line">
            <a:avLst/>
          </a:prstGeom>
          <a:ln w="28575" cap="rnd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endParaRPr lang="en-IN" dirty="0"/>
          </a:p>
        </p:txBody>
      </p:sp>
      <p:grpSp>
        <p:nvGrpSpPr>
          <p:cNvPr id="211" name="Group 34">
            <a:extLst>
              <a:ext uri="{FF2B5EF4-FFF2-40B4-BE49-F238E27FC236}">
                <a16:creationId xmlns:a16="http://schemas.microsoft.com/office/drawing/2014/main" id="{BBE8DAA3-128A-7CF9-85D6-BC8C308007A8}"/>
              </a:ext>
            </a:extLst>
          </p:cNvPr>
          <p:cNvGrpSpPr/>
          <p:nvPr/>
        </p:nvGrpSpPr>
        <p:grpSpPr>
          <a:xfrm>
            <a:off x="9417601" y="3887412"/>
            <a:ext cx="1917117" cy="933179"/>
            <a:chOff x="0" y="0"/>
            <a:chExt cx="812800" cy="441477"/>
          </a:xfrm>
        </p:grpSpPr>
        <p:sp>
          <p:nvSpPr>
            <p:cNvPr id="212" name="Freeform 35">
              <a:extLst>
                <a:ext uri="{FF2B5EF4-FFF2-40B4-BE49-F238E27FC236}">
                  <a16:creationId xmlns:a16="http://schemas.microsoft.com/office/drawing/2014/main" id="{937867FF-997D-C110-B214-7E923934CBCB}"/>
                </a:ext>
              </a:extLst>
            </p:cNvPr>
            <p:cNvSpPr/>
            <p:nvPr/>
          </p:nvSpPr>
          <p:spPr>
            <a:xfrm>
              <a:off x="0" y="0"/>
              <a:ext cx="812800" cy="441477"/>
            </a:xfrm>
            <a:custGeom>
              <a:avLst/>
              <a:gdLst/>
              <a:ahLst/>
              <a:cxnLst/>
              <a:rect l="l" t="t" r="r" b="b"/>
              <a:pathLst>
                <a:path w="812800" h="441477">
                  <a:moveTo>
                    <a:pt x="32358" y="0"/>
                  </a:moveTo>
                  <a:lnTo>
                    <a:pt x="780442" y="0"/>
                  </a:lnTo>
                  <a:cubicBezTo>
                    <a:pt x="798313" y="0"/>
                    <a:pt x="812800" y="14487"/>
                    <a:pt x="812800" y="32358"/>
                  </a:cubicBezTo>
                  <a:lnTo>
                    <a:pt x="812800" y="409119"/>
                  </a:lnTo>
                  <a:cubicBezTo>
                    <a:pt x="812800" y="426990"/>
                    <a:pt x="798313" y="441477"/>
                    <a:pt x="780442" y="441477"/>
                  </a:cubicBezTo>
                  <a:lnTo>
                    <a:pt x="32358" y="441477"/>
                  </a:lnTo>
                  <a:cubicBezTo>
                    <a:pt x="14487" y="441477"/>
                    <a:pt x="0" y="426990"/>
                    <a:pt x="0" y="409119"/>
                  </a:cubicBezTo>
                  <a:lnTo>
                    <a:pt x="0" y="32358"/>
                  </a:lnTo>
                  <a:cubicBezTo>
                    <a:pt x="0" y="14487"/>
                    <a:pt x="14487" y="0"/>
                    <a:pt x="32358" y="0"/>
                  </a:cubicBezTo>
                  <a:close/>
                </a:path>
              </a:pathLst>
            </a:custGeom>
            <a:solidFill>
              <a:srgbClr val="EAEAEC"/>
            </a:solidFill>
            <a:ln cap="sq">
              <a:noFill/>
              <a:prstDash val="solid"/>
              <a:miter/>
            </a:ln>
          </p:spPr>
        </p:sp>
        <p:sp>
          <p:nvSpPr>
            <p:cNvPr id="213" name="TextBox 36">
              <a:extLst>
                <a:ext uri="{FF2B5EF4-FFF2-40B4-BE49-F238E27FC236}">
                  <a16:creationId xmlns:a16="http://schemas.microsoft.com/office/drawing/2014/main" id="{2CAE75E5-1C37-8FDC-C816-24625E6A90BB}"/>
                </a:ext>
              </a:extLst>
            </p:cNvPr>
            <p:cNvSpPr txBox="1"/>
            <p:nvPr/>
          </p:nvSpPr>
          <p:spPr>
            <a:xfrm>
              <a:off x="0" y="0"/>
              <a:ext cx="812800" cy="44147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331"/>
                </a:lnSpc>
              </a:pPr>
              <a:endParaRPr/>
            </a:p>
          </p:txBody>
        </p:sp>
      </p:grpSp>
      <p:grpSp>
        <p:nvGrpSpPr>
          <p:cNvPr id="220" name="Group 43">
            <a:extLst>
              <a:ext uri="{FF2B5EF4-FFF2-40B4-BE49-F238E27FC236}">
                <a16:creationId xmlns:a16="http://schemas.microsoft.com/office/drawing/2014/main" id="{3C8A8978-8D1B-6614-01CD-9FB756B8C656}"/>
              </a:ext>
            </a:extLst>
          </p:cNvPr>
          <p:cNvGrpSpPr/>
          <p:nvPr/>
        </p:nvGrpSpPr>
        <p:grpSpPr>
          <a:xfrm>
            <a:off x="6299793" y="3922185"/>
            <a:ext cx="1917117" cy="933179"/>
            <a:chOff x="0" y="0"/>
            <a:chExt cx="812800" cy="441477"/>
          </a:xfrm>
        </p:grpSpPr>
        <p:sp>
          <p:nvSpPr>
            <p:cNvPr id="221" name="Freeform 44">
              <a:extLst>
                <a:ext uri="{FF2B5EF4-FFF2-40B4-BE49-F238E27FC236}">
                  <a16:creationId xmlns:a16="http://schemas.microsoft.com/office/drawing/2014/main" id="{5D050BB5-E41E-A26C-A08E-BB1D84BD4599}"/>
                </a:ext>
              </a:extLst>
            </p:cNvPr>
            <p:cNvSpPr/>
            <p:nvPr/>
          </p:nvSpPr>
          <p:spPr>
            <a:xfrm>
              <a:off x="0" y="0"/>
              <a:ext cx="812800" cy="441477"/>
            </a:xfrm>
            <a:custGeom>
              <a:avLst/>
              <a:gdLst/>
              <a:ahLst/>
              <a:cxnLst/>
              <a:rect l="l" t="t" r="r" b="b"/>
              <a:pathLst>
                <a:path w="812800" h="441477">
                  <a:moveTo>
                    <a:pt x="32358" y="0"/>
                  </a:moveTo>
                  <a:lnTo>
                    <a:pt x="780442" y="0"/>
                  </a:lnTo>
                  <a:cubicBezTo>
                    <a:pt x="798313" y="0"/>
                    <a:pt x="812800" y="14487"/>
                    <a:pt x="812800" y="32358"/>
                  </a:cubicBezTo>
                  <a:lnTo>
                    <a:pt x="812800" y="409119"/>
                  </a:lnTo>
                  <a:cubicBezTo>
                    <a:pt x="812800" y="426990"/>
                    <a:pt x="798313" y="441477"/>
                    <a:pt x="780442" y="441477"/>
                  </a:cubicBezTo>
                  <a:lnTo>
                    <a:pt x="32358" y="441477"/>
                  </a:lnTo>
                  <a:cubicBezTo>
                    <a:pt x="14487" y="441477"/>
                    <a:pt x="0" y="426990"/>
                    <a:pt x="0" y="409119"/>
                  </a:cubicBezTo>
                  <a:lnTo>
                    <a:pt x="0" y="32358"/>
                  </a:lnTo>
                  <a:cubicBezTo>
                    <a:pt x="0" y="14487"/>
                    <a:pt x="14487" y="0"/>
                    <a:pt x="32358" y="0"/>
                  </a:cubicBezTo>
                  <a:close/>
                </a:path>
              </a:pathLst>
            </a:custGeom>
            <a:solidFill>
              <a:srgbClr val="EAEAEC"/>
            </a:solidFill>
            <a:ln cap="sq">
              <a:noFill/>
              <a:prstDash val="solid"/>
              <a:miter/>
            </a:ln>
          </p:spPr>
        </p:sp>
        <p:sp>
          <p:nvSpPr>
            <p:cNvPr id="222" name="TextBox 45">
              <a:extLst>
                <a:ext uri="{FF2B5EF4-FFF2-40B4-BE49-F238E27FC236}">
                  <a16:creationId xmlns:a16="http://schemas.microsoft.com/office/drawing/2014/main" id="{7F1FE8F4-0370-0686-92DF-7528AB99642C}"/>
                </a:ext>
              </a:extLst>
            </p:cNvPr>
            <p:cNvSpPr txBox="1"/>
            <p:nvPr/>
          </p:nvSpPr>
          <p:spPr>
            <a:xfrm>
              <a:off x="0" y="0"/>
              <a:ext cx="812800" cy="44147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331"/>
                </a:lnSpc>
              </a:pPr>
              <a:endParaRPr/>
            </a:p>
          </p:txBody>
        </p:sp>
      </p:grpSp>
      <p:grpSp>
        <p:nvGrpSpPr>
          <p:cNvPr id="227" name="Group 50">
            <a:extLst>
              <a:ext uri="{FF2B5EF4-FFF2-40B4-BE49-F238E27FC236}">
                <a16:creationId xmlns:a16="http://schemas.microsoft.com/office/drawing/2014/main" id="{6F9B0E50-66FD-BEAF-3C2C-3F5A0D1CFF54}"/>
              </a:ext>
            </a:extLst>
          </p:cNvPr>
          <p:cNvGrpSpPr/>
          <p:nvPr/>
        </p:nvGrpSpPr>
        <p:grpSpPr>
          <a:xfrm>
            <a:off x="285726" y="2316126"/>
            <a:ext cx="1917117" cy="933179"/>
            <a:chOff x="0" y="0"/>
            <a:chExt cx="812800" cy="441477"/>
          </a:xfrm>
        </p:grpSpPr>
        <p:sp>
          <p:nvSpPr>
            <p:cNvPr id="228" name="Freeform 51">
              <a:extLst>
                <a:ext uri="{FF2B5EF4-FFF2-40B4-BE49-F238E27FC236}">
                  <a16:creationId xmlns:a16="http://schemas.microsoft.com/office/drawing/2014/main" id="{B42287DD-15DE-2706-E822-CD09301B41C2}"/>
                </a:ext>
              </a:extLst>
            </p:cNvPr>
            <p:cNvSpPr/>
            <p:nvPr/>
          </p:nvSpPr>
          <p:spPr>
            <a:xfrm>
              <a:off x="0" y="0"/>
              <a:ext cx="812800" cy="441477"/>
            </a:xfrm>
            <a:custGeom>
              <a:avLst/>
              <a:gdLst/>
              <a:ahLst/>
              <a:cxnLst/>
              <a:rect l="l" t="t" r="r" b="b"/>
              <a:pathLst>
                <a:path w="812800" h="441477">
                  <a:moveTo>
                    <a:pt x="32358" y="0"/>
                  </a:moveTo>
                  <a:lnTo>
                    <a:pt x="780442" y="0"/>
                  </a:lnTo>
                  <a:cubicBezTo>
                    <a:pt x="798313" y="0"/>
                    <a:pt x="812800" y="14487"/>
                    <a:pt x="812800" y="32358"/>
                  </a:cubicBezTo>
                  <a:lnTo>
                    <a:pt x="812800" y="409119"/>
                  </a:lnTo>
                  <a:cubicBezTo>
                    <a:pt x="812800" y="426990"/>
                    <a:pt x="798313" y="441477"/>
                    <a:pt x="780442" y="441477"/>
                  </a:cubicBezTo>
                  <a:lnTo>
                    <a:pt x="32358" y="441477"/>
                  </a:lnTo>
                  <a:cubicBezTo>
                    <a:pt x="14487" y="441477"/>
                    <a:pt x="0" y="426990"/>
                    <a:pt x="0" y="409119"/>
                  </a:cubicBezTo>
                  <a:lnTo>
                    <a:pt x="0" y="32358"/>
                  </a:lnTo>
                  <a:cubicBezTo>
                    <a:pt x="0" y="14487"/>
                    <a:pt x="14487" y="0"/>
                    <a:pt x="32358" y="0"/>
                  </a:cubicBezTo>
                  <a:close/>
                </a:path>
              </a:pathLst>
            </a:custGeom>
            <a:solidFill>
              <a:srgbClr val="EAEAEC"/>
            </a:solidFill>
            <a:ln cap="sq">
              <a:noFill/>
              <a:prstDash val="solid"/>
              <a:miter/>
            </a:ln>
          </p:spPr>
        </p:sp>
        <p:sp>
          <p:nvSpPr>
            <p:cNvPr id="229" name="TextBox 52">
              <a:extLst>
                <a:ext uri="{FF2B5EF4-FFF2-40B4-BE49-F238E27FC236}">
                  <a16:creationId xmlns:a16="http://schemas.microsoft.com/office/drawing/2014/main" id="{E7928DC3-B444-DC70-BC29-22ADCAA7FF6D}"/>
                </a:ext>
              </a:extLst>
            </p:cNvPr>
            <p:cNvSpPr txBox="1"/>
            <p:nvPr/>
          </p:nvSpPr>
          <p:spPr>
            <a:xfrm>
              <a:off x="0" y="0"/>
              <a:ext cx="812800" cy="44147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331"/>
                </a:lnSpc>
              </a:pPr>
              <a:endParaRPr/>
            </a:p>
          </p:txBody>
        </p:sp>
      </p:grpSp>
      <p:sp>
        <p:nvSpPr>
          <p:cNvPr id="233" name="TextBox 56">
            <a:extLst>
              <a:ext uri="{FF2B5EF4-FFF2-40B4-BE49-F238E27FC236}">
                <a16:creationId xmlns:a16="http://schemas.microsoft.com/office/drawing/2014/main" id="{A5AB84D6-694C-C9B0-4C28-C11D3C971B56}"/>
              </a:ext>
            </a:extLst>
          </p:cNvPr>
          <p:cNvSpPr txBox="1"/>
          <p:nvPr/>
        </p:nvSpPr>
        <p:spPr>
          <a:xfrm>
            <a:off x="6641238" y="4125183"/>
            <a:ext cx="1135877" cy="30707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682"/>
              </a:lnSpc>
              <a:spcBef>
                <a:spcPct val="0"/>
              </a:spcBef>
            </a:pPr>
            <a:r>
              <a:rPr lang="en-US" sz="1400" dirty="0">
                <a:solidFill>
                  <a:srgbClr val="000000"/>
                </a:solidFill>
                <a:ea typeface="Garet"/>
                <a:cs typeface="Garet"/>
                <a:sym typeface="Garet"/>
              </a:rPr>
              <a:t>Model Training</a:t>
            </a:r>
          </a:p>
        </p:txBody>
      </p:sp>
      <p:grpSp>
        <p:nvGrpSpPr>
          <p:cNvPr id="235" name="Group 58">
            <a:extLst>
              <a:ext uri="{FF2B5EF4-FFF2-40B4-BE49-F238E27FC236}">
                <a16:creationId xmlns:a16="http://schemas.microsoft.com/office/drawing/2014/main" id="{7C430413-3015-9466-E747-C99D12181131}"/>
              </a:ext>
            </a:extLst>
          </p:cNvPr>
          <p:cNvGrpSpPr/>
          <p:nvPr/>
        </p:nvGrpSpPr>
        <p:grpSpPr>
          <a:xfrm>
            <a:off x="3230571" y="3916322"/>
            <a:ext cx="1917117" cy="933179"/>
            <a:chOff x="0" y="0"/>
            <a:chExt cx="812800" cy="441477"/>
          </a:xfrm>
        </p:grpSpPr>
        <p:sp>
          <p:nvSpPr>
            <p:cNvPr id="236" name="Freeform 59">
              <a:extLst>
                <a:ext uri="{FF2B5EF4-FFF2-40B4-BE49-F238E27FC236}">
                  <a16:creationId xmlns:a16="http://schemas.microsoft.com/office/drawing/2014/main" id="{3DF6908F-DACF-95B5-DC7C-7CF8EFA951E7}"/>
                </a:ext>
              </a:extLst>
            </p:cNvPr>
            <p:cNvSpPr/>
            <p:nvPr/>
          </p:nvSpPr>
          <p:spPr>
            <a:xfrm>
              <a:off x="0" y="0"/>
              <a:ext cx="812800" cy="441477"/>
            </a:xfrm>
            <a:custGeom>
              <a:avLst/>
              <a:gdLst/>
              <a:ahLst/>
              <a:cxnLst/>
              <a:rect l="l" t="t" r="r" b="b"/>
              <a:pathLst>
                <a:path w="812800" h="441477">
                  <a:moveTo>
                    <a:pt x="32358" y="0"/>
                  </a:moveTo>
                  <a:lnTo>
                    <a:pt x="780442" y="0"/>
                  </a:lnTo>
                  <a:cubicBezTo>
                    <a:pt x="798313" y="0"/>
                    <a:pt x="812800" y="14487"/>
                    <a:pt x="812800" y="32358"/>
                  </a:cubicBezTo>
                  <a:lnTo>
                    <a:pt x="812800" y="409119"/>
                  </a:lnTo>
                  <a:cubicBezTo>
                    <a:pt x="812800" y="426990"/>
                    <a:pt x="798313" y="441477"/>
                    <a:pt x="780442" y="441477"/>
                  </a:cubicBezTo>
                  <a:lnTo>
                    <a:pt x="32358" y="441477"/>
                  </a:lnTo>
                  <a:cubicBezTo>
                    <a:pt x="14487" y="441477"/>
                    <a:pt x="0" y="426990"/>
                    <a:pt x="0" y="409119"/>
                  </a:cubicBezTo>
                  <a:lnTo>
                    <a:pt x="0" y="32358"/>
                  </a:lnTo>
                  <a:cubicBezTo>
                    <a:pt x="0" y="14487"/>
                    <a:pt x="14487" y="0"/>
                    <a:pt x="32358" y="0"/>
                  </a:cubicBezTo>
                  <a:close/>
                </a:path>
              </a:pathLst>
            </a:custGeom>
            <a:solidFill>
              <a:srgbClr val="EAEAEC"/>
            </a:solidFill>
            <a:ln cap="sq">
              <a:noFill/>
              <a:prstDash val="solid"/>
              <a:miter/>
            </a:ln>
          </p:spPr>
        </p:sp>
        <p:sp>
          <p:nvSpPr>
            <p:cNvPr id="237" name="TextBox 60">
              <a:extLst>
                <a:ext uri="{FF2B5EF4-FFF2-40B4-BE49-F238E27FC236}">
                  <a16:creationId xmlns:a16="http://schemas.microsoft.com/office/drawing/2014/main" id="{E4FAAC35-7879-E3E7-27DA-A32CC4844115}"/>
                </a:ext>
              </a:extLst>
            </p:cNvPr>
            <p:cNvSpPr txBox="1"/>
            <p:nvPr/>
          </p:nvSpPr>
          <p:spPr>
            <a:xfrm>
              <a:off x="0" y="0"/>
              <a:ext cx="812800" cy="44147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331"/>
                </a:lnSpc>
              </a:pPr>
              <a:endParaRPr/>
            </a:p>
          </p:txBody>
        </p:sp>
      </p:grpSp>
      <p:sp>
        <p:nvSpPr>
          <p:cNvPr id="245" name="AutoShape 68">
            <a:extLst>
              <a:ext uri="{FF2B5EF4-FFF2-40B4-BE49-F238E27FC236}">
                <a16:creationId xmlns:a16="http://schemas.microsoft.com/office/drawing/2014/main" id="{1E816F33-DBE3-4993-B21C-47EC53B4870D}"/>
              </a:ext>
            </a:extLst>
          </p:cNvPr>
          <p:cNvSpPr/>
          <p:nvPr/>
        </p:nvSpPr>
        <p:spPr>
          <a:xfrm flipH="1">
            <a:off x="8851769" y="6099142"/>
            <a:ext cx="1470581" cy="0"/>
          </a:xfrm>
          <a:prstGeom prst="line">
            <a:avLst/>
          </a:prstGeom>
          <a:ln w="28575" cap="rnd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</p:sp>
      <p:sp>
        <p:nvSpPr>
          <p:cNvPr id="246" name="AutoShape 69">
            <a:extLst>
              <a:ext uri="{FF2B5EF4-FFF2-40B4-BE49-F238E27FC236}">
                <a16:creationId xmlns:a16="http://schemas.microsoft.com/office/drawing/2014/main" id="{543DD604-1176-27CF-9EE6-BB86303C111E}"/>
              </a:ext>
            </a:extLst>
          </p:cNvPr>
          <p:cNvSpPr/>
          <p:nvPr/>
        </p:nvSpPr>
        <p:spPr>
          <a:xfrm flipH="1">
            <a:off x="5637229" y="6070861"/>
            <a:ext cx="1282045" cy="9427"/>
          </a:xfrm>
          <a:prstGeom prst="line">
            <a:avLst/>
          </a:prstGeom>
          <a:ln w="28575" cap="rnd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</p:sp>
      <p:grpSp>
        <p:nvGrpSpPr>
          <p:cNvPr id="256" name="Group 79">
            <a:extLst>
              <a:ext uri="{FF2B5EF4-FFF2-40B4-BE49-F238E27FC236}">
                <a16:creationId xmlns:a16="http://schemas.microsoft.com/office/drawing/2014/main" id="{BCD04BFD-E98D-CF69-5F0A-7DE4FD880BD7}"/>
              </a:ext>
            </a:extLst>
          </p:cNvPr>
          <p:cNvGrpSpPr/>
          <p:nvPr/>
        </p:nvGrpSpPr>
        <p:grpSpPr>
          <a:xfrm>
            <a:off x="3725854" y="5625904"/>
            <a:ext cx="1917117" cy="933179"/>
            <a:chOff x="0" y="0"/>
            <a:chExt cx="812800" cy="441477"/>
          </a:xfrm>
        </p:grpSpPr>
        <p:sp>
          <p:nvSpPr>
            <p:cNvPr id="257" name="Freeform 80">
              <a:extLst>
                <a:ext uri="{FF2B5EF4-FFF2-40B4-BE49-F238E27FC236}">
                  <a16:creationId xmlns:a16="http://schemas.microsoft.com/office/drawing/2014/main" id="{C46E1C80-86AC-999A-EB1C-81FFBC46CD10}"/>
                </a:ext>
              </a:extLst>
            </p:cNvPr>
            <p:cNvSpPr/>
            <p:nvPr/>
          </p:nvSpPr>
          <p:spPr>
            <a:xfrm>
              <a:off x="0" y="0"/>
              <a:ext cx="812800" cy="441477"/>
            </a:xfrm>
            <a:custGeom>
              <a:avLst/>
              <a:gdLst/>
              <a:ahLst/>
              <a:cxnLst/>
              <a:rect l="l" t="t" r="r" b="b"/>
              <a:pathLst>
                <a:path w="812800" h="441477">
                  <a:moveTo>
                    <a:pt x="32358" y="0"/>
                  </a:moveTo>
                  <a:lnTo>
                    <a:pt x="780442" y="0"/>
                  </a:lnTo>
                  <a:cubicBezTo>
                    <a:pt x="798313" y="0"/>
                    <a:pt x="812800" y="14487"/>
                    <a:pt x="812800" y="32358"/>
                  </a:cubicBezTo>
                  <a:lnTo>
                    <a:pt x="812800" y="409119"/>
                  </a:lnTo>
                  <a:cubicBezTo>
                    <a:pt x="812800" y="426990"/>
                    <a:pt x="798313" y="441477"/>
                    <a:pt x="780442" y="441477"/>
                  </a:cubicBezTo>
                  <a:lnTo>
                    <a:pt x="32358" y="441477"/>
                  </a:lnTo>
                  <a:cubicBezTo>
                    <a:pt x="14487" y="441477"/>
                    <a:pt x="0" y="426990"/>
                    <a:pt x="0" y="409119"/>
                  </a:cubicBezTo>
                  <a:lnTo>
                    <a:pt x="0" y="32358"/>
                  </a:lnTo>
                  <a:cubicBezTo>
                    <a:pt x="0" y="14487"/>
                    <a:pt x="14487" y="0"/>
                    <a:pt x="32358" y="0"/>
                  </a:cubicBezTo>
                  <a:close/>
                </a:path>
              </a:pathLst>
            </a:custGeom>
            <a:solidFill>
              <a:srgbClr val="2D3546"/>
            </a:solidFill>
            <a:ln cap="sq">
              <a:noFill/>
              <a:prstDash val="solid"/>
              <a:miter/>
            </a:ln>
          </p:spPr>
        </p:sp>
        <p:sp>
          <p:nvSpPr>
            <p:cNvPr id="258" name="TextBox 81">
              <a:extLst>
                <a:ext uri="{FF2B5EF4-FFF2-40B4-BE49-F238E27FC236}">
                  <a16:creationId xmlns:a16="http://schemas.microsoft.com/office/drawing/2014/main" id="{521550DC-8859-98B3-5BBF-22824B09E64B}"/>
                </a:ext>
              </a:extLst>
            </p:cNvPr>
            <p:cNvSpPr txBox="1"/>
            <p:nvPr/>
          </p:nvSpPr>
          <p:spPr>
            <a:xfrm>
              <a:off x="0" y="0"/>
              <a:ext cx="812800" cy="44147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331"/>
                </a:lnSpc>
              </a:pPr>
              <a:endParaRPr/>
            </a:p>
          </p:txBody>
        </p:sp>
      </p:grpSp>
      <p:sp>
        <p:nvSpPr>
          <p:cNvPr id="262" name="TextBox 85">
            <a:extLst>
              <a:ext uri="{FF2B5EF4-FFF2-40B4-BE49-F238E27FC236}">
                <a16:creationId xmlns:a16="http://schemas.microsoft.com/office/drawing/2014/main" id="{1CFC31D1-725D-2718-2732-D95F4F2F08E1}"/>
              </a:ext>
            </a:extLst>
          </p:cNvPr>
          <p:cNvSpPr txBox="1"/>
          <p:nvPr/>
        </p:nvSpPr>
        <p:spPr>
          <a:xfrm>
            <a:off x="6316190" y="4882990"/>
            <a:ext cx="397461" cy="371607"/>
          </a:xfrm>
          <a:prstGeom prst="rect">
            <a:avLst/>
          </a:prstGeom>
        </p:spPr>
        <p:txBody>
          <a:bodyPr lIns="50800" tIns="50800" rIns="50800" bIns="50800" rtlCol="0" anchor="ctr"/>
          <a:lstStyle/>
          <a:p>
            <a:pPr algn="ctr">
              <a:lnSpc>
                <a:spcPts val="1679"/>
              </a:lnSpc>
            </a:pPr>
            <a:r>
              <a:rPr lang="en-US" sz="1200" b="1">
                <a:solidFill>
                  <a:srgbClr val="FFFFFF"/>
                </a:solidFill>
                <a:latin typeface="Garet Bold"/>
                <a:ea typeface="Garet Bold"/>
                <a:cs typeface="Garet Bold"/>
                <a:sym typeface="Garet Bold"/>
              </a:rPr>
              <a:t>9</a:t>
            </a:r>
          </a:p>
        </p:txBody>
      </p:sp>
      <p:grpSp>
        <p:nvGrpSpPr>
          <p:cNvPr id="267" name="Group 13">
            <a:extLst>
              <a:ext uri="{FF2B5EF4-FFF2-40B4-BE49-F238E27FC236}">
                <a16:creationId xmlns:a16="http://schemas.microsoft.com/office/drawing/2014/main" id="{8251DF8B-8BB4-B412-A985-565D83C63294}"/>
              </a:ext>
            </a:extLst>
          </p:cNvPr>
          <p:cNvGrpSpPr/>
          <p:nvPr/>
        </p:nvGrpSpPr>
        <p:grpSpPr>
          <a:xfrm>
            <a:off x="7239634" y="2176932"/>
            <a:ext cx="323455" cy="289872"/>
            <a:chOff x="0" y="0"/>
            <a:chExt cx="812800" cy="812800"/>
          </a:xfrm>
        </p:grpSpPr>
        <p:sp>
          <p:nvSpPr>
            <p:cNvPr id="268" name="Freeform 14">
              <a:extLst>
                <a:ext uri="{FF2B5EF4-FFF2-40B4-BE49-F238E27FC236}">
                  <a16:creationId xmlns:a16="http://schemas.microsoft.com/office/drawing/2014/main" id="{ECE79B12-1033-9B34-1C16-073E2E2ACDFA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2593F"/>
            </a:solidFill>
            <a:ln cap="sq">
              <a:noFill/>
              <a:prstDash val="solid"/>
              <a:miter/>
            </a:ln>
          </p:spPr>
        </p:sp>
        <p:sp>
          <p:nvSpPr>
            <p:cNvPr id="269" name="TextBox 15">
              <a:extLst>
                <a:ext uri="{FF2B5EF4-FFF2-40B4-BE49-F238E27FC236}">
                  <a16:creationId xmlns:a16="http://schemas.microsoft.com/office/drawing/2014/main" id="{EEF891A1-75FA-E439-9713-E1CD0C3E983A}"/>
                </a:ext>
              </a:extLst>
            </p:cNvPr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679"/>
                </a:lnSpc>
              </a:pPr>
              <a:r>
                <a:rPr lang="en-US" sz="1200" b="1" dirty="0">
                  <a:solidFill>
                    <a:srgbClr val="FFFFFF"/>
                  </a:solidFill>
                  <a:latin typeface="Garet Bold"/>
                  <a:ea typeface="Garet Bold"/>
                  <a:cs typeface="Garet Bold"/>
                  <a:sym typeface="Garet Bold"/>
                </a:rPr>
                <a:t>2</a:t>
              </a:r>
            </a:p>
          </p:txBody>
        </p:sp>
      </p:grpSp>
      <p:grpSp>
        <p:nvGrpSpPr>
          <p:cNvPr id="270" name="Group 13">
            <a:extLst>
              <a:ext uri="{FF2B5EF4-FFF2-40B4-BE49-F238E27FC236}">
                <a16:creationId xmlns:a16="http://schemas.microsoft.com/office/drawing/2014/main" id="{13BF66E2-82C4-35A1-AB82-4A977B85D31D}"/>
              </a:ext>
            </a:extLst>
          </p:cNvPr>
          <p:cNvGrpSpPr/>
          <p:nvPr/>
        </p:nvGrpSpPr>
        <p:grpSpPr>
          <a:xfrm>
            <a:off x="4094225" y="2109478"/>
            <a:ext cx="323455" cy="289872"/>
            <a:chOff x="0" y="0"/>
            <a:chExt cx="812800" cy="812800"/>
          </a:xfrm>
        </p:grpSpPr>
        <p:sp>
          <p:nvSpPr>
            <p:cNvPr id="271" name="Freeform 14">
              <a:extLst>
                <a:ext uri="{FF2B5EF4-FFF2-40B4-BE49-F238E27FC236}">
                  <a16:creationId xmlns:a16="http://schemas.microsoft.com/office/drawing/2014/main" id="{58312829-8E57-435B-8765-93ECEBE3304C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2593F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IN" dirty="0"/>
            </a:p>
          </p:txBody>
        </p:sp>
        <p:sp>
          <p:nvSpPr>
            <p:cNvPr id="272" name="TextBox 15">
              <a:extLst>
                <a:ext uri="{FF2B5EF4-FFF2-40B4-BE49-F238E27FC236}">
                  <a16:creationId xmlns:a16="http://schemas.microsoft.com/office/drawing/2014/main" id="{3CBE3C92-EC6E-E79E-F081-07B520F8B207}"/>
                </a:ext>
              </a:extLst>
            </p:cNvPr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679"/>
                </a:lnSpc>
              </a:pPr>
              <a:r>
                <a:rPr lang="en-US" sz="1200" b="1" dirty="0">
                  <a:solidFill>
                    <a:srgbClr val="FFFFFF"/>
                  </a:solidFill>
                  <a:latin typeface="Garet Bold"/>
                  <a:ea typeface="Garet Bold"/>
                  <a:cs typeface="Garet Bold"/>
                  <a:sym typeface="Garet Bold"/>
                </a:rPr>
                <a:t>3</a:t>
              </a:r>
            </a:p>
          </p:txBody>
        </p:sp>
      </p:grpSp>
      <p:sp>
        <p:nvSpPr>
          <p:cNvPr id="285" name="Freeform 14">
            <a:extLst>
              <a:ext uri="{FF2B5EF4-FFF2-40B4-BE49-F238E27FC236}">
                <a16:creationId xmlns:a16="http://schemas.microsoft.com/office/drawing/2014/main" id="{91095752-4F20-CD34-1762-5323FEAB70E0}"/>
              </a:ext>
            </a:extLst>
          </p:cNvPr>
          <p:cNvSpPr/>
          <p:nvPr/>
        </p:nvSpPr>
        <p:spPr>
          <a:xfrm>
            <a:off x="1090843" y="2139225"/>
            <a:ext cx="323455" cy="289872"/>
          </a:xfrm>
          <a:custGeom>
            <a:avLst/>
            <a:gdLst/>
            <a:ahLst/>
            <a:cxnLst/>
            <a:rect l="l" t="t" r="r" b="b"/>
            <a:pathLst>
              <a:path w="812800" h="81280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2593F"/>
          </a:solidFill>
          <a:ln cap="sq">
            <a:noFill/>
            <a:prstDash val="solid"/>
            <a:miter/>
          </a:ln>
        </p:spPr>
        <p:txBody>
          <a:bodyPr/>
          <a:lstStyle/>
          <a:p>
            <a:pPr algn="ctr">
              <a:lnSpc>
                <a:spcPts val="1679"/>
              </a:lnSpc>
            </a:pPr>
            <a:r>
              <a:rPr lang="en-US" sz="1200" b="1" dirty="0">
                <a:solidFill>
                  <a:srgbClr val="FFFFFF"/>
                </a:solidFill>
                <a:latin typeface="Garet Bold"/>
                <a:ea typeface="Garet Bold"/>
                <a:cs typeface="Garet Bold"/>
                <a:sym typeface="Garet Bold"/>
              </a:rPr>
              <a:t>4</a:t>
            </a:r>
          </a:p>
        </p:txBody>
      </p:sp>
      <p:sp>
        <p:nvSpPr>
          <p:cNvPr id="287" name="TextBox 286">
            <a:extLst>
              <a:ext uri="{FF2B5EF4-FFF2-40B4-BE49-F238E27FC236}">
                <a16:creationId xmlns:a16="http://schemas.microsoft.com/office/drawing/2014/main" id="{FD6890BD-B2C0-7892-80E7-B052230AABCA}"/>
              </a:ext>
            </a:extLst>
          </p:cNvPr>
          <p:cNvSpPr txBox="1"/>
          <p:nvPr/>
        </p:nvSpPr>
        <p:spPr>
          <a:xfrm>
            <a:off x="384848" y="2519115"/>
            <a:ext cx="1755036" cy="4061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682"/>
              </a:lnSpc>
              <a:spcBef>
                <a:spcPct val="0"/>
              </a:spcBef>
            </a:pPr>
            <a:r>
              <a:rPr lang="en-US" sz="1400" dirty="0">
                <a:solidFill>
                  <a:srgbClr val="000000"/>
                </a:solidFill>
                <a:ea typeface="Garet"/>
                <a:cs typeface="Garet"/>
                <a:sym typeface="Garet"/>
              </a:rPr>
              <a:t>Data Organization</a:t>
            </a:r>
          </a:p>
        </p:txBody>
      </p:sp>
      <p:sp>
        <p:nvSpPr>
          <p:cNvPr id="289" name="TextBox 288">
            <a:extLst>
              <a:ext uri="{FF2B5EF4-FFF2-40B4-BE49-F238E27FC236}">
                <a16:creationId xmlns:a16="http://schemas.microsoft.com/office/drawing/2014/main" id="{489495E5-6F52-F47E-257E-83950A275CF3}"/>
              </a:ext>
            </a:extLst>
          </p:cNvPr>
          <p:cNvSpPr txBox="1"/>
          <p:nvPr/>
        </p:nvSpPr>
        <p:spPr>
          <a:xfrm>
            <a:off x="3125955" y="4098524"/>
            <a:ext cx="2011654" cy="3994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682"/>
              </a:lnSpc>
              <a:spcBef>
                <a:spcPct val="0"/>
              </a:spcBef>
            </a:pPr>
            <a:r>
              <a:rPr lang="en-US" sz="1400" dirty="0">
                <a:solidFill>
                  <a:srgbClr val="000000"/>
                </a:solidFill>
                <a:ea typeface="Garet"/>
                <a:cs typeface="Garet"/>
                <a:sym typeface="Garet"/>
              </a:rPr>
              <a:t>Feature Normalization</a:t>
            </a:r>
          </a:p>
        </p:txBody>
      </p:sp>
      <p:grpSp>
        <p:nvGrpSpPr>
          <p:cNvPr id="292" name="Group 53">
            <a:extLst>
              <a:ext uri="{FF2B5EF4-FFF2-40B4-BE49-F238E27FC236}">
                <a16:creationId xmlns:a16="http://schemas.microsoft.com/office/drawing/2014/main" id="{2E8AD037-2D17-A7AC-8AB6-901ED2B3B425}"/>
              </a:ext>
            </a:extLst>
          </p:cNvPr>
          <p:cNvGrpSpPr/>
          <p:nvPr/>
        </p:nvGrpSpPr>
        <p:grpSpPr>
          <a:xfrm>
            <a:off x="4046682" y="3772512"/>
            <a:ext cx="356893" cy="292537"/>
            <a:chOff x="0" y="0"/>
            <a:chExt cx="812800" cy="812800"/>
          </a:xfrm>
        </p:grpSpPr>
        <p:sp>
          <p:nvSpPr>
            <p:cNvPr id="293" name="Freeform 54">
              <a:extLst>
                <a:ext uri="{FF2B5EF4-FFF2-40B4-BE49-F238E27FC236}">
                  <a16:creationId xmlns:a16="http://schemas.microsoft.com/office/drawing/2014/main" id="{218FEE69-E3F8-86A6-DF52-DE97AE611CA0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2593F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IN" dirty="0"/>
            </a:p>
          </p:txBody>
        </p:sp>
        <p:sp>
          <p:nvSpPr>
            <p:cNvPr id="294" name="TextBox 55">
              <a:extLst>
                <a:ext uri="{FF2B5EF4-FFF2-40B4-BE49-F238E27FC236}">
                  <a16:creationId xmlns:a16="http://schemas.microsoft.com/office/drawing/2014/main" id="{6D7C1131-5ED4-6F9C-2B51-ED537BF60137}"/>
                </a:ext>
              </a:extLst>
            </p:cNvPr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679"/>
                </a:lnSpc>
              </a:pPr>
              <a:r>
                <a:rPr lang="en-US" sz="1200" b="1" dirty="0">
                  <a:solidFill>
                    <a:srgbClr val="FFFFFF"/>
                  </a:solidFill>
                  <a:latin typeface="Garet Bold"/>
                  <a:ea typeface="Garet Bold"/>
                  <a:cs typeface="Garet Bold"/>
                  <a:sym typeface="Garet Bold"/>
                </a:rPr>
                <a:t>5</a:t>
              </a:r>
            </a:p>
          </p:txBody>
        </p:sp>
      </p:grpSp>
      <p:sp>
        <p:nvSpPr>
          <p:cNvPr id="295" name="AutoShape 68">
            <a:extLst>
              <a:ext uri="{FF2B5EF4-FFF2-40B4-BE49-F238E27FC236}">
                <a16:creationId xmlns:a16="http://schemas.microsoft.com/office/drawing/2014/main" id="{E0BE2A08-EA20-EBE5-E8A1-87AD67C4F66B}"/>
              </a:ext>
            </a:extLst>
          </p:cNvPr>
          <p:cNvSpPr/>
          <p:nvPr/>
        </p:nvSpPr>
        <p:spPr>
          <a:xfrm flipV="1">
            <a:off x="8220171" y="4355183"/>
            <a:ext cx="1216059" cy="18853"/>
          </a:xfrm>
          <a:prstGeom prst="line">
            <a:avLst/>
          </a:prstGeom>
          <a:ln w="28575" cap="rnd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</p:sp>
      <p:sp>
        <p:nvSpPr>
          <p:cNvPr id="299" name="Freeform 54">
            <a:extLst>
              <a:ext uri="{FF2B5EF4-FFF2-40B4-BE49-F238E27FC236}">
                <a16:creationId xmlns:a16="http://schemas.microsoft.com/office/drawing/2014/main" id="{188DBEC5-54C4-510D-E6F3-6DDA5AD7B456}"/>
              </a:ext>
            </a:extLst>
          </p:cNvPr>
          <p:cNvSpPr/>
          <p:nvPr/>
        </p:nvSpPr>
        <p:spPr>
          <a:xfrm>
            <a:off x="7023143" y="3737735"/>
            <a:ext cx="356893" cy="292537"/>
          </a:xfrm>
          <a:custGeom>
            <a:avLst/>
            <a:gdLst/>
            <a:ahLst/>
            <a:cxnLst/>
            <a:rect l="l" t="t" r="r" b="b"/>
            <a:pathLst>
              <a:path w="812800" h="81280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2593F"/>
          </a:solidFill>
          <a:ln cap="sq">
            <a:noFill/>
            <a:prstDash val="solid"/>
            <a:miter/>
          </a:ln>
        </p:spPr>
        <p:txBody>
          <a:bodyPr/>
          <a:lstStyle/>
          <a:p>
            <a:endParaRPr lang="en-IN" dirty="0"/>
          </a:p>
        </p:txBody>
      </p:sp>
      <p:sp>
        <p:nvSpPr>
          <p:cNvPr id="300" name="TextBox 15">
            <a:extLst>
              <a:ext uri="{FF2B5EF4-FFF2-40B4-BE49-F238E27FC236}">
                <a16:creationId xmlns:a16="http://schemas.microsoft.com/office/drawing/2014/main" id="{FEFE6DAE-6EB0-A3F1-D860-8EF19912F016}"/>
              </a:ext>
            </a:extLst>
          </p:cNvPr>
          <p:cNvSpPr txBox="1"/>
          <p:nvPr/>
        </p:nvSpPr>
        <p:spPr>
          <a:xfrm>
            <a:off x="7061312" y="3739283"/>
            <a:ext cx="262807" cy="245712"/>
          </a:xfrm>
          <a:prstGeom prst="rect">
            <a:avLst/>
          </a:prstGeom>
        </p:spPr>
        <p:txBody>
          <a:bodyPr lIns="50800" tIns="50800" rIns="50800" bIns="50800" rtlCol="0" anchor="ctr"/>
          <a:lstStyle/>
          <a:p>
            <a:pPr algn="ctr">
              <a:lnSpc>
                <a:spcPts val="1679"/>
              </a:lnSpc>
            </a:pPr>
            <a:r>
              <a:rPr lang="en-US" sz="1200" b="1" dirty="0">
                <a:solidFill>
                  <a:srgbClr val="FFFFFF"/>
                </a:solidFill>
                <a:latin typeface="Garet Bold"/>
                <a:ea typeface="Garet Bold"/>
                <a:cs typeface="Garet Bold"/>
                <a:sym typeface="Garet Bold"/>
              </a:rPr>
              <a:t>6</a:t>
            </a:r>
          </a:p>
        </p:txBody>
      </p:sp>
      <p:sp>
        <p:nvSpPr>
          <p:cNvPr id="302" name="TextBox 301">
            <a:extLst>
              <a:ext uri="{FF2B5EF4-FFF2-40B4-BE49-F238E27FC236}">
                <a16:creationId xmlns:a16="http://schemas.microsoft.com/office/drawing/2014/main" id="{FD7F6604-C91D-60C6-3A11-02E5D6FA32AE}"/>
              </a:ext>
            </a:extLst>
          </p:cNvPr>
          <p:cNvSpPr txBox="1"/>
          <p:nvPr/>
        </p:nvSpPr>
        <p:spPr>
          <a:xfrm>
            <a:off x="9390170" y="4107322"/>
            <a:ext cx="1968500" cy="3994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682"/>
              </a:lnSpc>
              <a:spcBef>
                <a:spcPct val="0"/>
              </a:spcBef>
            </a:pPr>
            <a:r>
              <a:rPr lang="en-US" sz="1400" dirty="0">
                <a:solidFill>
                  <a:srgbClr val="000000"/>
                </a:solidFill>
                <a:ea typeface="Garet"/>
                <a:cs typeface="Garet"/>
                <a:sym typeface="Garet"/>
              </a:rPr>
              <a:t>Performance Evaluation</a:t>
            </a:r>
          </a:p>
        </p:txBody>
      </p:sp>
      <p:sp>
        <p:nvSpPr>
          <p:cNvPr id="306" name="Freeform 14">
            <a:extLst>
              <a:ext uri="{FF2B5EF4-FFF2-40B4-BE49-F238E27FC236}">
                <a16:creationId xmlns:a16="http://schemas.microsoft.com/office/drawing/2014/main" id="{F938DB89-6FAE-F598-9FC8-37EEEFD11245}"/>
              </a:ext>
            </a:extLst>
          </p:cNvPr>
          <p:cNvSpPr/>
          <p:nvPr/>
        </p:nvSpPr>
        <p:spPr>
          <a:xfrm>
            <a:off x="10204049" y="3687525"/>
            <a:ext cx="323455" cy="289872"/>
          </a:xfrm>
          <a:custGeom>
            <a:avLst/>
            <a:gdLst/>
            <a:ahLst/>
            <a:cxnLst/>
            <a:rect l="l" t="t" r="r" b="b"/>
            <a:pathLst>
              <a:path w="812800" h="81280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2593F"/>
          </a:solidFill>
          <a:ln cap="sq">
            <a:noFill/>
            <a:prstDash val="solid"/>
            <a:miter/>
          </a:ln>
        </p:spPr>
        <p:txBody>
          <a:bodyPr/>
          <a:lstStyle/>
          <a:p>
            <a:pPr algn="ctr">
              <a:lnSpc>
                <a:spcPts val="1679"/>
              </a:lnSpc>
            </a:pPr>
            <a:r>
              <a:rPr lang="en-US" sz="1200" b="1" dirty="0">
                <a:solidFill>
                  <a:srgbClr val="FFFFFF"/>
                </a:solidFill>
                <a:latin typeface="Garet Bold"/>
                <a:ea typeface="Garet Bold"/>
                <a:cs typeface="Garet Bold"/>
                <a:sym typeface="Garet Bold"/>
              </a:rPr>
              <a:t>7</a:t>
            </a:r>
          </a:p>
        </p:txBody>
      </p:sp>
      <p:grpSp>
        <p:nvGrpSpPr>
          <p:cNvPr id="307" name="Group 34">
            <a:extLst>
              <a:ext uri="{FF2B5EF4-FFF2-40B4-BE49-F238E27FC236}">
                <a16:creationId xmlns:a16="http://schemas.microsoft.com/office/drawing/2014/main" id="{4D3B4282-602F-0FDD-9254-CEFEF6CF439E}"/>
              </a:ext>
            </a:extLst>
          </p:cNvPr>
          <p:cNvGrpSpPr/>
          <p:nvPr/>
        </p:nvGrpSpPr>
        <p:grpSpPr>
          <a:xfrm>
            <a:off x="6935838" y="5640797"/>
            <a:ext cx="1917117" cy="933179"/>
            <a:chOff x="0" y="0"/>
            <a:chExt cx="812800" cy="441477"/>
          </a:xfrm>
        </p:grpSpPr>
        <p:sp>
          <p:nvSpPr>
            <p:cNvPr id="308" name="Freeform 35">
              <a:extLst>
                <a:ext uri="{FF2B5EF4-FFF2-40B4-BE49-F238E27FC236}">
                  <a16:creationId xmlns:a16="http://schemas.microsoft.com/office/drawing/2014/main" id="{8EE78F98-1A56-BBE2-875F-7805E09CEE98}"/>
                </a:ext>
              </a:extLst>
            </p:cNvPr>
            <p:cNvSpPr/>
            <p:nvPr/>
          </p:nvSpPr>
          <p:spPr>
            <a:xfrm>
              <a:off x="0" y="0"/>
              <a:ext cx="812800" cy="441477"/>
            </a:xfrm>
            <a:custGeom>
              <a:avLst/>
              <a:gdLst/>
              <a:ahLst/>
              <a:cxnLst/>
              <a:rect l="l" t="t" r="r" b="b"/>
              <a:pathLst>
                <a:path w="812800" h="441477">
                  <a:moveTo>
                    <a:pt x="32358" y="0"/>
                  </a:moveTo>
                  <a:lnTo>
                    <a:pt x="780442" y="0"/>
                  </a:lnTo>
                  <a:cubicBezTo>
                    <a:pt x="798313" y="0"/>
                    <a:pt x="812800" y="14487"/>
                    <a:pt x="812800" y="32358"/>
                  </a:cubicBezTo>
                  <a:lnTo>
                    <a:pt x="812800" y="409119"/>
                  </a:lnTo>
                  <a:cubicBezTo>
                    <a:pt x="812800" y="426990"/>
                    <a:pt x="798313" y="441477"/>
                    <a:pt x="780442" y="441477"/>
                  </a:cubicBezTo>
                  <a:lnTo>
                    <a:pt x="32358" y="441477"/>
                  </a:lnTo>
                  <a:cubicBezTo>
                    <a:pt x="14487" y="441477"/>
                    <a:pt x="0" y="426990"/>
                    <a:pt x="0" y="409119"/>
                  </a:cubicBezTo>
                  <a:lnTo>
                    <a:pt x="0" y="32358"/>
                  </a:lnTo>
                  <a:cubicBezTo>
                    <a:pt x="0" y="14487"/>
                    <a:pt x="14487" y="0"/>
                    <a:pt x="32358" y="0"/>
                  </a:cubicBezTo>
                  <a:close/>
                </a:path>
              </a:pathLst>
            </a:custGeom>
            <a:solidFill>
              <a:srgbClr val="EAEAEC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IN" dirty="0"/>
            </a:p>
          </p:txBody>
        </p:sp>
        <p:sp>
          <p:nvSpPr>
            <p:cNvPr id="309" name="TextBox 36">
              <a:extLst>
                <a:ext uri="{FF2B5EF4-FFF2-40B4-BE49-F238E27FC236}">
                  <a16:creationId xmlns:a16="http://schemas.microsoft.com/office/drawing/2014/main" id="{B11E177C-B995-893E-D2A8-82B406620B22}"/>
                </a:ext>
              </a:extLst>
            </p:cNvPr>
            <p:cNvSpPr txBox="1"/>
            <p:nvPr/>
          </p:nvSpPr>
          <p:spPr>
            <a:xfrm>
              <a:off x="0" y="0"/>
              <a:ext cx="812800" cy="44147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331"/>
                </a:lnSpc>
              </a:pPr>
              <a:endParaRPr/>
            </a:p>
          </p:txBody>
        </p:sp>
      </p:grpSp>
      <p:sp>
        <p:nvSpPr>
          <p:cNvPr id="310" name="AutoShape 68">
            <a:extLst>
              <a:ext uri="{FF2B5EF4-FFF2-40B4-BE49-F238E27FC236}">
                <a16:creationId xmlns:a16="http://schemas.microsoft.com/office/drawing/2014/main" id="{6E19DC40-0B03-AF1E-9343-4F7AD73D6CBB}"/>
              </a:ext>
            </a:extLst>
          </p:cNvPr>
          <p:cNvSpPr/>
          <p:nvPr/>
        </p:nvSpPr>
        <p:spPr>
          <a:xfrm>
            <a:off x="5128180" y="4355184"/>
            <a:ext cx="1206632" cy="0"/>
          </a:xfrm>
          <a:prstGeom prst="line">
            <a:avLst/>
          </a:prstGeom>
          <a:ln w="28575" cap="rnd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</p:sp>
      <p:sp>
        <p:nvSpPr>
          <p:cNvPr id="315" name="Freeform 54">
            <a:extLst>
              <a:ext uri="{FF2B5EF4-FFF2-40B4-BE49-F238E27FC236}">
                <a16:creationId xmlns:a16="http://schemas.microsoft.com/office/drawing/2014/main" id="{A7AC4685-04BA-7196-9E5F-3BB175E571C8}"/>
              </a:ext>
            </a:extLst>
          </p:cNvPr>
          <p:cNvSpPr/>
          <p:nvPr/>
        </p:nvSpPr>
        <p:spPr>
          <a:xfrm>
            <a:off x="7643321" y="5486827"/>
            <a:ext cx="377213" cy="312857"/>
          </a:xfrm>
          <a:custGeom>
            <a:avLst/>
            <a:gdLst/>
            <a:ahLst/>
            <a:cxnLst/>
            <a:rect l="l" t="t" r="r" b="b"/>
            <a:pathLst>
              <a:path w="812800" h="81280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2593F"/>
          </a:solidFill>
          <a:ln cap="sq">
            <a:noFill/>
            <a:prstDash val="solid"/>
            <a:miter/>
          </a:ln>
        </p:spPr>
        <p:txBody>
          <a:bodyPr/>
          <a:lstStyle/>
          <a:p>
            <a:pPr algn="ctr">
              <a:lnSpc>
                <a:spcPts val="1679"/>
              </a:lnSpc>
            </a:pPr>
            <a:r>
              <a:rPr lang="en-US" sz="1200" b="1" dirty="0">
                <a:solidFill>
                  <a:srgbClr val="FFFFFF"/>
                </a:solidFill>
                <a:latin typeface="Garet Bold"/>
                <a:ea typeface="Garet Bold"/>
                <a:cs typeface="Garet Bold"/>
                <a:sym typeface="Garet Bold"/>
              </a:rPr>
              <a:t>8</a:t>
            </a:r>
          </a:p>
        </p:txBody>
      </p:sp>
      <p:sp>
        <p:nvSpPr>
          <p:cNvPr id="339" name="Freeform 54">
            <a:extLst>
              <a:ext uri="{FF2B5EF4-FFF2-40B4-BE49-F238E27FC236}">
                <a16:creationId xmlns:a16="http://schemas.microsoft.com/office/drawing/2014/main" id="{84ECCDBA-072F-280A-122B-17D8605086B2}"/>
              </a:ext>
            </a:extLst>
          </p:cNvPr>
          <p:cNvSpPr/>
          <p:nvPr/>
        </p:nvSpPr>
        <p:spPr>
          <a:xfrm>
            <a:off x="4496340" y="5441264"/>
            <a:ext cx="377213" cy="312857"/>
          </a:xfrm>
          <a:custGeom>
            <a:avLst/>
            <a:gdLst/>
            <a:ahLst/>
            <a:cxnLst/>
            <a:rect l="l" t="t" r="r" b="b"/>
            <a:pathLst>
              <a:path w="812800" h="81280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2593F"/>
          </a:solidFill>
          <a:ln cap="sq">
            <a:noFill/>
            <a:prstDash val="solid"/>
            <a:miter/>
          </a:ln>
        </p:spPr>
        <p:txBody>
          <a:bodyPr/>
          <a:lstStyle/>
          <a:p>
            <a:pPr algn="ctr">
              <a:lnSpc>
                <a:spcPts val="1679"/>
              </a:lnSpc>
            </a:pPr>
            <a:r>
              <a:rPr lang="en-US" sz="1200" b="1" dirty="0">
                <a:solidFill>
                  <a:srgbClr val="FFFFFF"/>
                </a:solidFill>
                <a:latin typeface="Garet Bold"/>
                <a:ea typeface="Garet Bold"/>
                <a:cs typeface="Garet Bold"/>
                <a:sym typeface="Garet Bold"/>
              </a:rPr>
              <a:t>9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5B0D57F-47F2-08EC-B201-0E3D14BE4C07}"/>
              </a:ext>
            </a:extLst>
          </p:cNvPr>
          <p:cNvSpPr txBox="1"/>
          <p:nvPr/>
        </p:nvSpPr>
        <p:spPr>
          <a:xfrm>
            <a:off x="6893637" y="5796292"/>
            <a:ext cx="1939277" cy="3994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682"/>
              </a:lnSpc>
              <a:spcBef>
                <a:spcPct val="0"/>
              </a:spcBef>
            </a:pPr>
            <a:r>
              <a:rPr lang="en-US" sz="1400" dirty="0">
                <a:solidFill>
                  <a:srgbClr val="000000"/>
                </a:solidFill>
                <a:ea typeface="Garet"/>
                <a:cs typeface="Garet"/>
                <a:sym typeface="Garet"/>
              </a:rPr>
              <a:t>Real-Time Inference</a:t>
            </a:r>
          </a:p>
        </p:txBody>
      </p:sp>
      <p:sp>
        <p:nvSpPr>
          <p:cNvPr id="4" name="TextBox 82">
            <a:extLst>
              <a:ext uri="{FF2B5EF4-FFF2-40B4-BE49-F238E27FC236}">
                <a16:creationId xmlns:a16="http://schemas.microsoft.com/office/drawing/2014/main" id="{0465D387-E213-21DA-F5DC-6745B4BDD7D1}"/>
              </a:ext>
            </a:extLst>
          </p:cNvPr>
          <p:cNvSpPr txBox="1"/>
          <p:nvPr/>
        </p:nvSpPr>
        <p:spPr>
          <a:xfrm>
            <a:off x="3729371" y="5869222"/>
            <a:ext cx="1814122" cy="3070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82"/>
              </a:lnSpc>
              <a:spcBef>
                <a:spcPct val="0"/>
              </a:spcBef>
            </a:pPr>
            <a:r>
              <a:rPr lang="en-US" sz="1400" dirty="0">
                <a:solidFill>
                  <a:schemeClr val="bg1">
                    <a:lumMod val="95000"/>
                  </a:schemeClr>
                </a:solidFill>
                <a:ea typeface="Garet"/>
                <a:cs typeface="Garet"/>
                <a:sym typeface="Garet"/>
              </a:rPr>
              <a:t>Final Prototype</a:t>
            </a:r>
          </a:p>
        </p:txBody>
      </p:sp>
      <p:sp>
        <p:nvSpPr>
          <p:cNvPr id="5" name="AutoShape 25">
            <a:extLst>
              <a:ext uri="{FF2B5EF4-FFF2-40B4-BE49-F238E27FC236}">
                <a16:creationId xmlns:a16="http://schemas.microsoft.com/office/drawing/2014/main" id="{601A04B9-EA09-6D21-C65B-8C47E678392D}"/>
              </a:ext>
            </a:extLst>
          </p:cNvPr>
          <p:cNvSpPr/>
          <p:nvPr/>
        </p:nvSpPr>
        <p:spPr>
          <a:xfrm flipV="1">
            <a:off x="10331777" y="4826524"/>
            <a:ext cx="1" cy="1263191"/>
          </a:xfrm>
          <a:prstGeom prst="line">
            <a:avLst/>
          </a:prstGeom>
          <a:ln w="28575" cap="rnd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6" name="AutoShape 25">
            <a:extLst>
              <a:ext uri="{FF2B5EF4-FFF2-40B4-BE49-F238E27FC236}">
                <a16:creationId xmlns:a16="http://schemas.microsoft.com/office/drawing/2014/main" id="{DB7600A0-03F4-F4DA-DB38-27A921052B11}"/>
              </a:ext>
            </a:extLst>
          </p:cNvPr>
          <p:cNvSpPr/>
          <p:nvPr/>
        </p:nvSpPr>
        <p:spPr>
          <a:xfrm flipH="1" flipV="1">
            <a:off x="1508288" y="3261673"/>
            <a:ext cx="9425" cy="1187777"/>
          </a:xfrm>
          <a:prstGeom prst="line">
            <a:avLst/>
          </a:prstGeom>
          <a:ln w="28575" cap="rnd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8" name="AutoShape 69">
            <a:extLst>
              <a:ext uri="{FF2B5EF4-FFF2-40B4-BE49-F238E27FC236}">
                <a16:creationId xmlns:a16="http://schemas.microsoft.com/office/drawing/2014/main" id="{64AC2E42-F2A5-6B39-A16F-EBC26AAB0A61}"/>
              </a:ext>
            </a:extLst>
          </p:cNvPr>
          <p:cNvSpPr/>
          <p:nvPr/>
        </p:nvSpPr>
        <p:spPr>
          <a:xfrm flipH="1">
            <a:off x="5148606" y="2773051"/>
            <a:ext cx="1282045" cy="9427"/>
          </a:xfrm>
          <a:prstGeom prst="line">
            <a:avLst/>
          </a:prstGeom>
          <a:ln w="28575" cap="rnd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</p:sp>
      <p:sp>
        <p:nvSpPr>
          <p:cNvPr id="9" name="AutoShape 69">
            <a:extLst>
              <a:ext uri="{FF2B5EF4-FFF2-40B4-BE49-F238E27FC236}">
                <a16:creationId xmlns:a16="http://schemas.microsoft.com/office/drawing/2014/main" id="{0F2F11A2-5CFE-F10E-B438-24BEB787B54A}"/>
              </a:ext>
            </a:extLst>
          </p:cNvPr>
          <p:cNvSpPr/>
          <p:nvPr/>
        </p:nvSpPr>
        <p:spPr>
          <a:xfrm flipH="1">
            <a:off x="2169735" y="2790334"/>
            <a:ext cx="1101365" cy="10998"/>
          </a:xfrm>
          <a:prstGeom prst="line">
            <a:avLst/>
          </a:prstGeom>
          <a:ln w="28575" cap="rnd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</p:sp>
      <p:sp>
        <p:nvSpPr>
          <p:cNvPr id="10" name="AutoShape 25">
            <a:extLst>
              <a:ext uri="{FF2B5EF4-FFF2-40B4-BE49-F238E27FC236}">
                <a16:creationId xmlns:a16="http://schemas.microsoft.com/office/drawing/2014/main" id="{04A47ECB-D0F2-B85F-6A02-4B8E61FDCE5F}"/>
              </a:ext>
            </a:extLst>
          </p:cNvPr>
          <p:cNvSpPr/>
          <p:nvPr/>
        </p:nvSpPr>
        <p:spPr>
          <a:xfrm flipV="1">
            <a:off x="10077255" y="2395979"/>
            <a:ext cx="10998" cy="403781"/>
          </a:xfrm>
          <a:prstGeom prst="line">
            <a:avLst/>
          </a:prstGeom>
          <a:ln w="28575" cap="rnd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1" name="AutoShape 68">
            <a:extLst>
              <a:ext uri="{FF2B5EF4-FFF2-40B4-BE49-F238E27FC236}">
                <a16:creationId xmlns:a16="http://schemas.microsoft.com/office/drawing/2014/main" id="{837672D8-CEEA-FA66-9A18-4F9792675CD9}"/>
              </a:ext>
            </a:extLst>
          </p:cNvPr>
          <p:cNvSpPr/>
          <p:nvPr/>
        </p:nvSpPr>
        <p:spPr>
          <a:xfrm flipH="1">
            <a:off x="8325438" y="2790334"/>
            <a:ext cx="1742388" cy="1571"/>
          </a:xfrm>
          <a:prstGeom prst="line">
            <a:avLst/>
          </a:prstGeom>
          <a:ln w="28575" cap="rnd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361FFF7-872B-010B-8808-C1194700905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59756"/>
            <a:ext cx="3827282" cy="10255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545931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839F69-F375-EC74-2CFC-4CB204BE51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object 3">
            <a:extLst>
              <a:ext uri="{FF2B5EF4-FFF2-40B4-BE49-F238E27FC236}">
                <a16:creationId xmlns:a16="http://schemas.microsoft.com/office/drawing/2014/main" id="{0BF7BAAA-1A8A-0B5E-945A-6B1FC3C64A98}"/>
              </a:ext>
            </a:extLst>
          </p:cNvPr>
          <p:cNvGrpSpPr/>
          <p:nvPr/>
        </p:nvGrpSpPr>
        <p:grpSpPr>
          <a:xfrm>
            <a:off x="0" y="0"/>
            <a:ext cx="12197080" cy="123825"/>
            <a:chOff x="0" y="828738"/>
            <a:chExt cx="12197080" cy="123825"/>
          </a:xfrm>
        </p:grpSpPr>
        <p:sp>
          <p:nvSpPr>
            <p:cNvPr id="14" name="object 4">
              <a:extLst>
                <a:ext uri="{FF2B5EF4-FFF2-40B4-BE49-F238E27FC236}">
                  <a16:creationId xmlns:a16="http://schemas.microsoft.com/office/drawing/2014/main" id="{FF118051-92B5-4514-81BF-98BF287EBA09}"/>
                </a:ext>
              </a:extLst>
            </p:cNvPr>
            <p:cNvSpPr/>
            <p:nvPr/>
          </p:nvSpPr>
          <p:spPr>
            <a:xfrm>
              <a:off x="4763" y="833500"/>
              <a:ext cx="12187555" cy="114300"/>
            </a:xfrm>
            <a:custGeom>
              <a:avLst/>
              <a:gdLst/>
              <a:ahLst/>
              <a:cxnLst/>
              <a:rect l="l" t="t" r="r" b="b"/>
              <a:pathLst>
                <a:path w="12187555" h="114300">
                  <a:moveTo>
                    <a:pt x="12187236" y="0"/>
                  </a:moveTo>
                  <a:lnTo>
                    <a:pt x="0" y="0"/>
                  </a:lnTo>
                  <a:lnTo>
                    <a:pt x="0" y="114300"/>
                  </a:lnTo>
                  <a:lnTo>
                    <a:pt x="12187236" y="114300"/>
                  </a:lnTo>
                  <a:lnTo>
                    <a:pt x="12187236" y="0"/>
                  </a:lnTo>
                  <a:close/>
                </a:path>
              </a:pathLst>
            </a:custGeom>
            <a:solidFill>
              <a:srgbClr val="252573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15" name="object 5">
              <a:extLst>
                <a:ext uri="{FF2B5EF4-FFF2-40B4-BE49-F238E27FC236}">
                  <a16:creationId xmlns:a16="http://schemas.microsoft.com/office/drawing/2014/main" id="{86589AEA-29DB-B9D8-7355-77D8DCF50D4D}"/>
                </a:ext>
              </a:extLst>
            </p:cNvPr>
            <p:cNvSpPr/>
            <p:nvPr/>
          </p:nvSpPr>
          <p:spPr>
            <a:xfrm>
              <a:off x="4763" y="833500"/>
              <a:ext cx="12187555" cy="114300"/>
            </a:xfrm>
            <a:custGeom>
              <a:avLst/>
              <a:gdLst/>
              <a:ahLst/>
              <a:cxnLst/>
              <a:rect l="l" t="t" r="r" b="b"/>
              <a:pathLst>
                <a:path w="12187555" h="114300">
                  <a:moveTo>
                    <a:pt x="12187236" y="0"/>
                  </a:moveTo>
                  <a:lnTo>
                    <a:pt x="0" y="0"/>
                  </a:lnTo>
                  <a:lnTo>
                    <a:pt x="0" y="114300"/>
                  </a:lnTo>
                  <a:lnTo>
                    <a:pt x="12187236" y="114300"/>
                  </a:lnTo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6" name="object 3">
            <a:extLst>
              <a:ext uri="{FF2B5EF4-FFF2-40B4-BE49-F238E27FC236}">
                <a16:creationId xmlns:a16="http://schemas.microsoft.com/office/drawing/2014/main" id="{C38B6EDB-78C3-A166-3A6A-838581EB5596}"/>
              </a:ext>
            </a:extLst>
          </p:cNvPr>
          <p:cNvGrpSpPr/>
          <p:nvPr/>
        </p:nvGrpSpPr>
        <p:grpSpPr>
          <a:xfrm>
            <a:off x="0" y="1196383"/>
            <a:ext cx="12197080" cy="123825"/>
            <a:chOff x="0" y="828738"/>
            <a:chExt cx="12197080" cy="123825"/>
          </a:xfrm>
        </p:grpSpPr>
        <p:sp>
          <p:nvSpPr>
            <p:cNvPr id="17" name="object 4">
              <a:extLst>
                <a:ext uri="{FF2B5EF4-FFF2-40B4-BE49-F238E27FC236}">
                  <a16:creationId xmlns:a16="http://schemas.microsoft.com/office/drawing/2014/main" id="{3A0F43B1-409B-2EA6-BE4E-DF55CB86D358}"/>
                </a:ext>
              </a:extLst>
            </p:cNvPr>
            <p:cNvSpPr/>
            <p:nvPr/>
          </p:nvSpPr>
          <p:spPr>
            <a:xfrm>
              <a:off x="4763" y="833500"/>
              <a:ext cx="12187555" cy="114300"/>
            </a:xfrm>
            <a:custGeom>
              <a:avLst/>
              <a:gdLst/>
              <a:ahLst/>
              <a:cxnLst/>
              <a:rect l="l" t="t" r="r" b="b"/>
              <a:pathLst>
                <a:path w="12187555" h="114300">
                  <a:moveTo>
                    <a:pt x="12187236" y="0"/>
                  </a:moveTo>
                  <a:lnTo>
                    <a:pt x="0" y="0"/>
                  </a:lnTo>
                  <a:lnTo>
                    <a:pt x="0" y="114300"/>
                  </a:lnTo>
                  <a:lnTo>
                    <a:pt x="12187236" y="114300"/>
                  </a:lnTo>
                  <a:lnTo>
                    <a:pt x="12187236" y="0"/>
                  </a:lnTo>
                  <a:close/>
                </a:path>
              </a:pathLst>
            </a:custGeom>
            <a:solidFill>
              <a:srgbClr val="25257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5">
              <a:extLst>
                <a:ext uri="{FF2B5EF4-FFF2-40B4-BE49-F238E27FC236}">
                  <a16:creationId xmlns:a16="http://schemas.microsoft.com/office/drawing/2014/main" id="{E1768BF0-F6BE-EA2A-6C2E-B8C13AB8DFCD}"/>
                </a:ext>
              </a:extLst>
            </p:cNvPr>
            <p:cNvSpPr/>
            <p:nvPr/>
          </p:nvSpPr>
          <p:spPr>
            <a:xfrm>
              <a:off x="4763" y="833500"/>
              <a:ext cx="12187555" cy="114300"/>
            </a:xfrm>
            <a:custGeom>
              <a:avLst/>
              <a:gdLst/>
              <a:ahLst/>
              <a:cxnLst/>
              <a:rect l="l" t="t" r="r" b="b"/>
              <a:pathLst>
                <a:path w="12187555" h="114300">
                  <a:moveTo>
                    <a:pt x="12187236" y="0"/>
                  </a:moveTo>
                  <a:lnTo>
                    <a:pt x="0" y="0"/>
                  </a:lnTo>
                  <a:lnTo>
                    <a:pt x="0" y="114300"/>
                  </a:lnTo>
                  <a:lnTo>
                    <a:pt x="12187236" y="114300"/>
                  </a:lnTo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1" name="TextBox 20">
            <a:extLst>
              <a:ext uri="{FF2B5EF4-FFF2-40B4-BE49-F238E27FC236}">
                <a16:creationId xmlns:a16="http://schemas.microsoft.com/office/drawing/2014/main" id="{8DF30853-7B8B-62D4-64F7-F3663B31CBB8}"/>
              </a:ext>
            </a:extLst>
          </p:cNvPr>
          <p:cNvSpPr txBox="1"/>
          <p:nvPr/>
        </p:nvSpPr>
        <p:spPr>
          <a:xfrm>
            <a:off x="4652126" y="258393"/>
            <a:ext cx="7159659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4400" b="1" dirty="0">
                <a:solidFill>
                  <a:srgbClr val="000000"/>
                </a:solidFill>
                <a:latin typeface="Arial Black" panose="020B0A04020102020204" pitchFamily="34" charset="0"/>
                <a:cs typeface="Arial" panose="020B0604020202020204" pitchFamily="34" charset="0"/>
                <a:sym typeface="Times New Roman Bold"/>
              </a:rPr>
              <a:t>Methodology</a:t>
            </a:r>
            <a:endParaRPr lang="en-IN" sz="4400" b="1" dirty="0">
              <a:latin typeface="Arial Black" panose="020B0A04020102020204" pitchFamily="34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482EA94-192D-B373-5139-4A0A9E9B6DD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59756"/>
            <a:ext cx="3827282" cy="1025592"/>
          </a:xfrm>
          <a:prstGeom prst="rect">
            <a:avLst/>
          </a:prstGeom>
        </p:spPr>
      </p:pic>
      <p:sp>
        <p:nvSpPr>
          <p:cNvPr id="6" name="Rectangle 3">
            <a:extLst>
              <a:ext uri="{FF2B5EF4-FFF2-40B4-BE49-F238E27FC236}">
                <a16:creationId xmlns:a16="http://schemas.microsoft.com/office/drawing/2014/main" id="{26CED1FB-BEC9-1270-50A2-BBB5A7A07313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1500556"/>
            <a:ext cx="9879291" cy="483209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1" algn="just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z="2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Review hand rehabilitation literature</a:t>
            </a:r>
          </a:p>
          <a:p>
            <a:pPr lvl="1" algn="just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kumimoji="0" lang="en-US" altLang="en-US" sz="28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lvl="1" algn="just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z="2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Select predefined hand exercises</a:t>
            </a:r>
          </a:p>
          <a:p>
            <a:pPr lvl="1" algn="just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kumimoji="0" lang="en-US" altLang="en-US" sz="28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lvl="1" algn="just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z="2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Capture and organize exercise data</a:t>
            </a:r>
          </a:p>
          <a:p>
            <a:pPr lvl="1" algn="just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kumimoji="0" lang="en-US" altLang="en-US" sz="28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lvl="1" algn="just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z="2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Extract and preprocess hand landmarks</a:t>
            </a:r>
          </a:p>
          <a:p>
            <a:pPr lvl="1" algn="just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kumimoji="0" lang="en-US" altLang="en-US" sz="28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lvl="1" algn="just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z="2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Train and evaluate ML model</a:t>
            </a:r>
          </a:p>
          <a:p>
            <a:pPr lvl="1" algn="just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kumimoji="0" lang="en-US" altLang="en-US" sz="28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lvl="1" algn="just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z="2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Implement real-time recognition with feedback</a:t>
            </a:r>
          </a:p>
        </p:txBody>
      </p:sp>
    </p:spTree>
    <p:extLst>
      <p:ext uri="{BB962C8B-B14F-4D97-AF65-F5344CB8AC3E}">
        <p14:creationId xmlns:p14="http://schemas.microsoft.com/office/powerpoint/2010/main" val="18012693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FEA2EF-0CCF-1DD6-E7E9-0B131B6EC8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object 3">
            <a:extLst>
              <a:ext uri="{FF2B5EF4-FFF2-40B4-BE49-F238E27FC236}">
                <a16:creationId xmlns:a16="http://schemas.microsoft.com/office/drawing/2014/main" id="{616BA6E6-89E3-CD21-ADD4-16B97A6B19C9}"/>
              </a:ext>
            </a:extLst>
          </p:cNvPr>
          <p:cNvGrpSpPr/>
          <p:nvPr/>
        </p:nvGrpSpPr>
        <p:grpSpPr>
          <a:xfrm>
            <a:off x="0" y="0"/>
            <a:ext cx="12197080" cy="123825"/>
            <a:chOff x="0" y="828738"/>
            <a:chExt cx="12197080" cy="123825"/>
          </a:xfrm>
        </p:grpSpPr>
        <p:sp>
          <p:nvSpPr>
            <p:cNvPr id="14" name="object 4">
              <a:extLst>
                <a:ext uri="{FF2B5EF4-FFF2-40B4-BE49-F238E27FC236}">
                  <a16:creationId xmlns:a16="http://schemas.microsoft.com/office/drawing/2014/main" id="{9E0047D4-1F9B-A720-45DD-7351DC628DE1}"/>
                </a:ext>
              </a:extLst>
            </p:cNvPr>
            <p:cNvSpPr/>
            <p:nvPr/>
          </p:nvSpPr>
          <p:spPr>
            <a:xfrm>
              <a:off x="4763" y="833500"/>
              <a:ext cx="12187555" cy="114300"/>
            </a:xfrm>
            <a:custGeom>
              <a:avLst/>
              <a:gdLst/>
              <a:ahLst/>
              <a:cxnLst/>
              <a:rect l="l" t="t" r="r" b="b"/>
              <a:pathLst>
                <a:path w="12187555" h="114300">
                  <a:moveTo>
                    <a:pt x="12187236" y="0"/>
                  </a:moveTo>
                  <a:lnTo>
                    <a:pt x="0" y="0"/>
                  </a:lnTo>
                  <a:lnTo>
                    <a:pt x="0" y="114300"/>
                  </a:lnTo>
                  <a:lnTo>
                    <a:pt x="12187236" y="114300"/>
                  </a:lnTo>
                  <a:lnTo>
                    <a:pt x="12187236" y="0"/>
                  </a:lnTo>
                  <a:close/>
                </a:path>
              </a:pathLst>
            </a:custGeom>
            <a:solidFill>
              <a:srgbClr val="252573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15" name="object 5">
              <a:extLst>
                <a:ext uri="{FF2B5EF4-FFF2-40B4-BE49-F238E27FC236}">
                  <a16:creationId xmlns:a16="http://schemas.microsoft.com/office/drawing/2014/main" id="{E7126EBA-CE7D-7E33-B5BD-9B3EB2C86F26}"/>
                </a:ext>
              </a:extLst>
            </p:cNvPr>
            <p:cNvSpPr/>
            <p:nvPr/>
          </p:nvSpPr>
          <p:spPr>
            <a:xfrm>
              <a:off x="4763" y="833500"/>
              <a:ext cx="12187555" cy="114300"/>
            </a:xfrm>
            <a:custGeom>
              <a:avLst/>
              <a:gdLst/>
              <a:ahLst/>
              <a:cxnLst/>
              <a:rect l="l" t="t" r="r" b="b"/>
              <a:pathLst>
                <a:path w="12187555" h="114300">
                  <a:moveTo>
                    <a:pt x="12187236" y="0"/>
                  </a:moveTo>
                  <a:lnTo>
                    <a:pt x="0" y="0"/>
                  </a:lnTo>
                  <a:lnTo>
                    <a:pt x="0" y="114300"/>
                  </a:lnTo>
                  <a:lnTo>
                    <a:pt x="12187236" y="114300"/>
                  </a:lnTo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6" name="object 3">
            <a:extLst>
              <a:ext uri="{FF2B5EF4-FFF2-40B4-BE49-F238E27FC236}">
                <a16:creationId xmlns:a16="http://schemas.microsoft.com/office/drawing/2014/main" id="{B7570628-6B2B-A2C2-9CD6-CB4974A20E9F}"/>
              </a:ext>
            </a:extLst>
          </p:cNvPr>
          <p:cNvGrpSpPr/>
          <p:nvPr/>
        </p:nvGrpSpPr>
        <p:grpSpPr>
          <a:xfrm>
            <a:off x="0" y="1196383"/>
            <a:ext cx="12197080" cy="123825"/>
            <a:chOff x="0" y="828738"/>
            <a:chExt cx="12197080" cy="123825"/>
          </a:xfrm>
        </p:grpSpPr>
        <p:sp>
          <p:nvSpPr>
            <p:cNvPr id="17" name="object 4">
              <a:extLst>
                <a:ext uri="{FF2B5EF4-FFF2-40B4-BE49-F238E27FC236}">
                  <a16:creationId xmlns:a16="http://schemas.microsoft.com/office/drawing/2014/main" id="{CA037391-A277-A9F1-20CC-C3D6A2DA265C}"/>
                </a:ext>
              </a:extLst>
            </p:cNvPr>
            <p:cNvSpPr/>
            <p:nvPr/>
          </p:nvSpPr>
          <p:spPr>
            <a:xfrm>
              <a:off x="4763" y="833500"/>
              <a:ext cx="12187555" cy="114300"/>
            </a:xfrm>
            <a:custGeom>
              <a:avLst/>
              <a:gdLst/>
              <a:ahLst/>
              <a:cxnLst/>
              <a:rect l="l" t="t" r="r" b="b"/>
              <a:pathLst>
                <a:path w="12187555" h="114300">
                  <a:moveTo>
                    <a:pt x="12187236" y="0"/>
                  </a:moveTo>
                  <a:lnTo>
                    <a:pt x="0" y="0"/>
                  </a:lnTo>
                  <a:lnTo>
                    <a:pt x="0" y="114300"/>
                  </a:lnTo>
                  <a:lnTo>
                    <a:pt x="12187236" y="114300"/>
                  </a:lnTo>
                  <a:lnTo>
                    <a:pt x="12187236" y="0"/>
                  </a:lnTo>
                  <a:close/>
                </a:path>
              </a:pathLst>
            </a:custGeom>
            <a:solidFill>
              <a:srgbClr val="25257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5">
              <a:extLst>
                <a:ext uri="{FF2B5EF4-FFF2-40B4-BE49-F238E27FC236}">
                  <a16:creationId xmlns:a16="http://schemas.microsoft.com/office/drawing/2014/main" id="{3DF23DDF-55C2-6684-6F52-A08ACAC12CB3}"/>
                </a:ext>
              </a:extLst>
            </p:cNvPr>
            <p:cNvSpPr/>
            <p:nvPr/>
          </p:nvSpPr>
          <p:spPr>
            <a:xfrm>
              <a:off x="4763" y="833500"/>
              <a:ext cx="12187555" cy="114300"/>
            </a:xfrm>
            <a:custGeom>
              <a:avLst/>
              <a:gdLst/>
              <a:ahLst/>
              <a:cxnLst/>
              <a:rect l="l" t="t" r="r" b="b"/>
              <a:pathLst>
                <a:path w="12187555" h="114300">
                  <a:moveTo>
                    <a:pt x="12187236" y="0"/>
                  </a:moveTo>
                  <a:lnTo>
                    <a:pt x="0" y="0"/>
                  </a:lnTo>
                  <a:lnTo>
                    <a:pt x="0" y="114300"/>
                  </a:lnTo>
                  <a:lnTo>
                    <a:pt x="12187236" y="114300"/>
                  </a:lnTo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1" name="TextBox 20">
            <a:extLst>
              <a:ext uri="{FF2B5EF4-FFF2-40B4-BE49-F238E27FC236}">
                <a16:creationId xmlns:a16="http://schemas.microsoft.com/office/drawing/2014/main" id="{035C7ADC-ED14-80C1-792C-91FFAB2422F6}"/>
              </a:ext>
            </a:extLst>
          </p:cNvPr>
          <p:cNvSpPr txBox="1"/>
          <p:nvPr/>
        </p:nvSpPr>
        <p:spPr>
          <a:xfrm>
            <a:off x="4652126" y="258393"/>
            <a:ext cx="7159659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4400" b="1" dirty="0">
                <a:latin typeface="Arial Black" panose="020B0A04020102020204" pitchFamily="34" charset="0"/>
              </a:rPr>
              <a:t>Exercise Selected</a:t>
            </a:r>
          </a:p>
        </p:txBody>
      </p:sp>
      <p:sp>
        <p:nvSpPr>
          <p:cNvPr id="2" name="object 3">
            <a:extLst>
              <a:ext uri="{FF2B5EF4-FFF2-40B4-BE49-F238E27FC236}">
                <a16:creationId xmlns:a16="http://schemas.microsoft.com/office/drawing/2014/main" id="{30DA4546-0625-5725-F0B9-2E05D3422B56}"/>
              </a:ext>
            </a:extLst>
          </p:cNvPr>
          <p:cNvSpPr txBox="1"/>
          <p:nvPr/>
        </p:nvSpPr>
        <p:spPr>
          <a:xfrm>
            <a:off x="0" y="1069421"/>
            <a:ext cx="11592560" cy="5569473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lvl="1" algn="just"/>
            <a:endParaRPr lang="en-US" sz="2400" dirty="0"/>
          </a:p>
          <a:p>
            <a:pPr marL="742950" lvl="1" indent="-285750" algn="just">
              <a:buFont typeface="Arial" panose="020B0604020202020204" pitchFamily="34" charset="0"/>
              <a:buChar char="•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Grip power</a:t>
            </a:r>
          </a:p>
          <a:p>
            <a:pPr marL="742950" lvl="1" indent="-285750" algn="just">
              <a:buFont typeface="Arial" panose="020B0604020202020204" pitchFamily="34" charset="0"/>
              <a:buChar char="•"/>
            </a:pP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742950" lvl="1" indent="-285750" algn="just">
              <a:buFont typeface="Arial" panose="020B0604020202020204" pitchFamily="34" charset="0"/>
              <a:buChar char="•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Finger flexion   </a:t>
            </a:r>
          </a:p>
          <a:p>
            <a:pPr marL="742950" lvl="1" indent="-285750" algn="just">
              <a:buFont typeface="Arial" panose="020B0604020202020204" pitchFamily="34" charset="0"/>
              <a:buChar char="•"/>
            </a:pP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742950" lvl="1" indent="-285750" algn="just">
              <a:buFont typeface="Arial" panose="020B0604020202020204" pitchFamily="34" charset="0"/>
              <a:buChar char="•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Flexion </a:t>
            </a:r>
          </a:p>
          <a:p>
            <a:pPr marL="742950" lvl="1" indent="-285750" algn="just">
              <a:buFont typeface="Arial" panose="020B0604020202020204" pitchFamily="34" charset="0"/>
              <a:buChar char="•"/>
            </a:pP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742950" lvl="1" indent="-285750" algn="just">
              <a:buFont typeface="Arial" panose="020B0604020202020204" pitchFamily="34" charset="0"/>
              <a:buChar char="•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Bending of knuckle</a:t>
            </a:r>
          </a:p>
          <a:p>
            <a:pPr marL="742950" lvl="1" indent="-285750" algn="just">
              <a:buFont typeface="Arial" panose="020B0604020202020204" pitchFamily="34" charset="0"/>
              <a:buChar char="•"/>
            </a:pP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742950" lvl="1" indent="-285750" algn="just">
              <a:buFont typeface="Arial" panose="020B0604020202020204" pitchFamily="34" charset="0"/>
              <a:buChar char="•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Abduction and adduction</a:t>
            </a:r>
          </a:p>
          <a:p>
            <a:pPr marL="742950" lvl="1" indent="-285750" algn="just">
              <a:buFont typeface="Arial" panose="020B0604020202020204" pitchFamily="34" charset="0"/>
              <a:buChar char="•"/>
            </a:pP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742950" lvl="1" indent="-285750" algn="just">
              <a:buFont typeface="Arial" panose="020B0604020202020204" pitchFamily="34" charset="0"/>
              <a:buChar char="•"/>
            </a:pPr>
            <a:r>
              <a:rPr lang="en-US" sz="2400">
                <a:latin typeface="Arial" panose="020B0604020202020204" pitchFamily="34" charset="0"/>
                <a:cs typeface="Arial" panose="020B0604020202020204" pitchFamily="34" charset="0"/>
              </a:rPr>
              <a:t>Opposition</a:t>
            </a: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742950" lvl="1" indent="-285750" algn="just">
              <a:buFont typeface="Arial" panose="020B0604020202020204" pitchFamily="34" charset="0"/>
              <a:buChar char="•"/>
            </a:pP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742950" lvl="1" indent="-285750" algn="just">
              <a:buFont typeface="Arial" panose="020B0604020202020204" pitchFamily="34" charset="0"/>
              <a:buChar char="•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Thumb movement</a:t>
            </a:r>
          </a:p>
          <a:p>
            <a:pPr marL="1041400" lvl="1" indent="-571500" algn="just">
              <a:spcBef>
                <a:spcPts val="130"/>
              </a:spcBef>
              <a:buFont typeface="+mj-lt"/>
              <a:buAutoNum type="romanUcPeriod"/>
              <a:tabLst>
                <a:tab pos="469900" algn="l"/>
              </a:tabLst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100F424-781B-B5EA-F1A7-F71D993577C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59756"/>
            <a:ext cx="3827282" cy="10255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835540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4C5311-B2D8-506A-49E1-BED1A2C195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object 3">
            <a:extLst>
              <a:ext uri="{FF2B5EF4-FFF2-40B4-BE49-F238E27FC236}">
                <a16:creationId xmlns:a16="http://schemas.microsoft.com/office/drawing/2014/main" id="{6B398E5E-41D4-0389-DE5F-2150783B77ED}"/>
              </a:ext>
            </a:extLst>
          </p:cNvPr>
          <p:cNvGrpSpPr/>
          <p:nvPr/>
        </p:nvGrpSpPr>
        <p:grpSpPr>
          <a:xfrm>
            <a:off x="0" y="0"/>
            <a:ext cx="12197080" cy="123825"/>
            <a:chOff x="0" y="828738"/>
            <a:chExt cx="12197080" cy="123825"/>
          </a:xfrm>
        </p:grpSpPr>
        <p:sp>
          <p:nvSpPr>
            <p:cNvPr id="14" name="object 4">
              <a:extLst>
                <a:ext uri="{FF2B5EF4-FFF2-40B4-BE49-F238E27FC236}">
                  <a16:creationId xmlns:a16="http://schemas.microsoft.com/office/drawing/2014/main" id="{2093134D-4540-D914-7F9C-9D91E0556D48}"/>
                </a:ext>
              </a:extLst>
            </p:cNvPr>
            <p:cNvSpPr/>
            <p:nvPr/>
          </p:nvSpPr>
          <p:spPr>
            <a:xfrm>
              <a:off x="4763" y="833500"/>
              <a:ext cx="12187555" cy="114300"/>
            </a:xfrm>
            <a:custGeom>
              <a:avLst/>
              <a:gdLst/>
              <a:ahLst/>
              <a:cxnLst/>
              <a:rect l="l" t="t" r="r" b="b"/>
              <a:pathLst>
                <a:path w="12187555" h="114300">
                  <a:moveTo>
                    <a:pt x="12187236" y="0"/>
                  </a:moveTo>
                  <a:lnTo>
                    <a:pt x="0" y="0"/>
                  </a:lnTo>
                  <a:lnTo>
                    <a:pt x="0" y="114300"/>
                  </a:lnTo>
                  <a:lnTo>
                    <a:pt x="12187236" y="114300"/>
                  </a:lnTo>
                  <a:lnTo>
                    <a:pt x="12187236" y="0"/>
                  </a:lnTo>
                  <a:close/>
                </a:path>
              </a:pathLst>
            </a:custGeom>
            <a:solidFill>
              <a:srgbClr val="252573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15" name="object 5">
              <a:extLst>
                <a:ext uri="{FF2B5EF4-FFF2-40B4-BE49-F238E27FC236}">
                  <a16:creationId xmlns:a16="http://schemas.microsoft.com/office/drawing/2014/main" id="{67523065-ACBD-2C04-5B6B-E82325C45144}"/>
                </a:ext>
              </a:extLst>
            </p:cNvPr>
            <p:cNvSpPr/>
            <p:nvPr/>
          </p:nvSpPr>
          <p:spPr>
            <a:xfrm>
              <a:off x="4763" y="833500"/>
              <a:ext cx="12187555" cy="114300"/>
            </a:xfrm>
            <a:custGeom>
              <a:avLst/>
              <a:gdLst/>
              <a:ahLst/>
              <a:cxnLst/>
              <a:rect l="l" t="t" r="r" b="b"/>
              <a:pathLst>
                <a:path w="12187555" h="114300">
                  <a:moveTo>
                    <a:pt x="12187236" y="0"/>
                  </a:moveTo>
                  <a:lnTo>
                    <a:pt x="0" y="0"/>
                  </a:lnTo>
                  <a:lnTo>
                    <a:pt x="0" y="114300"/>
                  </a:lnTo>
                  <a:lnTo>
                    <a:pt x="12187236" y="114300"/>
                  </a:lnTo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6" name="object 3">
            <a:extLst>
              <a:ext uri="{FF2B5EF4-FFF2-40B4-BE49-F238E27FC236}">
                <a16:creationId xmlns:a16="http://schemas.microsoft.com/office/drawing/2014/main" id="{71C98C0E-1CC9-DC60-6151-45842899A2B8}"/>
              </a:ext>
            </a:extLst>
          </p:cNvPr>
          <p:cNvGrpSpPr/>
          <p:nvPr/>
        </p:nvGrpSpPr>
        <p:grpSpPr>
          <a:xfrm>
            <a:off x="0" y="1196383"/>
            <a:ext cx="12197080" cy="123825"/>
            <a:chOff x="0" y="828738"/>
            <a:chExt cx="12197080" cy="123825"/>
          </a:xfrm>
        </p:grpSpPr>
        <p:sp>
          <p:nvSpPr>
            <p:cNvPr id="17" name="object 4">
              <a:extLst>
                <a:ext uri="{FF2B5EF4-FFF2-40B4-BE49-F238E27FC236}">
                  <a16:creationId xmlns:a16="http://schemas.microsoft.com/office/drawing/2014/main" id="{876AB80B-B2CB-3339-5892-E7D8D77159F8}"/>
                </a:ext>
              </a:extLst>
            </p:cNvPr>
            <p:cNvSpPr/>
            <p:nvPr/>
          </p:nvSpPr>
          <p:spPr>
            <a:xfrm>
              <a:off x="4763" y="833500"/>
              <a:ext cx="12187555" cy="114300"/>
            </a:xfrm>
            <a:custGeom>
              <a:avLst/>
              <a:gdLst/>
              <a:ahLst/>
              <a:cxnLst/>
              <a:rect l="l" t="t" r="r" b="b"/>
              <a:pathLst>
                <a:path w="12187555" h="114300">
                  <a:moveTo>
                    <a:pt x="12187236" y="0"/>
                  </a:moveTo>
                  <a:lnTo>
                    <a:pt x="0" y="0"/>
                  </a:lnTo>
                  <a:lnTo>
                    <a:pt x="0" y="114300"/>
                  </a:lnTo>
                  <a:lnTo>
                    <a:pt x="12187236" y="114300"/>
                  </a:lnTo>
                  <a:lnTo>
                    <a:pt x="12187236" y="0"/>
                  </a:lnTo>
                  <a:close/>
                </a:path>
              </a:pathLst>
            </a:custGeom>
            <a:solidFill>
              <a:srgbClr val="25257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5">
              <a:extLst>
                <a:ext uri="{FF2B5EF4-FFF2-40B4-BE49-F238E27FC236}">
                  <a16:creationId xmlns:a16="http://schemas.microsoft.com/office/drawing/2014/main" id="{BFE77B74-32F7-F2C5-357F-57D5BDBB7735}"/>
                </a:ext>
              </a:extLst>
            </p:cNvPr>
            <p:cNvSpPr/>
            <p:nvPr/>
          </p:nvSpPr>
          <p:spPr>
            <a:xfrm>
              <a:off x="4763" y="833500"/>
              <a:ext cx="12187555" cy="114300"/>
            </a:xfrm>
            <a:custGeom>
              <a:avLst/>
              <a:gdLst/>
              <a:ahLst/>
              <a:cxnLst/>
              <a:rect l="l" t="t" r="r" b="b"/>
              <a:pathLst>
                <a:path w="12187555" h="114300">
                  <a:moveTo>
                    <a:pt x="12187236" y="0"/>
                  </a:moveTo>
                  <a:lnTo>
                    <a:pt x="0" y="0"/>
                  </a:lnTo>
                  <a:lnTo>
                    <a:pt x="0" y="114300"/>
                  </a:lnTo>
                  <a:lnTo>
                    <a:pt x="12187236" y="114300"/>
                  </a:lnTo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1" name="TextBox 20">
            <a:extLst>
              <a:ext uri="{FF2B5EF4-FFF2-40B4-BE49-F238E27FC236}">
                <a16:creationId xmlns:a16="http://schemas.microsoft.com/office/drawing/2014/main" id="{D2345A1F-8CE8-F1C5-EB56-B693AEDA9BA0}"/>
              </a:ext>
            </a:extLst>
          </p:cNvPr>
          <p:cNvSpPr txBox="1"/>
          <p:nvPr/>
        </p:nvSpPr>
        <p:spPr>
          <a:xfrm>
            <a:off x="4652126" y="258393"/>
            <a:ext cx="7159659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4400" b="1" dirty="0">
                <a:latin typeface="Arial Black" panose="020B0A04020102020204" pitchFamily="34" charset="0"/>
              </a:rPr>
              <a:t>Data Acquisition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FDC4D95-94FC-2B63-5BB8-CC36018B4AB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59756"/>
            <a:ext cx="3827282" cy="1025592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EBD4A2D7-DFEE-F32F-3001-F1678E70CC1D}"/>
              </a:ext>
            </a:extLst>
          </p:cNvPr>
          <p:cNvSpPr txBox="1"/>
          <p:nvPr/>
        </p:nvSpPr>
        <p:spPr>
          <a:xfrm>
            <a:off x="287516" y="1415015"/>
            <a:ext cx="11904483" cy="48936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/>
              <a:t>Data Acquisition &amp; Dataset Preparation</a:t>
            </a:r>
          </a:p>
          <a:p>
            <a:endParaRPr lang="en-US" sz="2400" b="1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Real-Time Capture: Used OpenCV with Python to capture webcam images.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Structured Classes: Defined 14 gesture classes for clear classification.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Balanced Dataset: Collected 100 images per class (1400 total) to avoid bias.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Quality Control: Used manual key capture to ensure clear and correct gestures.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Auto Organization: Script automatically saved images into class folders.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Training Ready: Created a labeled dataset ready for feature extraction and model training.</a:t>
            </a:r>
          </a:p>
        </p:txBody>
      </p:sp>
    </p:spTree>
    <p:extLst>
      <p:ext uri="{BB962C8B-B14F-4D97-AF65-F5344CB8AC3E}">
        <p14:creationId xmlns:p14="http://schemas.microsoft.com/office/powerpoint/2010/main" val="373221007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9B1798-E286-E0EB-75FF-D9AEDA9BB7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object 3">
            <a:extLst>
              <a:ext uri="{FF2B5EF4-FFF2-40B4-BE49-F238E27FC236}">
                <a16:creationId xmlns:a16="http://schemas.microsoft.com/office/drawing/2014/main" id="{0D97AD0F-1D64-BA8B-F36C-6CAB4E61E693}"/>
              </a:ext>
            </a:extLst>
          </p:cNvPr>
          <p:cNvGrpSpPr/>
          <p:nvPr/>
        </p:nvGrpSpPr>
        <p:grpSpPr>
          <a:xfrm>
            <a:off x="0" y="0"/>
            <a:ext cx="12197080" cy="123825"/>
            <a:chOff x="0" y="828738"/>
            <a:chExt cx="12197080" cy="123825"/>
          </a:xfrm>
        </p:grpSpPr>
        <p:sp>
          <p:nvSpPr>
            <p:cNvPr id="14" name="object 4">
              <a:extLst>
                <a:ext uri="{FF2B5EF4-FFF2-40B4-BE49-F238E27FC236}">
                  <a16:creationId xmlns:a16="http://schemas.microsoft.com/office/drawing/2014/main" id="{D2392ECE-450F-72B1-7387-220A515BA5BA}"/>
                </a:ext>
              </a:extLst>
            </p:cNvPr>
            <p:cNvSpPr/>
            <p:nvPr/>
          </p:nvSpPr>
          <p:spPr>
            <a:xfrm>
              <a:off x="4763" y="833500"/>
              <a:ext cx="12187555" cy="114300"/>
            </a:xfrm>
            <a:custGeom>
              <a:avLst/>
              <a:gdLst/>
              <a:ahLst/>
              <a:cxnLst/>
              <a:rect l="l" t="t" r="r" b="b"/>
              <a:pathLst>
                <a:path w="12187555" h="114300">
                  <a:moveTo>
                    <a:pt x="12187236" y="0"/>
                  </a:moveTo>
                  <a:lnTo>
                    <a:pt x="0" y="0"/>
                  </a:lnTo>
                  <a:lnTo>
                    <a:pt x="0" y="114300"/>
                  </a:lnTo>
                  <a:lnTo>
                    <a:pt x="12187236" y="114300"/>
                  </a:lnTo>
                  <a:lnTo>
                    <a:pt x="12187236" y="0"/>
                  </a:lnTo>
                  <a:close/>
                </a:path>
              </a:pathLst>
            </a:custGeom>
            <a:solidFill>
              <a:srgbClr val="252573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15" name="object 5">
              <a:extLst>
                <a:ext uri="{FF2B5EF4-FFF2-40B4-BE49-F238E27FC236}">
                  <a16:creationId xmlns:a16="http://schemas.microsoft.com/office/drawing/2014/main" id="{3905E2D2-BA39-4090-C63B-CC301C03C516}"/>
                </a:ext>
              </a:extLst>
            </p:cNvPr>
            <p:cNvSpPr/>
            <p:nvPr/>
          </p:nvSpPr>
          <p:spPr>
            <a:xfrm>
              <a:off x="4763" y="833500"/>
              <a:ext cx="12187555" cy="114300"/>
            </a:xfrm>
            <a:custGeom>
              <a:avLst/>
              <a:gdLst/>
              <a:ahLst/>
              <a:cxnLst/>
              <a:rect l="l" t="t" r="r" b="b"/>
              <a:pathLst>
                <a:path w="12187555" h="114300">
                  <a:moveTo>
                    <a:pt x="12187236" y="0"/>
                  </a:moveTo>
                  <a:lnTo>
                    <a:pt x="0" y="0"/>
                  </a:lnTo>
                  <a:lnTo>
                    <a:pt x="0" y="114300"/>
                  </a:lnTo>
                  <a:lnTo>
                    <a:pt x="12187236" y="114300"/>
                  </a:lnTo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6" name="object 3">
            <a:extLst>
              <a:ext uri="{FF2B5EF4-FFF2-40B4-BE49-F238E27FC236}">
                <a16:creationId xmlns:a16="http://schemas.microsoft.com/office/drawing/2014/main" id="{18FECA6B-86E5-5AEA-91C0-5266E569E908}"/>
              </a:ext>
            </a:extLst>
          </p:cNvPr>
          <p:cNvGrpSpPr/>
          <p:nvPr/>
        </p:nvGrpSpPr>
        <p:grpSpPr>
          <a:xfrm>
            <a:off x="0" y="1196383"/>
            <a:ext cx="12197080" cy="123825"/>
            <a:chOff x="0" y="828738"/>
            <a:chExt cx="12197080" cy="123825"/>
          </a:xfrm>
        </p:grpSpPr>
        <p:sp>
          <p:nvSpPr>
            <p:cNvPr id="17" name="object 4">
              <a:extLst>
                <a:ext uri="{FF2B5EF4-FFF2-40B4-BE49-F238E27FC236}">
                  <a16:creationId xmlns:a16="http://schemas.microsoft.com/office/drawing/2014/main" id="{9FB37D0F-1887-832E-3CB8-30FB5014BEC4}"/>
                </a:ext>
              </a:extLst>
            </p:cNvPr>
            <p:cNvSpPr/>
            <p:nvPr/>
          </p:nvSpPr>
          <p:spPr>
            <a:xfrm>
              <a:off x="4763" y="833500"/>
              <a:ext cx="12187555" cy="114300"/>
            </a:xfrm>
            <a:custGeom>
              <a:avLst/>
              <a:gdLst/>
              <a:ahLst/>
              <a:cxnLst/>
              <a:rect l="l" t="t" r="r" b="b"/>
              <a:pathLst>
                <a:path w="12187555" h="114300">
                  <a:moveTo>
                    <a:pt x="12187236" y="0"/>
                  </a:moveTo>
                  <a:lnTo>
                    <a:pt x="0" y="0"/>
                  </a:lnTo>
                  <a:lnTo>
                    <a:pt x="0" y="114300"/>
                  </a:lnTo>
                  <a:lnTo>
                    <a:pt x="12187236" y="114300"/>
                  </a:lnTo>
                  <a:lnTo>
                    <a:pt x="12187236" y="0"/>
                  </a:lnTo>
                  <a:close/>
                </a:path>
              </a:pathLst>
            </a:custGeom>
            <a:solidFill>
              <a:srgbClr val="25257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5">
              <a:extLst>
                <a:ext uri="{FF2B5EF4-FFF2-40B4-BE49-F238E27FC236}">
                  <a16:creationId xmlns:a16="http://schemas.microsoft.com/office/drawing/2014/main" id="{38BC14B9-5894-AE30-3E21-05445D52B1E4}"/>
                </a:ext>
              </a:extLst>
            </p:cNvPr>
            <p:cNvSpPr/>
            <p:nvPr/>
          </p:nvSpPr>
          <p:spPr>
            <a:xfrm>
              <a:off x="4763" y="833500"/>
              <a:ext cx="12187555" cy="114300"/>
            </a:xfrm>
            <a:custGeom>
              <a:avLst/>
              <a:gdLst/>
              <a:ahLst/>
              <a:cxnLst/>
              <a:rect l="l" t="t" r="r" b="b"/>
              <a:pathLst>
                <a:path w="12187555" h="114300">
                  <a:moveTo>
                    <a:pt x="12187236" y="0"/>
                  </a:moveTo>
                  <a:lnTo>
                    <a:pt x="0" y="0"/>
                  </a:lnTo>
                  <a:lnTo>
                    <a:pt x="0" y="114300"/>
                  </a:lnTo>
                  <a:lnTo>
                    <a:pt x="12187236" y="114300"/>
                  </a:lnTo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1" name="TextBox 20">
            <a:extLst>
              <a:ext uri="{FF2B5EF4-FFF2-40B4-BE49-F238E27FC236}">
                <a16:creationId xmlns:a16="http://schemas.microsoft.com/office/drawing/2014/main" id="{C877F04A-91A6-9B47-3582-0D43C8CF38B2}"/>
              </a:ext>
            </a:extLst>
          </p:cNvPr>
          <p:cNvSpPr txBox="1"/>
          <p:nvPr/>
        </p:nvSpPr>
        <p:spPr>
          <a:xfrm>
            <a:off x="4652126" y="258393"/>
            <a:ext cx="7159659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4400" b="1" dirty="0">
                <a:latin typeface="Arial Black" panose="020B0A04020102020204" pitchFamily="34" charset="0"/>
              </a:rPr>
              <a:t>Data Acquisition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39310C7-A2DA-8E51-562C-4C36F98A6C1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59756"/>
            <a:ext cx="3827282" cy="1025592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3A1E7267-2625-2678-41CD-CE0659CCDBE1}"/>
              </a:ext>
            </a:extLst>
          </p:cNvPr>
          <p:cNvSpPr txBox="1"/>
          <p:nvPr/>
        </p:nvSpPr>
        <p:spPr>
          <a:xfrm>
            <a:off x="2767919" y="6011996"/>
            <a:ext cx="67936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Capturing hand gesture images using a webcam for dataset creation.</a:t>
            </a:r>
            <a:endParaRPr lang="en-IN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D9422C3F-1D8E-DFDD-1C18-1D82DF2DFF5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71860" y="1414021"/>
            <a:ext cx="7431522" cy="45078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29759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56FEB2-1A21-BBB4-E60F-CD2D4C6AA5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object 3">
            <a:extLst>
              <a:ext uri="{FF2B5EF4-FFF2-40B4-BE49-F238E27FC236}">
                <a16:creationId xmlns:a16="http://schemas.microsoft.com/office/drawing/2014/main" id="{9889EA0F-1799-3BB5-E222-831E11BB1165}"/>
              </a:ext>
            </a:extLst>
          </p:cNvPr>
          <p:cNvGrpSpPr/>
          <p:nvPr/>
        </p:nvGrpSpPr>
        <p:grpSpPr>
          <a:xfrm>
            <a:off x="0" y="0"/>
            <a:ext cx="12197080" cy="123825"/>
            <a:chOff x="0" y="828738"/>
            <a:chExt cx="12197080" cy="123825"/>
          </a:xfrm>
        </p:grpSpPr>
        <p:sp>
          <p:nvSpPr>
            <p:cNvPr id="14" name="object 4">
              <a:extLst>
                <a:ext uri="{FF2B5EF4-FFF2-40B4-BE49-F238E27FC236}">
                  <a16:creationId xmlns:a16="http://schemas.microsoft.com/office/drawing/2014/main" id="{CB8DA04A-8A52-BEE2-71DE-CC1D0C626574}"/>
                </a:ext>
              </a:extLst>
            </p:cNvPr>
            <p:cNvSpPr/>
            <p:nvPr/>
          </p:nvSpPr>
          <p:spPr>
            <a:xfrm>
              <a:off x="4763" y="833500"/>
              <a:ext cx="12187555" cy="114300"/>
            </a:xfrm>
            <a:custGeom>
              <a:avLst/>
              <a:gdLst/>
              <a:ahLst/>
              <a:cxnLst/>
              <a:rect l="l" t="t" r="r" b="b"/>
              <a:pathLst>
                <a:path w="12187555" h="114300">
                  <a:moveTo>
                    <a:pt x="12187236" y="0"/>
                  </a:moveTo>
                  <a:lnTo>
                    <a:pt x="0" y="0"/>
                  </a:lnTo>
                  <a:lnTo>
                    <a:pt x="0" y="114300"/>
                  </a:lnTo>
                  <a:lnTo>
                    <a:pt x="12187236" y="114300"/>
                  </a:lnTo>
                  <a:lnTo>
                    <a:pt x="12187236" y="0"/>
                  </a:lnTo>
                  <a:close/>
                </a:path>
              </a:pathLst>
            </a:custGeom>
            <a:solidFill>
              <a:srgbClr val="252573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15" name="object 5">
              <a:extLst>
                <a:ext uri="{FF2B5EF4-FFF2-40B4-BE49-F238E27FC236}">
                  <a16:creationId xmlns:a16="http://schemas.microsoft.com/office/drawing/2014/main" id="{E3654AA1-02A9-E923-A063-77737F75671E}"/>
                </a:ext>
              </a:extLst>
            </p:cNvPr>
            <p:cNvSpPr/>
            <p:nvPr/>
          </p:nvSpPr>
          <p:spPr>
            <a:xfrm>
              <a:off x="4763" y="833500"/>
              <a:ext cx="12187555" cy="114300"/>
            </a:xfrm>
            <a:custGeom>
              <a:avLst/>
              <a:gdLst/>
              <a:ahLst/>
              <a:cxnLst/>
              <a:rect l="l" t="t" r="r" b="b"/>
              <a:pathLst>
                <a:path w="12187555" h="114300">
                  <a:moveTo>
                    <a:pt x="12187236" y="0"/>
                  </a:moveTo>
                  <a:lnTo>
                    <a:pt x="0" y="0"/>
                  </a:lnTo>
                  <a:lnTo>
                    <a:pt x="0" y="114300"/>
                  </a:lnTo>
                  <a:lnTo>
                    <a:pt x="12187236" y="114300"/>
                  </a:lnTo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6" name="object 3">
            <a:extLst>
              <a:ext uri="{FF2B5EF4-FFF2-40B4-BE49-F238E27FC236}">
                <a16:creationId xmlns:a16="http://schemas.microsoft.com/office/drawing/2014/main" id="{5AF433AC-4FC2-8555-8767-7B8862BBE9A6}"/>
              </a:ext>
            </a:extLst>
          </p:cNvPr>
          <p:cNvGrpSpPr/>
          <p:nvPr/>
        </p:nvGrpSpPr>
        <p:grpSpPr>
          <a:xfrm>
            <a:off x="0" y="1196383"/>
            <a:ext cx="12197080" cy="123825"/>
            <a:chOff x="0" y="828738"/>
            <a:chExt cx="12197080" cy="123825"/>
          </a:xfrm>
        </p:grpSpPr>
        <p:sp>
          <p:nvSpPr>
            <p:cNvPr id="17" name="object 4">
              <a:extLst>
                <a:ext uri="{FF2B5EF4-FFF2-40B4-BE49-F238E27FC236}">
                  <a16:creationId xmlns:a16="http://schemas.microsoft.com/office/drawing/2014/main" id="{8B4A453B-0B40-01F2-CABD-F1D9AD203C58}"/>
                </a:ext>
              </a:extLst>
            </p:cNvPr>
            <p:cNvSpPr/>
            <p:nvPr/>
          </p:nvSpPr>
          <p:spPr>
            <a:xfrm>
              <a:off x="4763" y="833500"/>
              <a:ext cx="12187555" cy="114300"/>
            </a:xfrm>
            <a:custGeom>
              <a:avLst/>
              <a:gdLst/>
              <a:ahLst/>
              <a:cxnLst/>
              <a:rect l="l" t="t" r="r" b="b"/>
              <a:pathLst>
                <a:path w="12187555" h="114300">
                  <a:moveTo>
                    <a:pt x="12187236" y="0"/>
                  </a:moveTo>
                  <a:lnTo>
                    <a:pt x="0" y="0"/>
                  </a:lnTo>
                  <a:lnTo>
                    <a:pt x="0" y="114300"/>
                  </a:lnTo>
                  <a:lnTo>
                    <a:pt x="12187236" y="114300"/>
                  </a:lnTo>
                  <a:lnTo>
                    <a:pt x="12187236" y="0"/>
                  </a:lnTo>
                  <a:close/>
                </a:path>
              </a:pathLst>
            </a:custGeom>
            <a:solidFill>
              <a:srgbClr val="25257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5">
              <a:extLst>
                <a:ext uri="{FF2B5EF4-FFF2-40B4-BE49-F238E27FC236}">
                  <a16:creationId xmlns:a16="http://schemas.microsoft.com/office/drawing/2014/main" id="{9695435E-8959-DDE9-6634-D8D28DC9B4A2}"/>
                </a:ext>
              </a:extLst>
            </p:cNvPr>
            <p:cNvSpPr/>
            <p:nvPr/>
          </p:nvSpPr>
          <p:spPr>
            <a:xfrm>
              <a:off x="4763" y="833500"/>
              <a:ext cx="12187555" cy="114300"/>
            </a:xfrm>
            <a:custGeom>
              <a:avLst/>
              <a:gdLst/>
              <a:ahLst/>
              <a:cxnLst/>
              <a:rect l="l" t="t" r="r" b="b"/>
              <a:pathLst>
                <a:path w="12187555" h="114300">
                  <a:moveTo>
                    <a:pt x="12187236" y="0"/>
                  </a:moveTo>
                  <a:lnTo>
                    <a:pt x="0" y="0"/>
                  </a:lnTo>
                  <a:lnTo>
                    <a:pt x="0" y="114300"/>
                  </a:lnTo>
                  <a:lnTo>
                    <a:pt x="12187236" y="114300"/>
                  </a:lnTo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1" name="TextBox 20">
            <a:extLst>
              <a:ext uri="{FF2B5EF4-FFF2-40B4-BE49-F238E27FC236}">
                <a16:creationId xmlns:a16="http://schemas.microsoft.com/office/drawing/2014/main" id="{81DE03E2-7B09-DAA9-8773-DD24E7E514C4}"/>
              </a:ext>
            </a:extLst>
          </p:cNvPr>
          <p:cNvSpPr txBox="1"/>
          <p:nvPr/>
        </p:nvSpPr>
        <p:spPr>
          <a:xfrm>
            <a:off x="4652126" y="258393"/>
            <a:ext cx="7159659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4400" b="1" dirty="0">
                <a:latin typeface="Arial Black" panose="020B0A04020102020204" pitchFamily="34" charset="0"/>
              </a:rPr>
              <a:t>Data Acquisition</a:t>
            </a:r>
          </a:p>
        </p:txBody>
      </p:sp>
      <p:sp>
        <p:nvSpPr>
          <p:cNvPr id="2" name="object 3">
            <a:extLst>
              <a:ext uri="{FF2B5EF4-FFF2-40B4-BE49-F238E27FC236}">
                <a16:creationId xmlns:a16="http://schemas.microsoft.com/office/drawing/2014/main" id="{EDA3C070-75D9-3490-7793-42286DE5F1B1}"/>
              </a:ext>
            </a:extLst>
          </p:cNvPr>
          <p:cNvSpPr txBox="1"/>
          <p:nvPr/>
        </p:nvSpPr>
        <p:spPr>
          <a:xfrm>
            <a:off x="155723" y="1425020"/>
            <a:ext cx="11732262" cy="737381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  <a:tabLst>
                <a:tab pos="469900" algn="l"/>
              </a:tabLst>
            </a:pPr>
            <a:r>
              <a:rPr lang="en-US" altLang="en-US" sz="2000" b="1" dirty="0">
                <a:latin typeface="Arial" panose="020B0604020202020204" pitchFamily="34" charset="0"/>
              </a:rPr>
              <a:t>Real time Data Acquisition:</a:t>
            </a:r>
            <a:endParaRPr lang="en-US" sz="2000" dirty="0">
              <a:latin typeface="Arial MT"/>
              <a:cs typeface="Arial MT"/>
            </a:endParaRPr>
          </a:p>
          <a:p>
            <a:pPr marL="12700">
              <a:spcBef>
                <a:spcPts val="130"/>
              </a:spcBef>
              <a:tabLst>
                <a:tab pos="469900" algn="l"/>
              </a:tabLst>
            </a:pPr>
            <a:endParaRPr lang="en-US" altLang="en-US" sz="2600" dirty="0">
              <a:latin typeface="Arial" panose="020B06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3D9B296-DDDD-24DC-37FB-8BEEF6F62C5A}"/>
              </a:ext>
            </a:extLst>
          </p:cNvPr>
          <p:cNvSpPr txBox="1"/>
          <p:nvPr/>
        </p:nvSpPr>
        <p:spPr>
          <a:xfrm>
            <a:off x="477520" y="3718560"/>
            <a:ext cx="23647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Abduction &amp; adduction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A7E6A54-0927-BB3A-EC36-1892B2EB8B5F}"/>
              </a:ext>
            </a:extLst>
          </p:cNvPr>
          <p:cNvSpPr txBox="1"/>
          <p:nvPr/>
        </p:nvSpPr>
        <p:spPr>
          <a:xfrm>
            <a:off x="497840" y="6180574"/>
            <a:ext cx="24587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Bending of Knuckle 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63BE534-E09D-1EE8-52A7-BDA57CDCCAE2}"/>
              </a:ext>
            </a:extLst>
          </p:cNvPr>
          <p:cNvSpPr txBox="1"/>
          <p:nvPr/>
        </p:nvSpPr>
        <p:spPr>
          <a:xfrm>
            <a:off x="4165600" y="3718560"/>
            <a:ext cx="14873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Finger Flexion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A01387DA-D5E4-B01B-C442-121A2781F5C4}"/>
              </a:ext>
            </a:extLst>
          </p:cNvPr>
          <p:cNvSpPr txBox="1"/>
          <p:nvPr/>
        </p:nvSpPr>
        <p:spPr>
          <a:xfrm>
            <a:off x="4450080" y="6217920"/>
            <a:ext cx="85125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Flexion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79B00E7C-02B9-D433-2D7B-E8F8E8FB12AE}"/>
              </a:ext>
            </a:extLst>
          </p:cNvPr>
          <p:cNvSpPr txBox="1"/>
          <p:nvPr/>
        </p:nvSpPr>
        <p:spPr>
          <a:xfrm>
            <a:off x="7223760" y="3728720"/>
            <a:ext cx="121860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Opposition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717E8ADC-8E67-D607-A0AA-F508C7F336E2}"/>
              </a:ext>
            </a:extLst>
          </p:cNvPr>
          <p:cNvSpPr txBox="1"/>
          <p:nvPr/>
        </p:nvSpPr>
        <p:spPr>
          <a:xfrm>
            <a:off x="7175500" y="6231989"/>
            <a:ext cx="22733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Thumb Movement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7620093C-8434-E256-81A4-AEA411C6875C}"/>
              </a:ext>
            </a:extLst>
          </p:cNvPr>
          <p:cNvSpPr txBox="1"/>
          <p:nvPr/>
        </p:nvSpPr>
        <p:spPr>
          <a:xfrm>
            <a:off x="10078720" y="3698240"/>
            <a:ext cx="123187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Grip Power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5850BAE-AF87-A69B-7886-A918BFB3A48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50329"/>
            <a:ext cx="3827282" cy="1025592"/>
          </a:xfrm>
          <a:prstGeom prst="rect">
            <a:avLst/>
          </a:prstGeom>
        </p:spPr>
      </p:pic>
      <p:pic>
        <p:nvPicPr>
          <p:cNvPr id="30" name="Picture 29">
            <a:extLst>
              <a:ext uri="{FF2B5EF4-FFF2-40B4-BE49-F238E27FC236}">
                <a16:creationId xmlns:a16="http://schemas.microsoft.com/office/drawing/2014/main" id="{888B81EC-C838-DF65-0EC6-C7280FCF053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72713" y="1812576"/>
            <a:ext cx="2666887" cy="1859357"/>
          </a:xfrm>
          <a:prstGeom prst="rect">
            <a:avLst/>
          </a:prstGeom>
        </p:spPr>
      </p:pic>
      <p:pic>
        <p:nvPicPr>
          <p:cNvPr id="37" name="Picture 36">
            <a:extLst>
              <a:ext uri="{FF2B5EF4-FFF2-40B4-BE49-F238E27FC236}">
                <a16:creationId xmlns:a16="http://schemas.microsoft.com/office/drawing/2014/main" id="{7ED75186-0F1E-5EB2-D5EA-12DA714880A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191414" y="1828800"/>
            <a:ext cx="2854624" cy="1889760"/>
          </a:xfrm>
          <a:prstGeom prst="rect">
            <a:avLst/>
          </a:prstGeom>
        </p:spPr>
      </p:pic>
      <p:pic>
        <p:nvPicPr>
          <p:cNvPr id="39" name="Picture 38">
            <a:extLst>
              <a:ext uri="{FF2B5EF4-FFF2-40B4-BE49-F238E27FC236}">
                <a16:creationId xmlns:a16="http://schemas.microsoft.com/office/drawing/2014/main" id="{5A2F418F-217F-687A-5AE7-D6DDB17BD895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b="6743"/>
          <a:stretch>
            <a:fillRect/>
          </a:stretch>
        </p:blipFill>
        <p:spPr>
          <a:xfrm>
            <a:off x="6360160" y="1808480"/>
            <a:ext cx="2784972" cy="1879600"/>
          </a:xfrm>
          <a:prstGeom prst="rect">
            <a:avLst/>
          </a:prstGeom>
        </p:spPr>
      </p:pic>
      <p:pic>
        <p:nvPicPr>
          <p:cNvPr id="41" name="Picture 40">
            <a:extLst>
              <a:ext uri="{FF2B5EF4-FFF2-40B4-BE49-F238E27FC236}">
                <a16:creationId xmlns:a16="http://schemas.microsoft.com/office/drawing/2014/main" id="{69FD65D2-7660-F98F-7F46-97C767B1F0B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93522" y="1818640"/>
            <a:ext cx="2774035" cy="1902499"/>
          </a:xfrm>
          <a:prstGeom prst="rect">
            <a:avLst/>
          </a:prstGeom>
        </p:spPr>
      </p:pic>
      <p:pic>
        <p:nvPicPr>
          <p:cNvPr id="43" name="Picture 42">
            <a:extLst>
              <a:ext uri="{FF2B5EF4-FFF2-40B4-BE49-F238E27FC236}">
                <a16:creationId xmlns:a16="http://schemas.microsoft.com/office/drawing/2014/main" id="{7920663E-8043-CC08-6F75-70F97C0677F4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413759" y="4087469"/>
            <a:ext cx="2854961" cy="2130296"/>
          </a:xfrm>
          <a:prstGeom prst="rect">
            <a:avLst/>
          </a:prstGeom>
        </p:spPr>
      </p:pic>
      <p:pic>
        <p:nvPicPr>
          <p:cNvPr id="45" name="Picture 44">
            <a:extLst>
              <a:ext uri="{FF2B5EF4-FFF2-40B4-BE49-F238E27FC236}">
                <a16:creationId xmlns:a16="http://schemas.microsoft.com/office/drawing/2014/main" id="{E0413178-DAE3-CB8B-80A0-40A582500533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27296" y="4257040"/>
            <a:ext cx="3031861" cy="1884058"/>
          </a:xfrm>
          <a:prstGeom prst="rect">
            <a:avLst/>
          </a:prstGeom>
        </p:spPr>
      </p:pic>
      <p:pic>
        <p:nvPicPr>
          <p:cNvPr id="47" name="Picture 46">
            <a:extLst>
              <a:ext uri="{FF2B5EF4-FFF2-40B4-BE49-F238E27FC236}">
                <a16:creationId xmlns:a16="http://schemas.microsoft.com/office/drawing/2014/main" id="{8DA43252-790C-7642-6AA0-5A94ABCFB993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522720" y="4151255"/>
            <a:ext cx="3028518" cy="20228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108090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A4824F-E20C-520C-52EB-FD68A1DC03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object 3">
            <a:extLst>
              <a:ext uri="{FF2B5EF4-FFF2-40B4-BE49-F238E27FC236}">
                <a16:creationId xmlns:a16="http://schemas.microsoft.com/office/drawing/2014/main" id="{713FB6CE-4B43-51DD-EF0D-4CBB80472882}"/>
              </a:ext>
            </a:extLst>
          </p:cNvPr>
          <p:cNvGrpSpPr/>
          <p:nvPr/>
        </p:nvGrpSpPr>
        <p:grpSpPr>
          <a:xfrm>
            <a:off x="0" y="0"/>
            <a:ext cx="12197080" cy="123825"/>
            <a:chOff x="0" y="828738"/>
            <a:chExt cx="12197080" cy="123825"/>
          </a:xfrm>
        </p:grpSpPr>
        <p:sp>
          <p:nvSpPr>
            <p:cNvPr id="14" name="object 4">
              <a:extLst>
                <a:ext uri="{FF2B5EF4-FFF2-40B4-BE49-F238E27FC236}">
                  <a16:creationId xmlns:a16="http://schemas.microsoft.com/office/drawing/2014/main" id="{33D4FE94-C2BB-F260-DD17-1C3B5A41B2AE}"/>
                </a:ext>
              </a:extLst>
            </p:cNvPr>
            <p:cNvSpPr/>
            <p:nvPr/>
          </p:nvSpPr>
          <p:spPr>
            <a:xfrm>
              <a:off x="4763" y="833500"/>
              <a:ext cx="12187555" cy="114300"/>
            </a:xfrm>
            <a:custGeom>
              <a:avLst/>
              <a:gdLst/>
              <a:ahLst/>
              <a:cxnLst/>
              <a:rect l="l" t="t" r="r" b="b"/>
              <a:pathLst>
                <a:path w="12187555" h="114300">
                  <a:moveTo>
                    <a:pt x="12187236" y="0"/>
                  </a:moveTo>
                  <a:lnTo>
                    <a:pt x="0" y="0"/>
                  </a:lnTo>
                  <a:lnTo>
                    <a:pt x="0" y="114300"/>
                  </a:lnTo>
                  <a:lnTo>
                    <a:pt x="12187236" y="114300"/>
                  </a:lnTo>
                  <a:lnTo>
                    <a:pt x="12187236" y="0"/>
                  </a:lnTo>
                  <a:close/>
                </a:path>
              </a:pathLst>
            </a:custGeom>
            <a:solidFill>
              <a:srgbClr val="252573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15" name="object 5">
              <a:extLst>
                <a:ext uri="{FF2B5EF4-FFF2-40B4-BE49-F238E27FC236}">
                  <a16:creationId xmlns:a16="http://schemas.microsoft.com/office/drawing/2014/main" id="{351CDAE1-4CF1-21A0-4253-30273D2707E9}"/>
                </a:ext>
              </a:extLst>
            </p:cNvPr>
            <p:cNvSpPr/>
            <p:nvPr/>
          </p:nvSpPr>
          <p:spPr>
            <a:xfrm>
              <a:off x="4763" y="833500"/>
              <a:ext cx="12187555" cy="114300"/>
            </a:xfrm>
            <a:custGeom>
              <a:avLst/>
              <a:gdLst/>
              <a:ahLst/>
              <a:cxnLst/>
              <a:rect l="l" t="t" r="r" b="b"/>
              <a:pathLst>
                <a:path w="12187555" h="114300">
                  <a:moveTo>
                    <a:pt x="12187236" y="0"/>
                  </a:moveTo>
                  <a:lnTo>
                    <a:pt x="0" y="0"/>
                  </a:lnTo>
                  <a:lnTo>
                    <a:pt x="0" y="114300"/>
                  </a:lnTo>
                  <a:lnTo>
                    <a:pt x="12187236" y="114300"/>
                  </a:lnTo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6" name="object 3">
            <a:extLst>
              <a:ext uri="{FF2B5EF4-FFF2-40B4-BE49-F238E27FC236}">
                <a16:creationId xmlns:a16="http://schemas.microsoft.com/office/drawing/2014/main" id="{FE32D49E-75F0-839F-BC1D-CEA40CF5A619}"/>
              </a:ext>
            </a:extLst>
          </p:cNvPr>
          <p:cNvGrpSpPr/>
          <p:nvPr/>
        </p:nvGrpSpPr>
        <p:grpSpPr>
          <a:xfrm>
            <a:off x="0" y="1196383"/>
            <a:ext cx="12197080" cy="123825"/>
            <a:chOff x="0" y="828738"/>
            <a:chExt cx="12197080" cy="123825"/>
          </a:xfrm>
        </p:grpSpPr>
        <p:sp>
          <p:nvSpPr>
            <p:cNvPr id="17" name="object 4">
              <a:extLst>
                <a:ext uri="{FF2B5EF4-FFF2-40B4-BE49-F238E27FC236}">
                  <a16:creationId xmlns:a16="http://schemas.microsoft.com/office/drawing/2014/main" id="{5EC4F622-A30F-E79E-ABFE-55D9B92AC802}"/>
                </a:ext>
              </a:extLst>
            </p:cNvPr>
            <p:cNvSpPr/>
            <p:nvPr/>
          </p:nvSpPr>
          <p:spPr>
            <a:xfrm>
              <a:off x="4763" y="833500"/>
              <a:ext cx="12187555" cy="114300"/>
            </a:xfrm>
            <a:custGeom>
              <a:avLst/>
              <a:gdLst/>
              <a:ahLst/>
              <a:cxnLst/>
              <a:rect l="l" t="t" r="r" b="b"/>
              <a:pathLst>
                <a:path w="12187555" h="114300">
                  <a:moveTo>
                    <a:pt x="12187236" y="0"/>
                  </a:moveTo>
                  <a:lnTo>
                    <a:pt x="0" y="0"/>
                  </a:lnTo>
                  <a:lnTo>
                    <a:pt x="0" y="114300"/>
                  </a:lnTo>
                  <a:lnTo>
                    <a:pt x="12187236" y="114300"/>
                  </a:lnTo>
                  <a:lnTo>
                    <a:pt x="12187236" y="0"/>
                  </a:lnTo>
                  <a:close/>
                </a:path>
              </a:pathLst>
            </a:custGeom>
            <a:solidFill>
              <a:srgbClr val="25257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5">
              <a:extLst>
                <a:ext uri="{FF2B5EF4-FFF2-40B4-BE49-F238E27FC236}">
                  <a16:creationId xmlns:a16="http://schemas.microsoft.com/office/drawing/2014/main" id="{22470D46-D092-6E1E-103E-DE322E871A40}"/>
                </a:ext>
              </a:extLst>
            </p:cNvPr>
            <p:cNvSpPr/>
            <p:nvPr/>
          </p:nvSpPr>
          <p:spPr>
            <a:xfrm>
              <a:off x="4763" y="833500"/>
              <a:ext cx="12187555" cy="114300"/>
            </a:xfrm>
            <a:custGeom>
              <a:avLst/>
              <a:gdLst/>
              <a:ahLst/>
              <a:cxnLst/>
              <a:rect l="l" t="t" r="r" b="b"/>
              <a:pathLst>
                <a:path w="12187555" h="114300">
                  <a:moveTo>
                    <a:pt x="12187236" y="0"/>
                  </a:moveTo>
                  <a:lnTo>
                    <a:pt x="0" y="0"/>
                  </a:lnTo>
                  <a:lnTo>
                    <a:pt x="0" y="114300"/>
                  </a:lnTo>
                  <a:lnTo>
                    <a:pt x="12187236" y="114300"/>
                  </a:lnTo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1" name="TextBox 20">
            <a:extLst>
              <a:ext uri="{FF2B5EF4-FFF2-40B4-BE49-F238E27FC236}">
                <a16:creationId xmlns:a16="http://schemas.microsoft.com/office/drawing/2014/main" id="{8FE9C59E-8ABB-55F2-92C0-2425D08A6D80}"/>
              </a:ext>
            </a:extLst>
          </p:cNvPr>
          <p:cNvSpPr txBox="1"/>
          <p:nvPr/>
        </p:nvSpPr>
        <p:spPr>
          <a:xfrm>
            <a:off x="4652126" y="258393"/>
            <a:ext cx="7159659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4400" b="1" dirty="0">
                <a:latin typeface="Arial Black" panose="020B0A04020102020204" pitchFamily="34" charset="0"/>
              </a:rPr>
              <a:t>Data Acquisition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CD3BD47-4F80-93E9-18CC-81987A6A512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59756"/>
            <a:ext cx="3827282" cy="1025592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F2F2E6BC-DB25-761D-C733-DC0EC33F1AA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9208" y="1862808"/>
            <a:ext cx="5737520" cy="3196872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BA3158C2-3B0B-C78B-278C-3965AFC50BCB}"/>
              </a:ext>
            </a:extLst>
          </p:cNvPr>
          <p:cNvSpPr txBox="1"/>
          <p:nvPr/>
        </p:nvSpPr>
        <p:spPr>
          <a:xfrm>
            <a:off x="2869728" y="5585556"/>
            <a:ext cx="704653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Capturing 100 hand gesture images per exercise in separate folders</a:t>
            </a:r>
            <a:endParaRPr lang="en-IN" dirty="0"/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87025905-55E9-A187-12C2-ADD0479DDAE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73520" y="1858524"/>
            <a:ext cx="5225370" cy="33364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882949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25193F-483E-510B-BA15-F3A63AE5C3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object 3">
            <a:extLst>
              <a:ext uri="{FF2B5EF4-FFF2-40B4-BE49-F238E27FC236}">
                <a16:creationId xmlns:a16="http://schemas.microsoft.com/office/drawing/2014/main" id="{8722C59F-F667-240F-F911-491B13509DAD}"/>
              </a:ext>
            </a:extLst>
          </p:cNvPr>
          <p:cNvGrpSpPr/>
          <p:nvPr/>
        </p:nvGrpSpPr>
        <p:grpSpPr>
          <a:xfrm>
            <a:off x="0" y="0"/>
            <a:ext cx="12197080" cy="123825"/>
            <a:chOff x="0" y="828738"/>
            <a:chExt cx="12197080" cy="123825"/>
          </a:xfrm>
        </p:grpSpPr>
        <p:sp>
          <p:nvSpPr>
            <p:cNvPr id="14" name="object 4">
              <a:extLst>
                <a:ext uri="{FF2B5EF4-FFF2-40B4-BE49-F238E27FC236}">
                  <a16:creationId xmlns:a16="http://schemas.microsoft.com/office/drawing/2014/main" id="{58D39494-F3C0-1E3B-4175-21AB34D251A1}"/>
                </a:ext>
              </a:extLst>
            </p:cNvPr>
            <p:cNvSpPr/>
            <p:nvPr/>
          </p:nvSpPr>
          <p:spPr>
            <a:xfrm>
              <a:off x="4763" y="833500"/>
              <a:ext cx="12187555" cy="114300"/>
            </a:xfrm>
            <a:custGeom>
              <a:avLst/>
              <a:gdLst/>
              <a:ahLst/>
              <a:cxnLst/>
              <a:rect l="l" t="t" r="r" b="b"/>
              <a:pathLst>
                <a:path w="12187555" h="114300">
                  <a:moveTo>
                    <a:pt x="12187236" y="0"/>
                  </a:moveTo>
                  <a:lnTo>
                    <a:pt x="0" y="0"/>
                  </a:lnTo>
                  <a:lnTo>
                    <a:pt x="0" y="114300"/>
                  </a:lnTo>
                  <a:lnTo>
                    <a:pt x="12187236" y="114300"/>
                  </a:lnTo>
                  <a:lnTo>
                    <a:pt x="12187236" y="0"/>
                  </a:lnTo>
                  <a:close/>
                </a:path>
              </a:pathLst>
            </a:custGeom>
            <a:solidFill>
              <a:srgbClr val="252573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15" name="object 5">
              <a:extLst>
                <a:ext uri="{FF2B5EF4-FFF2-40B4-BE49-F238E27FC236}">
                  <a16:creationId xmlns:a16="http://schemas.microsoft.com/office/drawing/2014/main" id="{1B4B83B0-1187-F3E3-CA2D-E2312F4B8691}"/>
                </a:ext>
              </a:extLst>
            </p:cNvPr>
            <p:cNvSpPr/>
            <p:nvPr/>
          </p:nvSpPr>
          <p:spPr>
            <a:xfrm>
              <a:off x="4763" y="833500"/>
              <a:ext cx="12187555" cy="114300"/>
            </a:xfrm>
            <a:custGeom>
              <a:avLst/>
              <a:gdLst/>
              <a:ahLst/>
              <a:cxnLst/>
              <a:rect l="l" t="t" r="r" b="b"/>
              <a:pathLst>
                <a:path w="12187555" h="114300">
                  <a:moveTo>
                    <a:pt x="12187236" y="0"/>
                  </a:moveTo>
                  <a:lnTo>
                    <a:pt x="0" y="0"/>
                  </a:lnTo>
                  <a:lnTo>
                    <a:pt x="0" y="114300"/>
                  </a:lnTo>
                  <a:lnTo>
                    <a:pt x="12187236" y="114300"/>
                  </a:lnTo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6" name="object 3">
            <a:extLst>
              <a:ext uri="{FF2B5EF4-FFF2-40B4-BE49-F238E27FC236}">
                <a16:creationId xmlns:a16="http://schemas.microsoft.com/office/drawing/2014/main" id="{73188B6C-23CA-337D-C06E-FAA7BA32E53B}"/>
              </a:ext>
            </a:extLst>
          </p:cNvPr>
          <p:cNvGrpSpPr/>
          <p:nvPr/>
        </p:nvGrpSpPr>
        <p:grpSpPr>
          <a:xfrm>
            <a:off x="0" y="1196383"/>
            <a:ext cx="12197080" cy="123825"/>
            <a:chOff x="0" y="828738"/>
            <a:chExt cx="12197080" cy="123825"/>
          </a:xfrm>
        </p:grpSpPr>
        <p:sp>
          <p:nvSpPr>
            <p:cNvPr id="17" name="object 4">
              <a:extLst>
                <a:ext uri="{FF2B5EF4-FFF2-40B4-BE49-F238E27FC236}">
                  <a16:creationId xmlns:a16="http://schemas.microsoft.com/office/drawing/2014/main" id="{FBA67575-0E25-E7FD-28CE-7FC99F367B81}"/>
                </a:ext>
              </a:extLst>
            </p:cNvPr>
            <p:cNvSpPr/>
            <p:nvPr/>
          </p:nvSpPr>
          <p:spPr>
            <a:xfrm>
              <a:off x="4763" y="833500"/>
              <a:ext cx="12187555" cy="114300"/>
            </a:xfrm>
            <a:custGeom>
              <a:avLst/>
              <a:gdLst/>
              <a:ahLst/>
              <a:cxnLst/>
              <a:rect l="l" t="t" r="r" b="b"/>
              <a:pathLst>
                <a:path w="12187555" h="114300">
                  <a:moveTo>
                    <a:pt x="12187236" y="0"/>
                  </a:moveTo>
                  <a:lnTo>
                    <a:pt x="0" y="0"/>
                  </a:lnTo>
                  <a:lnTo>
                    <a:pt x="0" y="114300"/>
                  </a:lnTo>
                  <a:lnTo>
                    <a:pt x="12187236" y="114300"/>
                  </a:lnTo>
                  <a:lnTo>
                    <a:pt x="12187236" y="0"/>
                  </a:lnTo>
                  <a:close/>
                </a:path>
              </a:pathLst>
            </a:custGeom>
            <a:solidFill>
              <a:srgbClr val="25257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5">
              <a:extLst>
                <a:ext uri="{FF2B5EF4-FFF2-40B4-BE49-F238E27FC236}">
                  <a16:creationId xmlns:a16="http://schemas.microsoft.com/office/drawing/2014/main" id="{F8888FFB-21EE-B031-D8BC-21C486CA283E}"/>
                </a:ext>
              </a:extLst>
            </p:cNvPr>
            <p:cNvSpPr/>
            <p:nvPr/>
          </p:nvSpPr>
          <p:spPr>
            <a:xfrm>
              <a:off x="4763" y="833500"/>
              <a:ext cx="12187555" cy="114300"/>
            </a:xfrm>
            <a:custGeom>
              <a:avLst/>
              <a:gdLst/>
              <a:ahLst/>
              <a:cxnLst/>
              <a:rect l="l" t="t" r="r" b="b"/>
              <a:pathLst>
                <a:path w="12187555" h="114300">
                  <a:moveTo>
                    <a:pt x="12187236" y="0"/>
                  </a:moveTo>
                  <a:lnTo>
                    <a:pt x="0" y="0"/>
                  </a:lnTo>
                  <a:lnTo>
                    <a:pt x="0" y="114300"/>
                  </a:lnTo>
                  <a:lnTo>
                    <a:pt x="12187236" y="114300"/>
                  </a:lnTo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1" name="TextBox 20">
            <a:extLst>
              <a:ext uri="{FF2B5EF4-FFF2-40B4-BE49-F238E27FC236}">
                <a16:creationId xmlns:a16="http://schemas.microsoft.com/office/drawing/2014/main" id="{DA4B92E5-280E-B137-29BF-EFDC6C13F711}"/>
              </a:ext>
            </a:extLst>
          </p:cNvPr>
          <p:cNvSpPr txBox="1"/>
          <p:nvPr/>
        </p:nvSpPr>
        <p:spPr>
          <a:xfrm>
            <a:off x="4501296" y="273377"/>
            <a:ext cx="7690704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4000" b="1" dirty="0">
                <a:latin typeface="Arial Black" panose="020B0A04020102020204" pitchFamily="34" charset="0"/>
              </a:rPr>
              <a:t>Feature Normalization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7E70D03-6AD5-3CA2-95DA-1899246E3DC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59756"/>
            <a:ext cx="3827282" cy="1025592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115D6FDE-E2EF-E7E2-D51C-D1A6FDFE1F56}"/>
              </a:ext>
            </a:extLst>
          </p:cNvPr>
          <p:cNvSpPr txBox="1"/>
          <p:nvPr/>
        </p:nvSpPr>
        <p:spPr>
          <a:xfrm>
            <a:off x="348792" y="1470582"/>
            <a:ext cx="10671142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b="1" dirty="0"/>
              <a:t>Feature Extraction &amp; Data Processing</a:t>
            </a:r>
          </a:p>
          <a:p>
            <a:pPr>
              <a:buNone/>
            </a:pPr>
            <a:endParaRPr lang="en-US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Structured Dataset: Images stored in labeled folders for supervised learning.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Hand Landmark Detection: Used </a:t>
            </a:r>
            <a:r>
              <a:rPr lang="en-US" sz="2400" dirty="0" err="1"/>
              <a:t>MediaPipe</a:t>
            </a:r>
            <a:r>
              <a:rPr lang="en-US" sz="2400" dirty="0"/>
              <a:t> Hands to detect 21 hand landmarks.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Feature Creation: Extracted 42 features (x, y coordinates) to represent hand shape.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Data Cleaning: Removed images where no hand landmarks were detected.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Efficient Storage: Saved processed data in a Pickle file for faster training.</a:t>
            </a:r>
          </a:p>
        </p:txBody>
      </p:sp>
    </p:spTree>
    <p:extLst>
      <p:ext uri="{BB962C8B-B14F-4D97-AF65-F5344CB8AC3E}">
        <p14:creationId xmlns:p14="http://schemas.microsoft.com/office/powerpoint/2010/main" val="121740182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A7C1A0-1F17-886B-363F-2F921A6FD1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object 3">
            <a:extLst>
              <a:ext uri="{FF2B5EF4-FFF2-40B4-BE49-F238E27FC236}">
                <a16:creationId xmlns:a16="http://schemas.microsoft.com/office/drawing/2014/main" id="{3A67F6C5-4214-763E-09F3-F1E981CC4C6F}"/>
              </a:ext>
            </a:extLst>
          </p:cNvPr>
          <p:cNvGrpSpPr/>
          <p:nvPr/>
        </p:nvGrpSpPr>
        <p:grpSpPr>
          <a:xfrm>
            <a:off x="0" y="0"/>
            <a:ext cx="12197080" cy="123825"/>
            <a:chOff x="0" y="828738"/>
            <a:chExt cx="12197080" cy="123825"/>
          </a:xfrm>
        </p:grpSpPr>
        <p:sp>
          <p:nvSpPr>
            <p:cNvPr id="14" name="object 4">
              <a:extLst>
                <a:ext uri="{FF2B5EF4-FFF2-40B4-BE49-F238E27FC236}">
                  <a16:creationId xmlns:a16="http://schemas.microsoft.com/office/drawing/2014/main" id="{B2ED7F8B-AEEA-2D22-04AA-556FF8F84933}"/>
                </a:ext>
              </a:extLst>
            </p:cNvPr>
            <p:cNvSpPr/>
            <p:nvPr/>
          </p:nvSpPr>
          <p:spPr>
            <a:xfrm>
              <a:off x="4763" y="833500"/>
              <a:ext cx="12187555" cy="114300"/>
            </a:xfrm>
            <a:custGeom>
              <a:avLst/>
              <a:gdLst/>
              <a:ahLst/>
              <a:cxnLst/>
              <a:rect l="l" t="t" r="r" b="b"/>
              <a:pathLst>
                <a:path w="12187555" h="114300">
                  <a:moveTo>
                    <a:pt x="12187236" y="0"/>
                  </a:moveTo>
                  <a:lnTo>
                    <a:pt x="0" y="0"/>
                  </a:lnTo>
                  <a:lnTo>
                    <a:pt x="0" y="114300"/>
                  </a:lnTo>
                  <a:lnTo>
                    <a:pt x="12187236" y="114300"/>
                  </a:lnTo>
                  <a:lnTo>
                    <a:pt x="12187236" y="0"/>
                  </a:lnTo>
                  <a:close/>
                </a:path>
              </a:pathLst>
            </a:custGeom>
            <a:solidFill>
              <a:srgbClr val="252573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15" name="object 5">
              <a:extLst>
                <a:ext uri="{FF2B5EF4-FFF2-40B4-BE49-F238E27FC236}">
                  <a16:creationId xmlns:a16="http://schemas.microsoft.com/office/drawing/2014/main" id="{654F7EE1-ADED-90AF-FE3F-C35F18E9512C}"/>
                </a:ext>
              </a:extLst>
            </p:cNvPr>
            <p:cNvSpPr/>
            <p:nvPr/>
          </p:nvSpPr>
          <p:spPr>
            <a:xfrm>
              <a:off x="4763" y="833500"/>
              <a:ext cx="12187555" cy="114300"/>
            </a:xfrm>
            <a:custGeom>
              <a:avLst/>
              <a:gdLst/>
              <a:ahLst/>
              <a:cxnLst/>
              <a:rect l="l" t="t" r="r" b="b"/>
              <a:pathLst>
                <a:path w="12187555" h="114300">
                  <a:moveTo>
                    <a:pt x="12187236" y="0"/>
                  </a:moveTo>
                  <a:lnTo>
                    <a:pt x="0" y="0"/>
                  </a:lnTo>
                  <a:lnTo>
                    <a:pt x="0" y="114300"/>
                  </a:lnTo>
                  <a:lnTo>
                    <a:pt x="12187236" y="114300"/>
                  </a:lnTo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6" name="object 3">
            <a:extLst>
              <a:ext uri="{FF2B5EF4-FFF2-40B4-BE49-F238E27FC236}">
                <a16:creationId xmlns:a16="http://schemas.microsoft.com/office/drawing/2014/main" id="{F74F4270-031B-AD29-9167-E2DB6F5EF886}"/>
              </a:ext>
            </a:extLst>
          </p:cNvPr>
          <p:cNvGrpSpPr/>
          <p:nvPr/>
        </p:nvGrpSpPr>
        <p:grpSpPr>
          <a:xfrm>
            <a:off x="0" y="1196383"/>
            <a:ext cx="12197080" cy="123825"/>
            <a:chOff x="0" y="828738"/>
            <a:chExt cx="12197080" cy="123825"/>
          </a:xfrm>
        </p:grpSpPr>
        <p:sp>
          <p:nvSpPr>
            <p:cNvPr id="17" name="object 4">
              <a:extLst>
                <a:ext uri="{FF2B5EF4-FFF2-40B4-BE49-F238E27FC236}">
                  <a16:creationId xmlns:a16="http://schemas.microsoft.com/office/drawing/2014/main" id="{E2112E72-49CA-5370-1824-C4746D133274}"/>
                </a:ext>
              </a:extLst>
            </p:cNvPr>
            <p:cNvSpPr/>
            <p:nvPr/>
          </p:nvSpPr>
          <p:spPr>
            <a:xfrm>
              <a:off x="4763" y="833500"/>
              <a:ext cx="12187555" cy="114300"/>
            </a:xfrm>
            <a:custGeom>
              <a:avLst/>
              <a:gdLst/>
              <a:ahLst/>
              <a:cxnLst/>
              <a:rect l="l" t="t" r="r" b="b"/>
              <a:pathLst>
                <a:path w="12187555" h="114300">
                  <a:moveTo>
                    <a:pt x="12187236" y="0"/>
                  </a:moveTo>
                  <a:lnTo>
                    <a:pt x="0" y="0"/>
                  </a:lnTo>
                  <a:lnTo>
                    <a:pt x="0" y="114300"/>
                  </a:lnTo>
                  <a:lnTo>
                    <a:pt x="12187236" y="114300"/>
                  </a:lnTo>
                  <a:lnTo>
                    <a:pt x="12187236" y="0"/>
                  </a:lnTo>
                  <a:close/>
                </a:path>
              </a:pathLst>
            </a:custGeom>
            <a:solidFill>
              <a:srgbClr val="25257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5">
              <a:extLst>
                <a:ext uri="{FF2B5EF4-FFF2-40B4-BE49-F238E27FC236}">
                  <a16:creationId xmlns:a16="http://schemas.microsoft.com/office/drawing/2014/main" id="{3923C659-08D8-CDF1-3E85-9A78F73249BA}"/>
                </a:ext>
              </a:extLst>
            </p:cNvPr>
            <p:cNvSpPr/>
            <p:nvPr/>
          </p:nvSpPr>
          <p:spPr>
            <a:xfrm>
              <a:off x="4763" y="833500"/>
              <a:ext cx="12187555" cy="114300"/>
            </a:xfrm>
            <a:custGeom>
              <a:avLst/>
              <a:gdLst/>
              <a:ahLst/>
              <a:cxnLst/>
              <a:rect l="l" t="t" r="r" b="b"/>
              <a:pathLst>
                <a:path w="12187555" h="114300">
                  <a:moveTo>
                    <a:pt x="12187236" y="0"/>
                  </a:moveTo>
                  <a:lnTo>
                    <a:pt x="0" y="0"/>
                  </a:lnTo>
                  <a:lnTo>
                    <a:pt x="0" y="114300"/>
                  </a:lnTo>
                  <a:lnTo>
                    <a:pt x="12187236" y="114300"/>
                  </a:lnTo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1" name="TextBox 20">
            <a:extLst>
              <a:ext uri="{FF2B5EF4-FFF2-40B4-BE49-F238E27FC236}">
                <a16:creationId xmlns:a16="http://schemas.microsoft.com/office/drawing/2014/main" id="{3439305D-088C-B3F7-6E82-1DB3F97ED30A}"/>
              </a:ext>
            </a:extLst>
          </p:cNvPr>
          <p:cNvSpPr txBox="1"/>
          <p:nvPr/>
        </p:nvSpPr>
        <p:spPr>
          <a:xfrm>
            <a:off x="4501296" y="273377"/>
            <a:ext cx="7690704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4000" b="1" dirty="0">
                <a:latin typeface="Arial Black" panose="020B0A04020102020204" pitchFamily="34" charset="0"/>
              </a:rPr>
              <a:t>Model Training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16B01C9-D94F-70A0-C5B5-63CDB6430CA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59756"/>
            <a:ext cx="3827282" cy="1025592"/>
          </a:xfrm>
          <a:prstGeom prst="rect">
            <a:avLst/>
          </a:prstGeom>
        </p:spPr>
      </p:pic>
      <p:sp>
        <p:nvSpPr>
          <p:cNvPr id="5" name="Rectangle 2">
            <a:extLst>
              <a:ext uri="{FF2B5EF4-FFF2-40B4-BE49-F238E27FC236}">
                <a16:creationId xmlns:a16="http://schemas.microsoft.com/office/drawing/2014/main" id="{E769E744-F63E-A06B-606A-320339D37B5A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1420050"/>
            <a:ext cx="11972041" cy="7848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IN" sz="2400" b="1" dirty="0"/>
              <a:t>Classifier Evaluation</a:t>
            </a:r>
            <a:endParaRPr lang="en-IN" sz="2400" dirty="0"/>
          </a:p>
          <a:p>
            <a:endParaRPr lang="en-US" sz="2400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D0AE040C-F54C-6201-916B-7AA9A8F3D34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49875430"/>
              </p:ext>
            </p:extLst>
          </p:nvPr>
        </p:nvGraphicFramePr>
        <p:xfrm>
          <a:off x="174920" y="1926297"/>
          <a:ext cx="11787695" cy="3692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57539">
                  <a:extLst>
                    <a:ext uri="{9D8B030D-6E8A-4147-A177-3AD203B41FA5}">
                      <a16:colId xmlns:a16="http://schemas.microsoft.com/office/drawing/2014/main" val="666121220"/>
                    </a:ext>
                  </a:extLst>
                </a:gridCol>
                <a:gridCol w="2357539">
                  <a:extLst>
                    <a:ext uri="{9D8B030D-6E8A-4147-A177-3AD203B41FA5}">
                      <a16:colId xmlns:a16="http://schemas.microsoft.com/office/drawing/2014/main" val="1465935375"/>
                    </a:ext>
                  </a:extLst>
                </a:gridCol>
                <a:gridCol w="2357539">
                  <a:extLst>
                    <a:ext uri="{9D8B030D-6E8A-4147-A177-3AD203B41FA5}">
                      <a16:colId xmlns:a16="http://schemas.microsoft.com/office/drawing/2014/main" val="2766968494"/>
                    </a:ext>
                  </a:extLst>
                </a:gridCol>
                <a:gridCol w="2357539">
                  <a:extLst>
                    <a:ext uri="{9D8B030D-6E8A-4147-A177-3AD203B41FA5}">
                      <a16:colId xmlns:a16="http://schemas.microsoft.com/office/drawing/2014/main" val="421850352"/>
                    </a:ext>
                  </a:extLst>
                </a:gridCol>
                <a:gridCol w="2357539">
                  <a:extLst>
                    <a:ext uri="{9D8B030D-6E8A-4147-A177-3AD203B41FA5}">
                      <a16:colId xmlns:a16="http://schemas.microsoft.com/office/drawing/2014/main" val="3042635251"/>
                    </a:ext>
                  </a:extLst>
                </a:gridCol>
              </a:tblGrid>
              <a:tr h="923020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Final Accuracy (%)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Training Time (s)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Testing time (s)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F1- Score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36074521"/>
                  </a:ext>
                </a:extLst>
              </a:tr>
              <a:tr h="923020">
                <a:tc>
                  <a:txBody>
                    <a:bodyPr/>
                    <a:lstStyle/>
                    <a:p>
                      <a:r>
                        <a:rPr lang="en-IN" dirty="0"/>
                        <a:t>Random Forest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99.831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0.51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0.008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0.9988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2341624"/>
                  </a:ext>
                </a:extLst>
              </a:tr>
              <a:tr h="923020">
                <a:tc>
                  <a:txBody>
                    <a:bodyPr/>
                    <a:lstStyle/>
                    <a:p>
                      <a:r>
                        <a:rPr lang="en-IN" dirty="0"/>
                        <a:t>KNN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99.031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2.54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1.599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0.9698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34976667"/>
                  </a:ext>
                </a:extLst>
              </a:tr>
              <a:tr h="923020">
                <a:tc>
                  <a:txBody>
                    <a:bodyPr/>
                    <a:lstStyle/>
                    <a:p>
                      <a:r>
                        <a:rPr lang="en-IN" dirty="0" err="1"/>
                        <a:t>XGBoost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99.001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1.25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0.532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0.9898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4332029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66E54D1B-0D37-ADED-9EC6-0B460228930B}"/>
              </a:ext>
            </a:extLst>
          </p:cNvPr>
          <p:cNvSpPr txBox="1"/>
          <p:nvPr/>
        </p:nvSpPr>
        <p:spPr>
          <a:xfrm>
            <a:off x="3789575" y="5797484"/>
            <a:ext cx="436901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Comparison table between three ML models</a:t>
            </a:r>
          </a:p>
        </p:txBody>
      </p:sp>
    </p:spTree>
    <p:extLst>
      <p:ext uri="{BB962C8B-B14F-4D97-AF65-F5344CB8AC3E}">
        <p14:creationId xmlns:p14="http://schemas.microsoft.com/office/powerpoint/2010/main" val="356104657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CFA44D-9A15-AE40-4C3B-5FAD5B05A8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object 3">
            <a:extLst>
              <a:ext uri="{FF2B5EF4-FFF2-40B4-BE49-F238E27FC236}">
                <a16:creationId xmlns:a16="http://schemas.microsoft.com/office/drawing/2014/main" id="{2D92860B-83CD-B89E-4EF7-3FE782445C8C}"/>
              </a:ext>
            </a:extLst>
          </p:cNvPr>
          <p:cNvGrpSpPr/>
          <p:nvPr/>
        </p:nvGrpSpPr>
        <p:grpSpPr>
          <a:xfrm>
            <a:off x="0" y="0"/>
            <a:ext cx="12197080" cy="123825"/>
            <a:chOff x="0" y="828738"/>
            <a:chExt cx="12197080" cy="123825"/>
          </a:xfrm>
        </p:grpSpPr>
        <p:sp>
          <p:nvSpPr>
            <p:cNvPr id="14" name="object 4">
              <a:extLst>
                <a:ext uri="{FF2B5EF4-FFF2-40B4-BE49-F238E27FC236}">
                  <a16:creationId xmlns:a16="http://schemas.microsoft.com/office/drawing/2014/main" id="{7590088A-FB9B-86AA-2D9A-0F854F40EDFB}"/>
                </a:ext>
              </a:extLst>
            </p:cNvPr>
            <p:cNvSpPr/>
            <p:nvPr/>
          </p:nvSpPr>
          <p:spPr>
            <a:xfrm>
              <a:off x="4763" y="833500"/>
              <a:ext cx="12187555" cy="114300"/>
            </a:xfrm>
            <a:custGeom>
              <a:avLst/>
              <a:gdLst/>
              <a:ahLst/>
              <a:cxnLst/>
              <a:rect l="l" t="t" r="r" b="b"/>
              <a:pathLst>
                <a:path w="12187555" h="114300">
                  <a:moveTo>
                    <a:pt x="12187236" y="0"/>
                  </a:moveTo>
                  <a:lnTo>
                    <a:pt x="0" y="0"/>
                  </a:lnTo>
                  <a:lnTo>
                    <a:pt x="0" y="114300"/>
                  </a:lnTo>
                  <a:lnTo>
                    <a:pt x="12187236" y="114300"/>
                  </a:lnTo>
                  <a:lnTo>
                    <a:pt x="12187236" y="0"/>
                  </a:lnTo>
                  <a:close/>
                </a:path>
              </a:pathLst>
            </a:custGeom>
            <a:solidFill>
              <a:srgbClr val="252573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15" name="object 5">
              <a:extLst>
                <a:ext uri="{FF2B5EF4-FFF2-40B4-BE49-F238E27FC236}">
                  <a16:creationId xmlns:a16="http://schemas.microsoft.com/office/drawing/2014/main" id="{E2930E16-ABE4-1F9B-64E2-9E600932B2DC}"/>
                </a:ext>
              </a:extLst>
            </p:cNvPr>
            <p:cNvSpPr/>
            <p:nvPr/>
          </p:nvSpPr>
          <p:spPr>
            <a:xfrm>
              <a:off x="4763" y="833500"/>
              <a:ext cx="12187555" cy="114300"/>
            </a:xfrm>
            <a:custGeom>
              <a:avLst/>
              <a:gdLst/>
              <a:ahLst/>
              <a:cxnLst/>
              <a:rect l="l" t="t" r="r" b="b"/>
              <a:pathLst>
                <a:path w="12187555" h="114300">
                  <a:moveTo>
                    <a:pt x="12187236" y="0"/>
                  </a:moveTo>
                  <a:lnTo>
                    <a:pt x="0" y="0"/>
                  </a:lnTo>
                  <a:lnTo>
                    <a:pt x="0" y="114300"/>
                  </a:lnTo>
                  <a:lnTo>
                    <a:pt x="12187236" y="114300"/>
                  </a:lnTo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6" name="object 3">
            <a:extLst>
              <a:ext uri="{FF2B5EF4-FFF2-40B4-BE49-F238E27FC236}">
                <a16:creationId xmlns:a16="http://schemas.microsoft.com/office/drawing/2014/main" id="{A791AD03-5E48-E78E-9CDE-34D6BF4D5C24}"/>
              </a:ext>
            </a:extLst>
          </p:cNvPr>
          <p:cNvGrpSpPr/>
          <p:nvPr/>
        </p:nvGrpSpPr>
        <p:grpSpPr>
          <a:xfrm>
            <a:off x="0" y="1196383"/>
            <a:ext cx="12197080" cy="123825"/>
            <a:chOff x="0" y="828738"/>
            <a:chExt cx="12197080" cy="123825"/>
          </a:xfrm>
        </p:grpSpPr>
        <p:sp>
          <p:nvSpPr>
            <p:cNvPr id="17" name="object 4">
              <a:extLst>
                <a:ext uri="{FF2B5EF4-FFF2-40B4-BE49-F238E27FC236}">
                  <a16:creationId xmlns:a16="http://schemas.microsoft.com/office/drawing/2014/main" id="{644202C4-C780-CA5B-11EC-81825E96F9A6}"/>
                </a:ext>
              </a:extLst>
            </p:cNvPr>
            <p:cNvSpPr/>
            <p:nvPr/>
          </p:nvSpPr>
          <p:spPr>
            <a:xfrm>
              <a:off x="4763" y="833500"/>
              <a:ext cx="12187555" cy="114300"/>
            </a:xfrm>
            <a:custGeom>
              <a:avLst/>
              <a:gdLst/>
              <a:ahLst/>
              <a:cxnLst/>
              <a:rect l="l" t="t" r="r" b="b"/>
              <a:pathLst>
                <a:path w="12187555" h="114300">
                  <a:moveTo>
                    <a:pt x="12187236" y="0"/>
                  </a:moveTo>
                  <a:lnTo>
                    <a:pt x="0" y="0"/>
                  </a:lnTo>
                  <a:lnTo>
                    <a:pt x="0" y="114300"/>
                  </a:lnTo>
                  <a:lnTo>
                    <a:pt x="12187236" y="114300"/>
                  </a:lnTo>
                  <a:lnTo>
                    <a:pt x="12187236" y="0"/>
                  </a:lnTo>
                  <a:close/>
                </a:path>
              </a:pathLst>
            </a:custGeom>
            <a:solidFill>
              <a:srgbClr val="25257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5">
              <a:extLst>
                <a:ext uri="{FF2B5EF4-FFF2-40B4-BE49-F238E27FC236}">
                  <a16:creationId xmlns:a16="http://schemas.microsoft.com/office/drawing/2014/main" id="{0CA2E490-CCD1-46B2-D303-57289CFC38E9}"/>
                </a:ext>
              </a:extLst>
            </p:cNvPr>
            <p:cNvSpPr/>
            <p:nvPr/>
          </p:nvSpPr>
          <p:spPr>
            <a:xfrm>
              <a:off x="4763" y="833500"/>
              <a:ext cx="12187555" cy="114300"/>
            </a:xfrm>
            <a:custGeom>
              <a:avLst/>
              <a:gdLst/>
              <a:ahLst/>
              <a:cxnLst/>
              <a:rect l="l" t="t" r="r" b="b"/>
              <a:pathLst>
                <a:path w="12187555" h="114300">
                  <a:moveTo>
                    <a:pt x="12187236" y="0"/>
                  </a:moveTo>
                  <a:lnTo>
                    <a:pt x="0" y="0"/>
                  </a:lnTo>
                  <a:lnTo>
                    <a:pt x="0" y="114300"/>
                  </a:lnTo>
                  <a:lnTo>
                    <a:pt x="12187236" y="114300"/>
                  </a:lnTo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1" name="TextBox 20">
            <a:extLst>
              <a:ext uri="{FF2B5EF4-FFF2-40B4-BE49-F238E27FC236}">
                <a16:creationId xmlns:a16="http://schemas.microsoft.com/office/drawing/2014/main" id="{466D2809-5C15-A374-A101-375C8BB8ED9B}"/>
              </a:ext>
            </a:extLst>
          </p:cNvPr>
          <p:cNvSpPr txBox="1"/>
          <p:nvPr/>
        </p:nvSpPr>
        <p:spPr>
          <a:xfrm>
            <a:off x="4501296" y="273377"/>
            <a:ext cx="7690704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4000" b="1" dirty="0">
                <a:latin typeface="Arial Black" panose="020B0A04020102020204" pitchFamily="34" charset="0"/>
              </a:rPr>
              <a:t>Model Training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EFA2062-E1BA-1B75-3AEA-B3165A43BBA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59756"/>
            <a:ext cx="3827282" cy="1025592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9D4DDD50-4799-BE05-C6FE-1781E9BD7ACF}"/>
              </a:ext>
            </a:extLst>
          </p:cNvPr>
          <p:cNvSpPr txBox="1"/>
          <p:nvPr/>
        </p:nvSpPr>
        <p:spPr>
          <a:xfrm>
            <a:off x="202676" y="1390356"/>
            <a:ext cx="10487320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b="1" dirty="0"/>
              <a:t>Model Selection</a:t>
            </a:r>
          </a:p>
          <a:p>
            <a:pPr>
              <a:buNone/>
            </a:pPr>
            <a:endParaRPr lang="en-US" sz="2400" b="1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High Accuracy: Random Forest achieved the best accuracy and F1 score.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Gesture Detection: Learns patterns between hand landmarks (42 features) and gestures.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Ensemble Method: Uses many decision trees and combines their results.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Robust Model: Handles noise better than K-Nearest Neighbors and </a:t>
            </a:r>
            <a:r>
              <a:rPr lang="en-US" sz="2400" dirty="0" err="1"/>
              <a:t>XGBoost</a:t>
            </a:r>
            <a:r>
              <a:rPr lang="en-US" sz="2400" dirty="0"/>
              <a:t>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Good Speed: Balanced training and prediction speed for real-time use.</a:t>
            </a:r>
          </a:p>
        </p:txBody>
      </p:sp>
    </p:spTree>
    <p:extLst>
      <p:ext uri="{BB962C8B-B14F-4D97-AF65-F5344CB8AC3E}">
        <p14:creationId xmlns:p14="http://schemas.microsoft.com/office/powerpoint/2010/main" val="234747308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351234-F87D-DE5C-FCD4-2C96B836B9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object 3">
            <a:extLst>
              <a:ext uri="{FF2B5EF4-FFF2-40B4-BE49-F238E27FC236}">
                <a16:creationId xmlns:a16="http://schemas.microsoft.com/office/drawing/2014/main" id="{80C4595F-53F8-AC17-7D6C-950E84F6BA0C}"/>
              </a:ext>
            </a:extLst>
          </p:cNvPr>
          <p:cNvGrpSpPr/>
          <p:nvPr/>
        </p:nvGrpSpPr>
        <p:grpSpPr>
          <a:xfrm>
            <a:off x="0" y="0"/>
            <a:ext cx="12197080" cy="123825"/>
            <a:chOff x="0" y="828738"/>
            <a:chExt cx="12197080" cy="123825"/>
          </a:xfrm>
        </p:grpSpPr>
        <p:sp>
          <p:nvSpPr>
            <p:cNvPr id="14" name="object 4">
              <a:extLst>
                <a:ext uri="{FF2B5EF4-FFF2-40B4-BE49-F238E27FC236}">
                  <a16:creationId xmlns:a16="http://schemas.microsoft.com/office/drawing/2014/main" id="{1C55FE0D-84C7-B756-5E79-15E6D0313F1B}"/>
                </a:ext>
              </a:extLst>
            </p:cNvPr>
            <p:cNvSpPr/>
            <p:nvPr/>
          </p:nvSpPr>
          <p:spPr>
            <a:xfrm>
              <a:off x="4763" y="833500"/>
              <a:ext cx="12187555" cy="114300"/>
            </a:xfrm>
            <a:custGeom>
              <a:avLst/>
              <a:gdLst/>
              <a:ahLst/>
              <a:cxnLst/>
              <a:rect l="l" t="t" r="r" b="b"/>
              <a:pathLst>
                <a:path w="12187555" h="114300">
                  <a:moveTo>
                    <a:pt x="12187236" y="0"/>
                  </a:moveTo>
                  <a:lnTo>
                    <a:pt x="0" y="0"/>
                  </a:lnTo>
                  <a:lnTo>
                    <a:pt x="0" y="114300"/>
                  </a:lnTo>
                  <a:lnTo>
                    <a:pt x="12187236" y="114300"/>
                  </a:lnTo>
                  <a:lnTo>
                    <a:pt x="12187236" y="0"/>
                  </a:lnTo>
                  <a:close/>
                </a:path>
              </a:pathLst>
            </a:custGeom>
            <a:solidFill>
              <a:srgbClr val="252573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15" name="object 5">
              <a:extLst>
                <a:ext uri="{FF2B5EF4-FFF2-40B4-BE49-F238E27FC236}">
                  <a16:creationId xmlns:a16="http://schemas.microsoft.com/office/drawing/2014/main" id="{03F4D87A-83E0-FFBC-33CD-463A4F13E1AC}"/>
                </a:ext>
              </a:extLst>
            </p:cNvPr>
            <p:cNvSpPr/>
            <p:nvPr/>
          </p:nvSpPr>
          <p:spPr>
            <a:xfrm>
              <a:off x="4763" y="833500"/>
              <a:ext cx="12187555" cy="114300"/>
            </a:xfrm>
            <a:custGeom>
              <a:avLst/>
              <a:gdLst/>
              <a:ahLst/>
              <a:cxnLst/>
              <a:rect l="l" t="t" r="r" b="b"/>
              <a:pathLst>
                <a:path w="12187555" h="114300">
                  <a:moveTo>
                    <a:pt x="12187236" y="0"/>
                  </a:moveTo>
                  <a:lnTo>
                    <a:pt x="0" y="0"/>
                  </a:lnTo>
                  <a:lnTo>
                    <a:pt x="0" y="114300"/>
                  </a:lnTo>
                  <a:lnTo>
                    <a:pt x="12187236" y="114300"/>
                  </a:lnTo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6" name="object 3">
            <a:extLst>
              <a:ext uri="{FF2B5EF4-FFF2-40B4-BE49-F238E27FC236}">
                <a16:creationId xmlns:a16="http://schemas.microsoft.com/office/drawing/2014/main" id="{54AB4F32-6DFA-6F4A-D2A4-FBBBE5F966AB}"/>
              </a:ext>
            </a:extLst>
          </p:cNvPr>
          <p:cNvGrpSpPr/>
          <p:nvPr/>
        </p:nvGrpSpPr>
        <p:grpSpPr>
          <a:xfrm>
            <a:off x="0" y="1196383"/>
            <a:ext cx="12197080" cy="123825"/>
            <a:chOff x="0" y="828738"/>
            <a:chExt cx="12197080" cy="123825"/>
          </a:xfrm>
        </p:grpSpPr>
        <p:sp>
          <p:nvSpPr>
            <p:cNvPr id="17" name="object 4">
              <a:extLst>
                <a:ext uri="{FF2B5EF4-FFF2-40B4-BE49-F238E27FC236}">
                  <a16:creationId xmlns:a16="http://schemas.microsoft.com/office/drawing/2014/main" id="{5655EB38-2877-E123-B70D-92C4C45917B3}"/>
                </a:ext>
              </a:extLst>
            </p:cNvPr>
            <p:cNvSpPr/>
            <p:nvPr/>
          </p:nvSpPr>
          <p:spPr>
            <a:xfrm>
              <a:off x="4763" y="833500"/>
              <a:ext cx="12187555" cy="114300"/>
            </a:xfrm>
            <a:custGeom>
              <a:avLst/>
              <a:gdLst/>
              <a:ahLst/>
              <a:cxnLst/>
              <a:rect l="l" t="t" r="r" b="b"/>
              <a:pathLst>
                <a:path w="12187555" h="114300">
                  <a:moveTo>
                    <a:pt x="12187236" y="0"/>
                  </a:moveTo>
                  <a:lnTo>
                    <a:pt x="0" y="0"/>
                  </a:lnTo>
                  <a:lnTo>
                    <a:pt x="0" y="114300"/>
                  </a:lnTo>
                  <a:lnTo>
                    <a:pt x="12187236" y="114300"/>
                  </a:lnTo>
                  <a:lnTo>
                    <a:pt x="12187236" y="0"/>
                  </a:lnTo>
                  <a:close/>
                </a:path>
              </a:pathLst>
            </a:custGeom>
            <a:solidFill>
              <a:srgbClr val="25257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5">
              <a:extLst>
                <a:ext uri="{FF2B5EF4-FFF2-40B4-BE49-F238E27FC236}">
                  <a16:creationId xmlns:a16="http://schemas.microsoft.com/office/drawing/2014/main" id="{CD249E57-0378-1129-91FE-E07F9E17D529}"/>
                </a:ext>
              </a:extLst>
            </p:cNvPr>
            <p:cNvSpPr/>
            <p:nvPr/>
          </p:nvSpPr>
          <p:spPr>
            <a:xfrm>
              <a:off x="4763" y="833500"/>
              <a:ext cx="12187555" cy="114300"/>
            </a:xfrm>
            <a:custGeom>
              <a:avLst/>
              <a:gdLst/>
              <a:ahLst/>
              <a:cxnLst/>
              <a:rect l="l" t="t" r="r" b="b"/>
              <a:pathLst>
                <a:path w="12187555" h="114300">
                  <a:moveTo>
                    <a:pt x="12187236" y="0"/>
                  </a:moveTo>
                  <a:lnTo>
                    <a:pt x="0" y="0"/>
                  </a:lnTo>
                  <a:lnTo>
                    <a:pt x="0" y="114300"/>
                  </a:lnTo>
                  <a:lnTo>
                    <a:pt x="12187236" y="114300"/>
                  </a:lnTo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1" name="TextBox 20">
            <a:extLst>
              <a:ext uri="{FF2B5EF4-FFF2-40B4-BE49-F238E27FC236}">
                <a16:creationId xmlns:a16="http://schemas.microsoft.com/office/drawing/2014/main" id="{6B77914A-512F-CBCE-D6A5-312BD2C62DA5}"/>
              </a:ext>
            </a:extLst>
          </p:cNvPr>
          <p:cNvSpPr txBox="1"/>
          <p:nvPr/>
        </p:nvSpPr>
        <p:spPr>
          <a:xfrm>
            <a:off x="4501296" y="273377"/>
            <a:ext cx="7690704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4000" b="1" dirty="0">
                <a:latin typeface="Arial Black" panose="020B0A04020102020204" pitchFamily="34" charset="0"/>
              </a:rPr>
              <a:t>Performance Evaluation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FEE187C-66D6-73C5-D213-F2300AC1FB8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59756"/>
            <a:ext cx="3827282" cy="1025592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CA8296D6-6860-EF5D-75AE-9A7B832071E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-471" t="292" r="471" b="20272"/>
          <a:stretch>
            <a:fillRect/>
          </a:stretch>
        </p:blipFill>
        <p:spPr>
          <a:xfrm>
            <a:off x="4369788" y="1967129"/>
            <a:ext cx="3897519" cy="2567162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B516153A-E24F-CE89-743E-C921C8888E6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55191" y="1978792"/>
            <a:ext cx="3482838" cy="2635628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B0401FC9-F993-4048-23E3-C942153FEE0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1067" y="2078692"/>
            <a:ext cx="3883032" cy="2465026"/>
          </a:xfrm>
          <a:prstGeom prst="rect">
            <a:avLst/>
          </a:prstGeom>
        </p:spPr>
      </p:pic>
      <p:sp>
        <p:nvSpPr>
          <p:cNvPr id="27" name="Rectangle 1">
            <a:extLst>
              <a:ext uri="{FF2B5EF4-FFF2-40B4-BE49-F238E27FC236}">
                <a16:creationId xmlns:a16="http://schemas.microsoft.com/office/drawing/2014/main" id="{BF5E9885-EADB-4C9A-7671-CF6FFC04656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55422" y="4949322"/>
            <a:ext cx="9162854" cy="9233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system identifies different hand movements and displays the corresponding exercise name.</a:t>
            </a:r>
          </a:p>
        </p:txBody>
      </p:sp>
    </p:spTree>
    <p:extLst>
      <p:ext uri="{BB962C8B-B14F-4D97-AF65-F5344CB8AC3E}">
        <p14:creationId xmlns:p14="http://schemas.microsoft.com/office/powerpoint/2010/main" val="51148839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032058-FAE9-F5A9-332C-1D85D5B8FD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object 3">
            <a:extLst>
              <a:ext uri="{FF2B5EF4-FFF2-40B4-BE49-F238E27FC236}">
                <a16:creationId xmlns:a16="http://schemas.microsoft.com/office/drawing/2014/main" id="{09AF047B-B8CF-64A3-348E-9E4735105303}"/>
              </a:ext>
            </a:extLst>
          </p:cNvPr>
          <p:cNvGrpSpPr/>
          <p:nvPr/>
        </p:nvGrpSpPr>
        <p:grpSpPr>
          <a:xfrm>
            <a:off x="0" y="0"/>
            <a:ext cx="12197080" cy="123825"/>
            <a:chOff x="0" y="828738"/>
            <a:chExt cx="12197080" cy="123825"/>
          </a:xfrm>
        </p:grpSpPr>
        <p:sp>
          <p:nvSpPr>
            <p:cNvPr id="14" name="object 4">
              <a:extLst>
                <a:ext uri="{FF2B5EF4-FFF2-40B4-BE49-F238E27FC236}">
                  <a16:creationId xmlns:a16="http://schemas.microsoft.com/office/drawing/2014/main" id="{FBB8BD0C-2271-C2F8-1241-4DFD890F64C8}"/>
                </a:ext>
              </a:extLst>
            </p:cNvPr>
            <p:cNvSpPr/>
            <p:nvPr/>
          </p:nvSpPr>
          <p:spPr>
            <a:xfrm>
              <a:off x="4763" y="833500"/>
              <a:ext cx="12187555" cy="114300"/>
            </a:xfrm>
            <a:custGeom>
              <a:avLst/>
              <a:gdLst/>
              <a:ahLst/>
              <a:cxnLst/>
              <a:rect l="l" t="t" r="r" b="b"/>
              <a:pathLst>
                <a:path w="12187555" h="114300">
                  <a:moveTo>
                    <a:pt x="12187236" y="0"/>
                  </a:moveTo>
                  <a:lnTo>
                    <a:pt x="0" y="0"/>
                  </a:lnTo>
                  <a:lnTo>
                    <a:pt x="0" y="114300"/>
                  </a:lnTo>
                  <a:lnTo>
                    <a:pt x="12187236" y="114300"/>
                  </a:lnTo>
                  <a:lnTo>
                    <a:pt x="12187236" y="0"/>
                  </a:lnTo>
                  <a:close/>
                </a:path>
              </a:pathLst>
            </a:custGeom>
            <a:solidFill>
              <a:srgbClr val="252573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15" name="object 5">
              <a:extLst>
                <a:ext uri="{FF2B5EF4-FFF2-40B4-BE49-F238E27FC236}">
                  <a16:creationId xmlns:a16="http://schemas.microsoft.com/office/drawing/2014/main" id="{3F1B4F9D-64BB-3F7A-CCA1-B31F5F5C2405}"/>
                </a:ext>
              </a:extLst>
            </p:cNvPr>
            <p:cNvSpPr/>
            <p:nvPr/>
          </p:nvSpPr>
          <p:spPr>
            <a:xfrm>
              <a:off x="4763" y="833500"/>
              <a:ext cx="12187555" cy="114300"/>
            </a:xfrm>
            <a:custGeom>
              <a:avLst/>
              <a:gdLst/>
              <a:ahLst/>
              <a:cxnLst/>
              <a:rect l="l" t="t" r="r" b="b"/>
              <a:pathLst>
                <a:path w="12187555" h="114300">
                  <a:moveTo>
                    <a:pt x="12187236" y="0"/>
                  </a:moveTo>
                  <a:lnTo>
                    <a:pt x="0" y="0"/>
                  </a:lnTo>
                  <a:lnTo>
                    <a:pt x="0" y="114300"/>
                  </a:lnTo>
                  <a:lnTo>
                    <a:pt x="12187236" y="114300"/>
                  </a:lnTo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6" name="object 3">
            <a:extLst>
              <a:ext uri="{FF2B5EF4-FFF2-40B4-BE49-F238E27FC236}">
                <a16:creationId xmlns:a16="http://schemas.microsoft.com/office/drawing/2014/main" id="{E57B205A-7D2F-4CAE-5364-A1B2D1E8463C}"/>
              </a:ext>
            </a:extLst>
          </p:cNvPr>
          <p:cNvGrpSpPr/>
          <p:nvPr/>
        </p:nvGrpSpPr>
        <p:grpSpPr>
          <a:xfrm>
            <a:off x="0" y="1196383"/>
            <a:ext cx="12197080" cy="123825"/>
            <a:chOff x="0" y="828738"/>
            <a:chExt cx="12197080" cy="123825"/>
          </a:xfrm>
        </p:grpSpPr>
        <p:sp>
          <p:nvSpPr>
            <p:cNvPr id="17" name="object 4">
              <a:extLst>
                <a:ext uri="{FF2B5EF4-FFF2-40B4-BE49-F238E27FC236}">
                  <a16:creationId xmlns:a16="http://schemas.microsoft.com/office/drawing/2014/main" id="{426AE3F2-D152-6948-7088-FBEA8BDEF69C}"/>
                </a:ext>
              </a:extLst>
            </p:cNvPr>
            <p:cNvSpPr/>
            <p:nvPr/>
          </p:nvSpPr>
          <p:spPr>
            <a:xfrm>
              <a:off x="4763" y="833500"/>
              <a:ext cx="12187555" cy="114300"/>
            </a:xfrm>
            <a:custGeom>
              <a:avLst/>
              <a:gdLst/>
              <a:ahLst/>
              <a:cxnLst/>
              <a:rect l="l" t="t" r="r" b="b"/>
              <a:pathLst>
                <a:path w="12187555" h="114300">
                  <a:moveTo>
                    <a:pt x="12187236" y="0"/>
                  </a:moveTo>
                  <a:lnTo>
                    <a:pt x="0" y="0"/>
                  </a:lnTo>
                  <a:lnTo>
                    <a:pt x="0" y="114300"/>
                  </a:lnTo>
                  <a:lnTo>
                    <a:pt x="12187236" y="114300"/>
                  </a:lnTo>
                  <a:lnTo>
                    <a:pt x="12187236" y="0"/>
                  </a:lnTo>
                  <a:close/>
                </a:path>
              </a:pathLst>
            </a:custGeom>
            <a:solidFill>
              <a:srgbClr val="25257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5">
              <a:extLst>
                <a:ext uri="{FF2B5EF4-FFF2-40B4-BE49-F238E27FC236}">
                  <a16:creationId xmlns:a16="http://schemas.microsoft.com/office/drawing/2014/main" id="{5A5D5B44-470A-47F3-C642-EB090320D508}"/>
                </a:ext>
              </a:extLst>
            </p:cNvPr>
            <p:cNvSpPr/>
            <p:nvPr/>
          </p:nvSpPr>
          <p:spPr>
            <a:xfrm>
              <a:off x="4763" y="833500"/>
              <a:ext cx="12187555" cy="114300"/>
            </a:xfrm>
            <a:custGeom>
              <a:avLst/>
              <a:gdLst/>
              <a:ahLst/>
              <a:cxnLst/>
              <a:rect l="l" t="t" r="r" b="b"/>
              <a:pathLst>
                <a:path w="12187555" h="114300">
                  <a:moveTo>
                    <a:pt x="12187236" y="0"/>
                  </a:moveTo>
                  <a:lnTo>
                    <a:pt x="0" y="0"/>
                  </a:lnTo>
                  <a:lnTo>
                    <a:pt x="0" y="114300"/>
                  </a:lnTo>
                  <a:lnTo>
                    <a:pt x="12187236" y="114300"/>
                  </a:lnTo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1" name="TextBox 20">
            <a:extLst>
              <a:ext uri="{FF2B5EF4-FFF2-40B4-BE49-F238E27FC236}">
                <a16:creationId xmlns:a16="http://schemas.microsoft.com/office/drawing/2014/main" id="{EC8A0B41-9044-2835-8D61-0DE7284F099A}"/>
              </a:ext>
            </a:extLst>
          </p:cNvPr>
          <p:cNvSpPr txBox="1"/>
          <p:nvPr/>
        </p:nvSpPr>
        <p:spPr>
          <a:xfrm>
            <a:off x="4501296" y="273377"/>
            <a:ext cx="7690704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4000" b="1" dirty="0">
                <a:latin typeface="Arial Black" panose="020B0A04020102020204" pitchFamily="34" charset="0"/>
              </a:rPr>
              <a:t>Performance Evaluation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91B3434-4D49-D3B2-EB64-83520ACD2EB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59756"/>
            <a:ext cx="3827282" cy="1025592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45031608-9945-E5AA-F595-1D73635EF81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53018" y="2196446"/>
            <a:ext cx="3627981" cy="287517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06EAA17-B317-E91C-618D-D4A364F9BD2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27908" y="2187019"/>
            <a:ext cx="3583217" cy="285928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0EB7D0AE-03E0-E57A-AC92-B6CC43BA49B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60000" y="2176159"/>
            <a:ext cx="3516116" cy="2848327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FC5E7BDC-C6AF-88B5-9DC8-14D3A17596CD}"/>
              </a:ext>
            </a:extLst>
          </p:cNvPr>
          <p:cNvSpPr txBox="1"/>
          <p:nvPr/>
        </p:nvSpPr>
        <p:spPr>
          <a:xfrm>
            <a:off x="2182303" y="5323489"/>
            <a:ext cx="859253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Real-time exercise recognition using the trained ML model and hand landmark detection.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8537168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CA2626-7D97-5985-3353-1BEA92BC33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object 3">
            <a:extLst>
              <a:ext uri="{FF2B5EF4-FFF2-40B4-BE49-F238E27FC236}">
                <a16:creationId xmlns:a16="http://schemas.microsoft.com/office/drawing/2014/main" id="{FBB0B396-22A2-EC13-AD6D-F45E5FC1C577}"/>
              </a:ext>
            </a:extLst>
          </p:cNvPr>
          <p:cNvGrpSpPr/>
          <p:nvPr/>
        </p:nvGrpSpPr>
        <p:grpSpPr>
          <a:xfrm>
            <a:off x="0" y="0"/>
            <a:ext cx="12197080" cy="123825"/>
            <a:chOff x="0" y="828738"/>
            <a:chExt cx="12197080" cy="123825"/>
          </a:xfrm>
        </p:grpSpPr>
        <p:sp>
          <p:nvSpPr>
            <p:cNvPr id="14" name="object 4">
              <a:extLst>
                <a:ext uri="{FF2B5EF4-FFF2-40B4-BE49-F238E27FC236}">
                  <a16:creationId xmlns:a16="http://schemas.microsoft.com/office/drawing/2014/main" id="{C2EDB0BE-B3A8-3BC3-3966-F59D934DC2ED}"/>
                </a:ext>
              </a:extLst>
            </p:cNvPr>
            <p:cNvSpPr/>
            <p:nvPr/>
          </p:nvSpPr>
          <p:spPr>
            <a:xfrm>
              <a:off x="4763" y="833500"/>
              <a:ext cx="12187555" cy="114300"/>
            </a:xfrm>
            <a:custGeom>
              <a:avLst/>
              <a:gdLst/>
              <a:ahLst/>
              <a:cxnLst/>
              <a:rect l="l" t="t" r="r" b="b"/>
              <a:pathLst>
                <a:path w="12187555" h="114300">
                  <a:moveTo>
                    <a:pt x="12187236" y="0"/>
                  </a:moveTo>
                  <a:lnTo>
                    <a:pt x="0" y="0"/>
                  </a:lnTo>
                  <a:lnTo>
                    <a:pt x="0" y="114300"/>
                  </a:lnTo>
                  <a:lnTo>
                    <a:pt x="12187236" y="114300"/>
                  </a:lnTo>
                  <a:lnTo>
                    <a:pt x="12187236" y="0"/>
                  </a:lnTo>
                  <a:close/>
                </a:path>
              </a:pathLst>
            </a:custGeom>
            <a:solidFill>
              <a:srgbClr val="252573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15" name="object 5">
              <a:extLst>
                <a:ext uri="{FF2B5EF4-FFF2-40B4-BE49-F238E27FC236}">
                  <a16:creationId xmlns:a16="http://schemas.microsoft.com/office/drawing/2014/main" id="{D2E9E95F-A422-ABEF-E0B5-DC172BCB5073}"/>
                </a:ext>
              </a:extLst>
            </p:cNvPr>
            <p:cNvSpPr/>
            <p:nvPr/>
          </p:nvSpPr>
          <p:spPr>
            <a:xfrm>
              <a:off x="4763" y="833500"/>
              <a:ext cx="12187555" cy="114300"/>
            </a:xfrm>
            <a:custGeom>
              <a:avLst/>
              <a:gdLst/>
              <a:ahLst/>
              <a:cxnLst/>
              <a:rect l="l" t="t" r="r" b="b"/>
              <a:pathLst>
                <a:path w="12187555" h="114300">
                  <a:moveTo>
                    <a:pt x="12187236" y="0"/>
                  </a:moveTo>
                  <a:lnTo>
                    <a:pt x="0" y="0"/>
                  </a:lnTo>
                  <a:lnTo>
                    <a:pt x="0" y="114300"/>
                  </a:lnTo>
                  <a:lnTo>
                    <a:pt x="12187236" y="114300"/>
                  </a:lnTo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6" name="object 3">
            <a:extLst>
              <a:ext uri="{FF2B5EF4-FFF2-40B4-BE49-F238E27FC236}">
                <a16:creationId xmlns:a16="http://schemas.microsoft.com/office/drawing/2014/main" id="{93DEFAF6-3AB7-8EE3-6CC9-A6E7B311062C}"/>
              </a:ext>
            </a:extLst>
          </p:cNvPr>
          <p:cNvGrpSpPr/>
          <p:nvPr/>
        </p:nvGrpSpPr>
        <p:grpSpPr>
          <a:xfrm>
            <a:off x="0" y="1196383"/>
            <a:ext cx="12197080" cy="123825"/>
            <a:chOff x="0" y="828738"/>
            <a:chExt cx="12197080" cy="123825"/>
          </a:xfrm>
        </p:grpSpPr>
        <p:sp>
          <p:nvSpPr>
            <p:cNvPr id="17" name="object 4">
              <a:extLst>
                <a:ext uri="{FF2B5EF4-FFF2-40B4-BE49-F238E27FC236}">
                  <a16:creationId xmlns:a16="http://schemas.microsoft.com/office/drawing/2014/main" id="{1A52C09F-61FB-06C1-2852-A25E51BEE46A}"/>
                </a:ext>
              </a:extLst>
            </p:cNvPr>
            <p:cNvSpPr/>
            <p:nvPr/>
          </p:nvSpPr>
          <p:spPr>
            <a:xfrm>
              <a:off x="4763" y="833500"/>
              <a:ext cx="12187555" cy="114300"/>
            </a:xfrm>
            <a:custGeom>
              <a:avLst/>
              <a:gdLst/>
              <a:ahLst/>
              <a:cxnLst/>
              <a:rect l="l" t="t" r="r" b="b"/>
              <a:pathLst>
                <a:path w="12187555" h="114300">
                  <a:moveTo>
                    <a:pt x="12187236" y="0"/>
                  </a:moveTo>
                  <a:lnTo>
                    <a:pt x="0" y="0"/>
                  </a:lnTo>
                  <a:lnTo>
                    <a:pt x="0" y="114300"/>
                  </a:lnTo>
                  <a:lnTo>
                    <a:pt x="12187236" y="114300"/>
                  </a:lnTo>
                  <a:lnTo>
                    <a:pt x="12187236" y="0"/>
                  </a:lnTo>
                  <a:close/>
                </a:path>
              </a:pathLst>
            </a:custGeom>
            <a:solidFill>
              <a:srgbClr val="25257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5">
              <a:extLst>
                <a:ext uri="{FF2B5EF4-FFF2-40B4-BE49-F238E27FC236}">
                  <a16:creationId xmlns:a16="http://schemas.microsoft.com/office/drawing/2014/main" id="{106606D2-8529-89B2-4B55-49D23B4E00C9}"/>
                </a:ext>
              </a:extLst>
            </p:cNvPr>
            <p:cNvSpPr/>
            <p:nvPr/>
          </p:nvSpPr>
          <p:spPr>
            <a:xfrm>
              <a:off x="4763" y="833500"/>
              <a:ext cx="12187555" cy="114300"/>
            </a:xfrm>
            <a:custGeom>
              <a:avLst/>
              <a:gdLst/>
              <a:ahLst/>
              <a:cxnLst/>
              <a:rect l="l" t="t" r="r" b="b"/>
              <a:pathLst>
                <a:path w="12187555" h="114300">
                  <a:moveTo>
                    <a:pt x="12187236" y="0"/>
                  </a:moveTo>
                  <a:lnTo>
                    <a:pt x="0" y="0"/>
                  </a:lnTo>
                  <a:lnTo>
                    <a:pt x="0" y="114300"/>
                  </a:lnTo>
                  <a:lnTo>
                    <a:pt x="12187236" y="114300"/>
                  </a:lnTo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1" name="TextBox 20">
            <a:extLst>
              <a:ext uri="{FF2B5EF4-FFF2-40B4-BE49-F238E27FC236}">
                <a16:creationId xmlns:a16="http://schemas.microsoft.com/office/drawing/2014/main" id="{DFB37211-9EA5-0B30-25F9-229BA543CAE5}"/>
              </a:ext>
            </a:extLst>
          </p:cNvPr>
          <p:cNvSpPr txBox="1"/>
          <p:nvPr/>
        </p:nvSpPr>
        <p:spPr>
          <a:xfrm>
            <a:off x="4501296" y="273377"/>
            <a:ext cx="7690704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4000" b="1" dirty="0">
                <a:latin typeface="Arial Black" panose="020B0A04020102020204" pitchFamily="34" charset="0"/>
              </a:rPr>
              <a:t>Performance Evaluation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D6B69C5-AE5D-8A28-BD3A-1678A5607E4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59756"/>
            <a:ext cx="3827282" cy="1025592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6D893010-AF5B-097E-080E-E31C82078025}"/>
              </a:ext>
            </a:extLst>
          </p:cNvPr>
          <p:cNvSpPr txBox="1"/>
          <p:nvPr/>
        </p:nvSpPr>
        <p:spPr>
          <a:xfrm>
            <a:off x="278091" y="1481002"/>
            <a:ext cx="12344400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b="1" dirty="0"/>
              <a:t>System Performance Analysis</a:t>
            </a:r>
          </a:p>
          <a:p>
            <a:pPr>
              <a:buNone/>
            </a:pPr>
            <a:endParaRPr lang="en-US" sz="2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Accurate Detection: The system correctly detects hand landmarks in real time.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Exercise Classification: Different hand exercises are recognized by the trained ML model.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Real-Time Processing: The system processes video frames instantly without delay.</a:t>
            </a:r>
          </a:p>
          <a:p>
            <a:endParaRPr lang="en-US" sz="2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Reliable Performance: The system works consistently for different hand movements.</a:t>
            </a:r>
          </a:p>
        </p:txBody>
      </p:sp>
    </p:spTree>
    <p:extLst>
      <p:ext uri="{BB962C8B-B14F-4D97-AF65-F5344CB8AC3E}">
        <p14:creationId xmlns:p14="http://schemas.microsoft.com/office/powerpoint/2010/main" val="172517562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72CECE-B11A-0D8B-E2F7-149F26A901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object 3">
            <a:extLst>
              <a:ext uri="{FF2B5EF4-FFF2-40B4-BE49-F238E27FC236}">
                <a16:creationId xmlns:a16="http://schemas.microsoft.com/office/drawing/2014/main" id="{E0D3A66B-E815-FFAD-A75C-4E58E59336F9}"/>
              </a:ext>
            </a:extLst>
          </p:cNvPr>
          <p:cNvGrpSpPr/>
          <p:nvPr/>
        </p:nvGrpSpPr>
        <p:grpSpPr>
          <a:xfrm>
            <a:off x="0" y="0"/>
            <a:ext cx="12197080" cy="123825"/>
            <a:chOff x="0" y="828738"/>
            <a:chExt cx="12197080" cy="123825"/>
          </a:xfrm>
        </p:grpSpPr>
        <p:sp>
          <p:nvSpPr>
            <p:cNvPr id="14" name="object 4">
              <a:extLst>
                <a:ext uri="{FF2B5EF4-FFF2-40B4-BE49-F238E27FC236}">
                  <a16:creationId xmlns:a16="http://schemas.microsoft.com/office/drawing/2014/main" id="{709A31D0-E39C-18E4-6B1B-7D60B6786890}"/>
                </a:ext>
              </a:extLst>
            </p:cNvPr>
            <p:cNvSpPr/>
            <p:nvPr/>
          </p:nvSpPr>
          <p:spPr>
            <a:xfrm>
              <a:off x="4763" y="833500"/>
              <a:ext cx="12187555" cy="114300"/>
            </a:xfrm>
            <a:custGeom>
              <a:avLst/>
              <a:gdLst/>
              <a:ahLst/>
              <a:cxnLst/>
              <a:rect l="l" t="t" r="r" b="b"/>
              <a:pathLst>
                <a:path w="12187555" h="114300">
                  <a:moveTo>
                    <a:pt x="12187236" y="0"/>
                  </a:moveTo>
                  <a:lnTo>
                    <a:pt x="0" y="0"/>
                  </a:lnTo>
                  <a:lnTo>
                    <a:pt x="0" y="114300"/>
                  </a:lnTo>
                  <a:lnTo>
                    <a:pt x="12187236" y="114300"/>
                  </a:lnTo>
                  <a:lnTo>
                    <a:pt x="12187236" y="0"/>
                  </a:lnTo>
                  <a:close/>
                </a:path>
              </a:pathLst>
            </a:custGeom>
            <a:solidFill>
              <a:srgbClr val="252573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15" name="object 5">
              <a:extLst>
                <a:ext uri="{FF2B5EF4-FFF2-40B4-BE49-F238E27FC236}">
                  <a16:creationId xmlns:a16="http://schemas.microsoft.com/office/drawing/2014/main" id="{EBB2C399-0957-B9AF-30F3-1C00FE80FE32}"/>
                </a:ext>
              </a:extLst>
            </p:cNvPr>
            <p:cNvSpPr/>
            <p:nvPr/>
          </p:nvSpPr>
          <p:spPr>
            <a:xfrm>
              <a:off x="4763" y="833500"/>
              <a:ext cx="12187555" cy="114300"/>
            </a:xfrm>
            <a:custGeom>
              <a:avLst/>
              <a:gdLst/>
              <a:ahLst/>
              <a:cxnLst/>
              <a:rect l="l" t="t" r="r" b="b"/>
              <a:pathLst>
                <a:path w="12187555" h="114300">
                  <a:moveTo>
                    <a:pt x="12187236" y="0"/>
                  </a:moveTo>
                  <a:lnTo>
                    <a:pt x="0" y="0"/>
                  </a:lnTo>
                  <a:lnTo>
                    <a:pt x="0" y="114300"/>
                  </a:lnTo>
                  <a:lnTo>
                    <a:pt x="12187236" y="114300"/>
                  </a:lnTo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6" name="object 3">
            <a:extLst>
              <a:ext uri="{FF2B5EF4-FFF2-40B4-BE49-F238E27FC236}">
                <a16:creationId xmlns:a16="http://schemas.microsoft.com/office/drawing/2014/main" id="{8234AAAF-B1A7-8470-5B40-5DE9036D2FCF}"/>
              </a:ext>
            </a:extLst>
          </p:cNvPr>
          <p:cNvGrpSpPr/>
          <p:nvPr/>
        </p:nvGrpSpPr>
        <p:grpSpPr>
          <a:xfrm>
            <a:off x="0" y="1196383"/>
            <a:ext cx="12197080" cy="123825"/>
            <a:chOff x="0" y="828738"/>
            <a:chExt cx="12197080" cy="123825"/>
          </a:xfrm>
        </p:grpSpPr>
        <p:sp>
          <p:nvSpPr>
            <p:cNvPr id="17" name="object 4">
              <a:extLst>
                <a:ext uri="{FF2B5EF4-FFF2-40B4-BE49-F238E27FC236}">
                  <a16:creationId xmlns:a16="http://schemas.microsoft.com/office/drawing/2014/main" id="{C35EF577-55FC-36D4-E517-0EB33760F9AC}"/>
                </a:ext>
              </a:extLst>
            </p:cNvPr>
            <p:cNvSpPr/>
            <p:nvPr/>
          </p:nvSpPr>
          <p:spPr>
            <a:xfrm>
              <a:off x="4763" y="833500"/>
              <a:ext cx="12187555" cy="114300"/>
            </a:xfrm>
            <a:custGeom>
              <a:avLst/>
              <a:gdLst/>
              <a:ahLst/>
              <a:cxnLst/>
              <a:rect l="l" t="t" r="r" b="b"/>
              <a:pathLst>
                <a:path w="12187555" h="114300">
                  <a:moveTo>
                    <a:pt x="12187236" y="0"/>
                  </a:moveTo>
                  <a:lnTo>
                    <a:pt x="0" y="0"/>
                  </a:lnTo>
                  <a:lnTo>
                    <a:pt x="0" y="114300"/>
                  </a:lnTo>
                  <a:lnTo>
                    <a:pt x="12187236" y="114300"/>
                  </a:lnTo>
                  <a:lnTo>
                    <a:pt x="12187236" y="0"/>
                  </a:lnTo>
                  <a:close/>
                </a:path>
              </a:pathLst>
            </a:custGeom>
            <a:solidFill>
              <a:srgbClr val="25257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5">
              <a:extLst>
                <a:ext uri="{FF2B5EF4-FFF2-40B4-BE49-F238E27FC236}">
                  <a16:creationId xmlns:a16="http://schemas.microsoft.com/office/drawing/2014/main" id="{70400363-A2FE-A303-333B-EE63E9802BF8}"/>
                </a:ext>
              </a:extLst>
            </p:cNvPr>
            <p:cNvSpPr/>
            <p:nvPr/>
          </p:nvSpPr>
          <p:spPr>
            <a:xfrm>
              <a:off x="4763" y="833500"/>
              <a:ext cx="12187555" cy="114300"/>
            </a:xfrm>
            <a:custGeom>
              <a:avLst/>
              <a:gdLst/>
              <a:ahLst/>
              <a:cxnLst/>
              <a:rect l="l" t="t" r="r" b="b"/>
              <a:pathLst>
                <a:path w="12187555" h="114300">
                  <a:moveTo>
                    <a:pt x="12187236" y="0"/>
                  </a:moveTo>
                  <a:lnTo>
                    <a:pt x="0" y="0"/>
                  </a:lnTo>
                  <a:lnTo>
                    <a:pt x="0" y="114300"/>
                  </a:lnTo>
                  <a:lnTo>
                    <a:pt x="12187236" y="114300"/>
                  </a:lnTo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1" name="TextBox 20">
            <a:extLst>
              <a:ext uri="{FF2B5EF4-FFF2-40B4-BE49-F238E27FC236}">
                <a16:creationId xmlns:a16="http://schemas.microsoft.com/office/drawing/2014/main" id="{8D81389C-F8BB-430D-6599-B5E4906AE53A}"/>
              </a:ext>
            </a:extLst>
          </p:cNvPr>
          <p:cNvSpPr txBox="1"/>
          <p:nvPr/>
        </p:nvSpPr>
        <p:spPr>
          <a:xfrm>
            <a:off x="4652126" y="258393"/>
            <a:ext cx="7159659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4400" b="1" dirty="0">
                <a:solidFill>
                  <a:srgbClr val="000000"/>
                </a:solidFill>
                <a:latin typeface="Arial Black" panose="020B0A04020102020204" pitchFamily="34" charset="0"/>
                <a:cs typeface="Arial" panose="020B0604020202020204" pitchFamily="34" charset="0"/>
                <a:sym typeface="Times New Roman Bold"/>
              </a:rPr>
              <a:t>Future Work</a:t>
            </a:r>
            <a:endParaRPr lang="en-IN" sz="4400" b="1" dirty="0">
              <a:latin typeface="Arial Black" panose="020B0A04020102020204" pitchFamily="34" charset="0"/>
            </a:endParaRPr>
          </a:p>
        </p:txBody>
      </p:sp>
      <p:grpSp>
        <p:nvGrpSpPr>
          <p:cNvPr id="187" name="Group 10">
            <a:extLst>
              <a:ext uri="{FF2B5EF4-FFF2-40B4-BE49-F238E27FC236}">
                <a16:creationId xmlns:a16="http://schemas.microsoft.com/office/drawing/2014/main" id="{7EF270C1-0690-B18D-0358-1BF0CF65D271}"/>
              </a:ext>
            </a:extLst>
          </p:cNvPr>
          <p:cNvGrpSpPr/>
          <p:nvPr/>
        </p:nvGrpSpPr>
        <p:grpSpPr>
          <a:xfrm>
            <a:off x="279948" y="1485503"/>
            <a:ext cx="1917117" cy="933179"/>
            <a:chOff x="0" y="0"/>
            <a:chExt cx="812800" cy="441477"/>
          </a:xfrm>
        </p:grpSpPr>
        <p:sp>
          <p:nvSpPr>
            <p:cNvPr id="188" name="Freeform 11">
              <a:extLst>
                <a:ext uri="{FF2B5EF4-FFF2-40B4-BE49-F238E27FC236}">
                  <a16:creationId xmlns:a16="http://schemas.microsoft.com/office/drawing/2014/main" id="{5122C35C-D376-C3EF-0191-2D85C59D543D}"/>
                </a:ext>
              </a:extLst>
            </p:cNvPr>
            <p:cNvSpPr/>
            <p:nvPr/>
          </p:nvSpPr>
          <p:spPr>
            <a:xfrm>
              <a:off x="0" y="0"/>
              <a:ext cx="812800" cy="441477"/>
            </a:xfrm>
            <a:custGeom>
              <a:avLst/>
              <a:gdLst/>
              <a:ahLst/>
              <a:cxnLst/>
              <a:rect l="l" t="t" r="r" b="b"/>
              <a:pathLst>
                <a:path w="812800" h="441477">
                  <a:moveTo>
                    <a:pt x="32358" y="0"/>
                  </a:moveTo>
                  <a:lnTo>
                    <a:pt x="780442" y="0"/>
                  </a:lnTo>
                  <a:cubicBezTo>
                    <a:pt x="798313" y="0"/>
                    <a:pt x="812800" y="14487"/>
                    <a:pt x="812800" y="32358"/>
                  </a:cubicBezTo>
                  <a:lnTo>
                    <a:pt x="812800" y="409119"/>
                  </a:lnTo>
                  <a:cubicBezTo>
                    <a:pt x="812800" y="426990"/>
                    <a:pt x="798313" y="441477"/>
                    <a:pt x="780442" y="441477"/>
                  </a:cubicBezTo>
                  <a:lnTo>
                    <a:pt x="32358" y="441477"/>
                  </a:lnTo>
                  <a:cubicBezTo>
                    <a:pt x="14487" y="441477"/>
                    <a:pt x="0" y="426990"/>
                    <a:pt x="0" y="409119"/>
                  </a:cubicBezTo>
                  <a:lnTo>
                    <a:pt x="0" y="32358"/>
                  </a:lnTo>
                  <a:cubicBezTo>
                    <a:pt x="0" y="14487"/>
                    <a:pt x="14487" y="0"/>
                    <a:pt x="32358" y="0"/>
                  </a:cubicBezTo>
                  <a:close/>
                </a:path>
              </a:pathLst>
            </a:custGeom>
            <a:solidFill>
              <a:srgbClr val="2D3546"/>
            </a:solidFill>
            <a:ln cap="sq">
              <a:noFill/>
              <a:prstDash val="solid"/>
              <a:miter/>
            </a:ln>
          </p:spPr>
        </p:sp>
        <p:sp>
          <p:nvSpPr>
            <p:cNvPr id="189" name="TextBox 12">
              <a:extLst>
                <a:ext uri="{FF2B5EF4-FFF2-40B4-BE49-F238E27FC236}">
                  <a16:creationId xmlns:a16="http://schemas.microsoft.com/office/drawing/2014/main" id="{240A6ECF-39C9-1022-4881-EBB7A01C2248}"/>
                </a:ext>
              </a:extLst>
            </p:cNvPr>
            <p:cNvSpPr txBox="1"/>
            <p:nvPr/>
          </p:nvSpPr>
          <p:spPr>
            <a:xfrm>
              <a:off x="0" y="0"/>
              <a:ext cx="812800" cy="44147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331"/>
                </a:lnSpc>
              </a:pPr>
              <a:endParaRPr/>
            </a:p>
          </p:txBody>
        </p:sp>
      </p:grpSp>
      <p:sp>
        <p:nvSpPr>
          <p:cNvPr id="193" name="TextBox 16">
            <a:extLst>
              <a:ext uri="{FF2B5EF4-FFF2-40B4-BE49-F238E27FC236}">
                <a16:creationId xmlns:a16="http://schemas.microsoft.com/office/drawing/2014/main" id="{CD10234E-5C1E-1B9D-0571-88AD4FC758DA}"/>
              </a:ext>
            </a:extLst>
          </p:cNvPr>
          <p:cNvSpPr txBox="1"/>
          <p:nvPr/>
        </p:nvSpPr>
        <p:spPr>
          <a:xfrm>
            <a:off x="600311" y="1767258"/>
            <a:ext cx="1321453" cy="30707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682"/>
              </a:lnSpc>
              <a:spcBef>
                <a:spcPct val="0"/>
              </a:spcBef>
            </a:pPr>
            <a:r>
              <a:rPr lang="en-US" sz="1400" dirty="0">
                <a:solidFill>
                  <a:srgbClr val="EAEAEC"/>
                </a:solidFill>
                <a:ea typeface="Garet"/>
                <a:cs typeface="Garet"/>
                <a:sym typeface="Garet"/>
              </a:rPr>
              <a:t>Phase 1</a:t>
            </a:r>
          </a:p>
        </p:txBody>
      </p:sp>
      <p:grpSp>
        <p:nvGrpSpPr>
          <p:cNvPr id="194" name="Group 17">
            <a:extLst>
              <a:ext uri="{FF2B5EF4-FFF2-40B4-BE49-F238E27FC236}">
                <a16:creationId xmlns:a16="http://schemas.microsoft.com/office/drawing/2014/main" id="{15029ED8-19D7-9AE8-1139-253AEC27A7FD}"/>
              </a:ext>
            </a:extLst>
          </p:cNvPr>
          <p:cNvGrpSpPr/>
          <p:nvPr/>
        </p:nvGrpSpPr>
        <p:grpSpPr>
          <a:xfrm>
            <a:off x="2733400" y="1517047"/>
            <a:ext cx="1917117" cy="933179"/>
            <a:chOff x="0" y="0"/>
            <a:chExt cx="812800" cy="441477"/>
          </a:xfrm>
        </p:grpSpPr>
        <p:sp>
          <p:nvSpPr>
            <p:cNvPr id="195" name="Freeform 18">
              <a:extLst>
                <a:ext uri="{FF2B5EF4-FFF2-40B4-BE49-F238E27FC236}">
                  <a16:creationId xmlns:a16="http://schemas.microsoft.com/office/drawing/2014/main" id="{9051ED0E-EF9E-C86A-5F4C-EAB0CC21B7D7}"/>
                </a:ext>
              </a:extLst>
            </p:cNvPr>
            <p:cNvSpPr/>
            <p:nvPr/>
          </p:nvSpPr>
          <p:spPr>
            <a:xfrm>
              <a:off x="0" y="0"/>
              <a:ext cx="812800" cy="441477"/>
            </a:xfrm>
            <a:custGeom>
              <a:avLst/>
              <a:gdLst/>
              <a:ahLst/>
              <a:cxnLst/>
              <a:rect l="l" t="t" r="r" b="b"/>
              <a:pathLst>
                <a:path w="812800" h="441477">
                  <a:moveTo>
                    <a:pt x="32358" y="0"/>
                  </a:moveTo>
                  <a:lnTo>
                    <a:pt x="780442" y="0"/>
                  </a:lnTo>
                  <a:cubicBezTo>
                    <a:pt x="798313" y="0"/>
                    <a:pt x="812800" y="14487"/>
                    <a:pt x="812800" y="32358"/>
                  </a:cubicBezTo>
                  <a:lnTo>
                    <a:pt x="812800" y="409119"/>
                  </a:lnTo>
                  <a:cubicBezTo>
                    <a:pt x="812800" y="426990"/>
                    <a:pt x="798313" y="441477"/>
                    <a:pt x="780442" y="441477"/>
                  </a:cubicBezTo>
                  <a:lnTo>
                    <a:pt x="32358" y="441477"/>
                  </a:lnTo>
                  <a:cubicBezTo>
                    <a:pt x="14487" y="441477"/>
                    <a:pt x="0" y="426990"/>
                    <a:pt x="0" y="409119"/>
                  </a:cubicBezTo>
                  <a:lnTo>
                    <a:pt x="0" y="32358"/>
                  </a:lnTo>
                  <a:cubicBezTo>
                    <a:pt x="0" y="14487"/>
                    <a:pt x="14487" y="0"/>
                    <a:pt x="32358" y="0"/>
                  </a:cubicBezTo>
                  <a:close/>
                </a:path>
              </a:pathLst>
            </a:custGeom>
            <a:solidFill>
              <a:srgbClr val="EAEAEC"/>
            </a:solidFill>
            <a:ln cap="sq">
              <a:noFill/>
              <a:prstDash val="solid"/>
              <a:miter/>
            </a:ln>
          </p:spPr>
        </p:sp>
        <p:sp>
          <p:nvSpPr>
            <p:cNvPr id="196" name="TextBox 19">
              <a:extLst>
                <a:ext uri="{FF2B5EF4-FFF2-40B4-BE49-F238E27FC236}">
                  <a16:creationId xmlns:a16="http://schemas.microsoft.com/office/drawing/2014/main" id="{27CADCF1-6D04-D7D4-6856-39992D424F03}"/>
                </a:ext>
              </a:extLst>
            </p:cNvPr>
            <p:cNvSpPr txBox="1"/>
            <p:nvPr/>
          </p:nvSpPr>
          <p:spPr>
            <a:xfrm>
              <a:off x="0" y="0"/>
              <a:ext cx="812800" cy="44147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331"/>
                </a:lnSpc>
              </a:pPr>
              <a:endParaRPr/>
            </a:p>
          </p:txBody>
        </p:sp>
      </p:grpSp>
      <p:sp>
        <p:nvSpPr>
          <p:cNvPr id="200" name="TextBox 23">
            <a:extLst>
              <a:ext uri="{FF2B5EF4-FFF2-40B4-BE49-F238E27FC236}">
                <a16:creationId xmlns:a16="http://schemas.microsoft.com/office/drawing/2014/main" id="{64D81AC0-DD26-E445-D87A-F3FB87E3173E}"/>
              </a:ext>
            </a:extLst>
          </p:cNvPr>
          <p:cNvSpPr txBox="1"/>
          <p:nvPr/>
        </p:nvSpPr>
        <p:spPr>
          <a:xfrm>
            <a:off x="2997714" y="1708842"/>
            <a:ext cx="1321453" cy="30707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682"/>
              </a:lnSpc>
              <a:spcBef>
                <a:spcPct val="0"/>
              </a:spcBef>
            </a:pPr>
            <a:r>
              <a:rPr lang="en-IN" sz="1400" dirty="0"/>
              <a:t>Literature Review</a:t>
            </a:r>
            <a:endParaRPr lang="en-US" sz="1400" dirty="0">
              <a:solidFill>
                <a:srgbClr val="000000"/>
              </a:solidFill>
              <a:ea typeface="Garet"/>
              <a:cs typeface="Garet"/>
              <a:sym typeface="Garet"/>
            </a:endParaRPr>
          </a:p>
        </p:txBody>
      </p:sp>
      <p:grpSp>
        <p:nvGrpSpPr>
          <p:cNvPr id="203" name="Group 26">
            <a:extLst>
              <a:ext uri="{FF2B5EF4-FFF2-40B4-BE49-F238E27FC236}">
                <a16:creationId xmlns:a16="http://schemas.microsoft.com/office/drawing/2014/main" id="{4DA700AD-1977-2D89-92F1-B666A0FCB936}"/>
              </a:ext>
            </a:extLst>
          </p:cNvPr>
          <p:cNvGrpSpPr/>
          <p:nvPr/>
        </p:nvGrpSpPr>
        <p:grpSpPr>
          <a:xfrm>
            <a:off x="5193664" y="1505421"/>
            <a:ext cx="1917117" cy="933179"/>
            <a:chOff x="0" y="0"/>
            <a:chExt cx="812800" cy="441477"/>
          </a:xfrm>
        </p:grpSpPr>
        <p:sp>
          <p:nvSpPr>
            <p:cNvPr id="204" name="Freeform 27">
              <a:extLst>
                <a:ext uri="{FF2B5EF4-FFF2-40B4-BE49-F238E27FC236}">
                  <a16:creationId xmlns:a16="http://schemas.microsoft.com/office/drawing/2014/main" id="{541BBEA6-91CE-0F8E-13B6-7599FF9E5AA3}"/>
                </a:ext>
              </a:extLst>
            </p:cNvPr>
            <p:cNvSpPr/>
            <p:nvPr/>
          </p:nvSpPr>
          <p:spPr>
            <a:xfrm>
              <a:off x="0" y="0"/>
              <a:ext cx="812800" cy="441477"/>
            </a:xfrm>
            <a:custGeom>
              <a:avLst/>
              <a:gdLst/>
              <a:ahLst/>
              <a:cxnLst/>
              <a:rect l="l" t="t" r="r" b="b"/>
              <a:pathLst>
                <a:path w="812800" h="441477">
                  <a:moveTo>
                    <a:pt x="32358" y="0"/>
                  </a:moveTo>
                  <a:lnTo>
                    <a:pt x="780442" y="0"/>
                  </a:lnTo>
                  <a:cubicBezTo>
                    <a:pt x="798313" y="0"/>
                    <a:pt x="812800" y="14487"/>
                    <a:pt x="812800" y="32358"/>
                  </a:cubicBezTo>
                  <a:lnTo>
                    <a:pt x="812800" y="409119"/>
                  </a:lnTo>
                  <a:cubicBezTo>
                    <a:pt x="812800" y="426990"/>
                    <a:pt x="798313" y="441477"/>
                    <a:pt x="780442" y="441477"/>
                  </a:cubicBezTo>
                  <a:lnTo>
                    <a:pt x="32358" y="441477"/>
                  </a:lnTo>
                  <a:cubicBezTo>
                    <a:pt x="14487" y="441477"/>
                    <a:pt x="0" y="426990"/>
                    <a:pt x="0" y="409119"/>
                  </a:cubicBezTo>
                  <a:lnTo>
                    <a:pt x="0" y="32358"/>
                  </a:lnTo>
                  <a:cubicBezTo>
                    <a:pt x="0" y="14487"/>
                    <a:pt x="14487" y="0"/>
                    <a:pt x="32358" y="0"/>
                  </a:cubicBezTo>
                  <a:close/>
                </a:path>
              </a:pathLst>
            </a:custGeom>
            <a:solidFill>
              <a:srgbClr val="EAEAEC"/>
            </a:solidFill>
            <a:ln cap="sq">
              <a:noFill/>
              <a:prstDash val="solid"/>
              <a:miter/>
            </a:ln>
          </p:spPr>
        </p:sp>
        <p:sp>
          <p:nvSpPr>
            <p:cNvPr id="205" name="TextBox 28">
              <a:extLst>
                <a:ext uri="{FF2B5EF4-FFF2-40B4-BE49-F238E27FC236}">
                  <a16:creationId xmlns:a16="http://schemas.microsoft.com/office/drawing/2014/main" id="{796BAE9B-860C-3D40-6EEB-B395505CC7CC}"/>
                </a:ext>
              </a:extLst>
            </p:cNvPr>
            <p:cNvSpPr txBox="1"/>
            <p:nvPr/>
          </p:nvSpPr>
          <p:spPr>
            <a:xfrm>
              <a:off x="0" y="0"/>
              <a:ext cx="812800" cy="44147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331"/>
                </a:lnSpc>
              </a:pPr>
              <a:endParaRPr/>
            </a:p>
          </p:txBody>
        </p:sp>
      </p:grpSp>
      <p:sp>
        <p:nvSpPr>
          <p:cNvPr id="209" name="TextBox 32">
            <a:extLst>
              <a:ext uri="{FF2B5EF4-FFF2-40B4-BE49-F238E27FC236}">
                <a16:creationId xmlns:a16="http://schemas.microsoft.com/office/drawing/2014/main" id="{1A04DAAC-FEE4-DEDC-622B-8678AE0E2E51}"/>
              </a:ext>
            </a:extLst>
          </p:cNvPr>
          <p:cNvSpPr txBox="1"/>
          <p:nvPr/>
        </p:nvSpPr>
        <p:spPr>
          <a:xfrm>
            <a:off x="5364214" y="1765403"/>
            <a:ext cx="1593575" cy="30707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682"/>
              </a:lnSpc>
              <a:spcBef>
                <a:spcPct val="0"/>
              </a:spcBef>
            </a:pPr>
            <a:r>
              <a:rPr lang="en-US" sz="1400" dirty="0">
                <a:solidFill>
                  <a:srgbClr val="000000"/>
                </a:solidFill>
                <a:ea typeface="Garet"/>
                <a:cs typeface="Garet"/>
                <a:sym typeface="Garet"/>
              </a:rPr>
              <a:t>Exercise Selection</a:t>
            </a:r>
          </a:p>
        </p:txBody>
      </p:sp>
      <p:grpSp>
        <p:nvGrpSpPr>
          <p:cNvPr id="211" name="Group 34">
            <a:extLst>
              <a:ext uri="{FF2B5EF4-FFF2-40B4-BE49-F238E27FC236}">
                <a16:creationId xmlns:a16="http://schemas.microsoft.com/office/drawing/2014/main" id="{72CEFCAE-9C87-AA6C-848A-5CE15AFC4C2D}"/>
              </a:ext>
            </a:extLst>
          </p:cNvPr>
          <p:cNvGrpSpPr/>
          <p:nvPr/>
        </p:nvGrpSpPr>
        <p:grpSpPr>
          <a:xfrm>
            <a:off x="7664216" y="4226776"/>
            <a:ext cx="1917117" cy="933179"/>
            <a:chOff x="0" y="0"/>
            <a:chExt cx="812800" cy="441477"/>
          </a:xfrm>
        </p:grpSpPr>
        <p:sp>
          <p:nvSpPr>
            <p:cNvPr id="212" name="Freeform 35">
              <a:extLst>
                <a:ext uri="{FF2B5EF4-FFF2-40B4-BE49-F238E27FC236}">
                  <a16:creationId xmlns:a16="http://schemas.microsoft.com/office/drawing/2014/main" id="{7F763255-0EDB-2569-A29B-13B7A25C2693}"/>
                </a:ext>
              </a:extLst>
            </p:cNvPr>
            <p:cNvSpPr/>
            <p:nvPr/>
          </p:nvSpPr>
          <p:spPr>
            <a:xfrm>
              <a:off x="0" y="0"/>
              <a:ext cx="812800" cy="441477"/>
            </a:xfrm>
            <a:custGeom>
              <a:avLst/>
              <a:gdLst/>
              <a:ahLst/>
              <a:cxnLst/>
              <a:rect l="l" t="t" r="r" b="b"/>
              <a:pathLst>
                <a:path w="812800" h="441477">
                  <a:moveTo>
                    <a:pt x="32358" y="0"/>
                  </a:moveTo>
                  <a:lnTo>
                    <a:pt x="780442" y="0"/>
                  </a:lnTo>
                  <a:cubicBezTo>
                    <a:pt x="798313" y="0"/>
                    <a:pt x="812800" y="14487"/>
                    <a:pt x="812800" y="32358"/>
                  </a:cubicBezTo>
                  <a:lnTo>
                    <a:pt x="812800" y="409119"/>
                  </a:lnTo>
                  <a:cubicBezTo>
                    <a:pt x="812800" y="426990"/>
                    <a:pt x="798313" y="441477"/>
                    <a:pt x="780442" y="441477"/>
                  </a:cubicBezTo>
                  <a:lnTo>
                    <a:pt x="32358" y="441477"/>
                  </a:lnTo>
                  <a:cubicBezTo>
                    <a:pt x="14487" y="441477"/>
                    <a:pt x="0" y="426990"/>
                    <a:pt x="0" y="409119"/>
                  </a:cubicBezTo>
                  <a:lnTo>
                    <a:pt x="0" y="32358"/>
                  </a:lnTo>
                  <a:cubicBezTo>
                    <a:pt x="0" y="14487"/>
                    <a:pt x="14487" y="0"/>
                    <a:pt x="32358" y="0"/>
                  </a:cubicBezTo>
                  <a:close/>
                </a:path>
              </a:pathLst>
            </a:custGeom>
            <a:solidFill>
              <a:srgbClr val="EAEAEC"/>
            </a:solidFill>
            <a:ln cap="sq">
              <a:noFill/>
              <a:prstDash val="solid"/>
              <a:miter/>
            </a:ln>
          </p:spPr>
        </p:sp>
        <p:sp>
          <p:nvSpPr>
            <p:cNvPr id="213" name="TextBox 36">
              <a:extLst>
                <a:ext uri="{FF2B5EF4-FFF2-40B4-BE49-F238E27FC236}">
                  <a16:creationId xmlns:a16="http://schemas.microsoft.com/office/drawing/2014/main" id="{01E5976E-9BD0-95EB-38B1-71BC7B0828E8}"/>
                </a:ext>
              </a:extLst>
            </p:cNvPr>
            <p:cNvSpPr txBox="1"/>
            <p:nvPr/>
          </p:nvSpPr>
          <p:spPr>
            <a:xfrm>
              <a:off x="0" y="0"/>
              <a:ext cx="812800" cy="44147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331"/>
                </a:lnSpc>
              </a:pPr>
              <a:endParaRPr/>
            </a:p>
          </p:txBody>
        </p:sp>
      </p:grpSp>
      <p:grpSp>
        <p:nvGrpSpPr>
          <p:cNvPr id="220" name="Group 43">
            <a:extLst>
              <a:ext uri="{FF2B5EF4-FFF2-40B4-BE49-F238E27FC236}">
                <a16:creationId xmlns:a16="http://schemas.microsoft.com/office/drawing/2014/main" id="{672CDAA4-9779-3285-40D5-5BCBEB502044}"/>
              </a:ext>
            </a:extLst>
          </p:cNvPr>
          <p:cNvGrpSpPr/>
          <p:nvPr/>
        </p:nvGrpSpPr>
        <p:grpSpPr>
          <a:xfrm>
            <a:off x="5225138" y="4204988"/>
            <a:ext cx="1917117" cy="933179"/>
            <a:chOff x="0" y="0"/>
            <a:chExt cx="812800" cy="441477"/>
          </a:xfrm>
        </p:grpSpPr>
        <p:sp>
          <p:nvSpPr>
            <p:cNvPr id="221" name="Freeform 44">
              <a:extLst>
                <a:ext uri="{FF2B5EF4-FFF2-40B4-BE49-F238E27FC236}">
                  <a16:creationId xmlns:a16="http://schemas.microsoft.com/office/drawing/2014/main" id="{1B31C87F-729E-C378-A14E-A4B5BE3558F5}"/>
                </a:ext>
              </a:extLst>
            </p:cNvPr>
            <p:cNvSpPr/>
            <p:nvPr/>
          </p:nvSpPr>
          <p:spPr>
            <a:xfrm>
              <a:off x="0" y="0"/>
              <a:ext cx="812800" cy="441477"/>
            </a:xfrm>
            <a:custGeom>
              <a:avLst/>
              <a:gdLst/>
              <a:ahLst/>
              <a:cxnLst/>
              <a:rect l="l" t="t" r="r" b="b"/>
              <a:pathLst>
                <a:path w="812800" h="441477">
                  <a:moveTo>
                    <a:pt x="32358" y="0"/>
                  </a:moveTo>
                  <a:lnTo>
                    <a:pt x="780442" y="0"/>
                  </a:lnTo>
                  <a:cubicBezTo>
                    <a:pt x="798313" y="0"/>
                    <a:pt x="812800" y="14487"/>
                    <a:pt x="812800" y="32358"/>
                  </a:cubicBezTo>
                  <a:lnTo>
                    <a:pt x="812800" y="409119"/>
                  </a:lnTo>
                  <a:cubicBezTo>
                    <a:pt x="812800" y="426990"/>
                    <a:pt x="798313" y="441477"/>
                    <a:pt x="780442" y="441477"/>
                  </a:cubicBezTo>
                  <a:lnTo>
                    <a:pt x="32358" y="441477"/>
                  </a:lnTo>
                  <a:cubicBezTo>
                    <a:pt x="14487" y="441477"/>
                    <a:pt x="0" y="426990"/>
                    <a:pt x="0" y="409119"/>
                  </a:cubicBezTo>
                  <a:lnTo>
                    <a:pt x="0" y="32358"/>
                  </a:lnTo>
                  <a:cubicBezTo>
                    <a:pt x="0" y="14487"/>
                    <a:pt x="14487" y="0"/>
                    <a:pt x="32358" y="0"/>
                  </a:cubicBezTo>
                  <a:close/>
                </a:path>
              </a:pathLst>
            </a:custGeom>
            <a:solidFill>
              <a:srgbClr val="EAEAEC"/>
            </a:solidFill>
            <a:ln cap="sq">
              <a:noFill/>
              <a:prstDash val="solid"/>
              <a:miter/>
            </a:ln>
          </p:spPr>
        </p:sp>
        <p:sp>
          <p:nvSpPr>
            <p:cNvPr id="222" name="TextBox 45">
              <a:extLst>
                <a:ext uri="{FF2B5EF4-FFF2-40B4-BE49-F238E27FC236}">
                  <a16:creationId xmlns:a16="http://schemas.microsoft.com/office/drawing/2014/main" id="{5FDB87E6-9EF3-4B8C-A850-CBC095E2A884}"/>
                </a:ext>
              </a:extLst>
            </p:cNvPr>
            <p:cNvSpPr txBox="1"/>
            <p:nvPr/>
          </p:nvSpPr>
          <p:spPr>
            <a:xfrm>
              <a:off x="0" y="0"/>
              <a:ext cx="812800" cy="44147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331"/>
                </a:lnSpc>
              </a:pPr>
              <a:endParaRPr/>
            </a:p>
          </p:txBody>
        </p:sp>
      </p:grpSp>
      <p:sp>
        <p:nvSpPr>
          <p:cNvPr id="233" name="TextBox 56">
            <a:extLst>
              <a:ext uri="{FF2B5EF4-FFF2-40B4-BE49-F238E27FC236}">
                <a16:creationId xmlns:a16="http://schemas.microsoft.com/office/drawing/2014/main" id="{CE01EAAD-B88A-DB6B-B194-887D1F1B6BA1}"/>
              </a:ext>
            </a:extLst>
          </p:cNvPr>
          <p:cNvSpPr txBox="1"/>
          <p:nvPr/>
        </p:nvSpPr>
        <p:spPr>
          <a:xfrm>
            <a:off x="5194169" y="4426839"/>
            <a:ext cx="1951349" cy="65332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682"/>
              </a:lnSpc>
              <a:spcBef>
                <a:spcPct val="0"/>
              </a:spcBef>
            </a:pPr>
            <a:endParaRPr lang="en-US" sz="1400" dirty="0">
              <a:solidFill>
                <a:srgbClr val="000000"/>
              </a:solidFill>
              <a:ea typeface="Garet"/>
              <a:cs typeface="Garet"/>
              <a:sym typeface="Garet"/>
            </a:endParaRPr>
          </a:p>
          <a:p>
            <a:pPr algn="ctr">
              <a:lnSpc>
                <a:spcPts val="2682"/>
              </a:lnSpc>
              <a:spcBef>
                <a:spcPct val="0"/>
              </a:spcBef>
            </a:pPr>
            <a:endParaRPr lang="en-US" sz="1400" dirty="0">
              <a:solidFill>
                <a:srgbClr val="000000"/>
              </a:solidFill>
              <a:ea typeface="Garet"/>
              <a:cs typeface="Garet"/>
              <a:sym typeface="Garet"/>
            </a:endParaRPr>
          </a:p>
        </p:txBody>
      </p:sp>
      <p:grpSp>
        <p:nvGrpSpPr>
          <p:cNvPr id="235" name="Group 58">
            <a:extLst>
              <a:ext uri="{FF2B5EF4-FFF2-40B4-BE49-F238E27FC236}">
                <a16:creationId xmlns:a16="http://schemas.microsoft.com/office/drawing/2014/main" id="{EAA840DA-5114-52EB-1823-ECA0CC03DFE9}"/>
              </a:ext>
            </a:extLst>
          </p:cNvPr>
          <p:cNvGrpSpPr/>
          <p:nvPr/>
        </p:nvGrpSpPr>
        <p:grpSpPr>
          <a:xfrm>
            <a:off x="5200774" y="2869947"/>
            <a:ext cx="1917117" cy="933179"/>
            <a:chOff x="0" y="0"/>
            <a:chExt cx="812800" cy="441477"/>
          </a:xfrm>
        </p:grpSpPr>
        <p:sp>
          <p:nvSpPr>
            <p:cNvPr id="236" name="Freeform 59">
              <a:extLst>
                <a:ext uri="{FF2B5EF4-FFF2-40B4-BE49-F238E27FC236}">
                  <a16:creationId xmlns:a16="http://schemas.microsoft.com/office/drawing/2014/main" id="{3E77B418-A6AC-692C-C038-FD77957D27C3}"/>
                </a:ext>
              </a:extLst>
            </p:cNvPr>
            <p:cNvSpPr/>
            <p:nvPr/>
          </p:nvSpPr>
          <p:spPr>
            <a:xfrm>
              <a:off x="0" y="0"/>
              <a:ext cx="812800" cy="441477"/>
            </a:xfrm>
            <a:custGeom>
              <a:avLst/>
              <a:gdLst/>
              <a:ahLst/>
              <a:cxnLst/>
              <a:rect l="l" t="t" r="r" b="b"/>
              <a:pathLst>
                <a:path w="812800" h="441477">
                  <a:moveTo>
                    <a:pt x="32358" y="0"/>
                  </a:moveTo>
                  <a:lnTo>
                    <a:pt x="780442" y="0"/>
                  </a:lnTo>
                  <a:cubicBezTo>
                    <a:pt x="798313" y="0"/>
                    <a:pt x="812800" y="14487"/>
                    <a:pt x="812800" y="32358"/>
                  </a:cubicBezTo>
                  <a:lnTo>
                    <a:pt x="812800" y="409119"/>
                  </a:lnTo>
                  <a:cubicBezTo>
                    <a:pt x="812800" y="426990"/>
                    <a:pt x="798313" y="441477"/>
                    <a:pt x="780442" y="441477"/>
                  </a:cubicBezTo>
                  <a:lnTo>
                    <a:pt x="32358" y="441477"/>
                  </a:lnTo>
                  <a:cubicBezTo>
                    <a:pt x="14487" y="441477"/>
                    <a:pt x="0" y="426990"/>
                    <a:pt x="0" y="409119"/>
                  </a:cubicBezTo>
                  <a:lnTo>
                    <a:pt x="0" y="32358"/>
                  </a:lnTo>
                  <a:cubicBezTo>
                    <a:pt x="0" y="14487"/>
                    <a:pt x="14487" y="0"/>
                    <a:pt x="32358" y="0"/>
                  </a:cubicBezTo>
                  <a:close/>
                </a:path>
              </a:pathLst>
            </a:custGeom>
            <a:solidFill>
              <a:srgbClr val="EAEAEC"/>
            </a:solidFill>
            <a:ln cap="sq">
              <a:noFill/>
              <a:prstDash val="solid"/>
              <a:miter/>
            </a:ln>
          </p:spPr>
        </p:sp>
        <p:sp>
          <p:nvSpPr>
            <p:cNvPr id="237" name="TextBox 60">
              <a:extLst>
                <a:ext uri="{FF2B5EF4-FFF2-40B4-BE49-F238E27FC236}">
                  <a16:creationId xmlns:a16="http://schemas.microsoft.com/office/drawing/2014/main" id="{4B7A27B0-C195-09DC-1EA1-78E9C5995EEA}"/>
                </a:ext>
              </a:extLst>
            </p:cNvPr>
            <p:cNvSpPr txBox="1"/>
            <p:nvPr/>
          </p:nvSpPr>
          <p:spPr>
            <a:xfrm>
              <a:off x="0" y="0"/>
              <a:ext cx="812800" cy="44147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331"/>
                </a:lnSpc>
              </a:pPr>
              <a:endParaRPr/>
            </a:p>
          </p:txBody>
        </p:sp>
      </p:grpSp>
      <p:sp>
        <p:nvSpPr>
          <p:cNvPr id="262" name="TextBox 85">
            <a:extLst>
              <a:ext uri="{FF2B5EF4-FFF2-40B4-BE49-F238E27FC236}">
                <a16:creationId xmlns:a16="http://schemas.microsoft.com/office/drawing/2014/main" id="{1BB7F950-F252-FA86-03BA-179238099D02}"/>
              </a:ext>
            </a:extLst>
          </p:cNvPr>
          <p:cNvSpPr txBox="1"/>
          <p:nvPr/>
        </p:nvSpPr>
        <p:spPr>
          <a:xfrm>
            <a:off x="8889708" y="4996111"/>
            <a:ext cx="397461" cy="371607"/>
          </a:xfrm>
          <a:prstGeom prst="rect">
            <a:avLst/>
          </a:prstGeom>
        </p:spPr>
        <p:txBody>
          <a:bodyPr lIns="50800" tIns="50800" rIns="50800" bIns="50800" rtlCol="0" anchor="ctr"/>
          <a:lstStyle/>
          <a:p>
            <a:pPr algn="ctr">
              <a:lnSpc>
                <a:spcPts val="1679"/>
              </a:lnSpc>
            </a:pPr>
            <a:r>
              <a:rPr lang="en-US" sz="1200" b="1" dirty="0">
                <a:solidFill>
                  <a:srgbClr val="FFFFFF"/>
                </a:solidFill>
                <a:latin typeface="Garet Bold"/>
                <a:ea typeface="Garet Bold"/>
                <a:cs typeface="Garet Bold"/>
                <a:sym typeface="Garet Bold"/>
              </a:rPr>
              <a:t>9</a:t>
            </a:r>
          </a:p>
        </p:txBody>
      </p:sp>
      <p:grpSp>
        <p:nvGrpSpPr>
          <p:cNvPr id="307" name="Group 34">
            <a:extLst>
              <a:ext uri="{FF2B5EF4-FFF2-40B4-BE49-F238E27FC236}">
                <a16:creationId xmlns:a16="http://schemas.microsoft.com/office/drawing/2014/main" id="{489320C7-B2D2-4D7B-EBE5-5D5B47630C7A}"/>
              </a:ext>
            </a:extLst>
          </p:cNvPr>
          <p:cNvGrpSpPr/>
          <p:nvPr/>
        </p:nvGrpSpPr>
        <p:grpSpPr>
          <a:xfrm>
            <a:off x="2750337" y="5527676"/>
            <a:ext cx="1917117" cy="933179"/>
            <a:chOff x="0" y="0"/>
            <a:chExt cx="812800" cy="441477"/>
          </a:xfrm>
        </p:grpSpPr>
        <p:sp>
          <p:nvSpPr>
            <p:cNvPr id="308" name="Freeform 35">
              <a:extLst>
                <a:ext uri="{FF2B5EF4-FFF2-40B4-BE49-F238E27FC236}">
                  <a16:creationId xmlns:a16="http://schemas.microsoft.com/office/drawing/2014/main" id="{C24F328B-79D8-4EEC-2143-A7170C13FB3A}"/>
                </a:ext>
              </a:extLst>
            </p:cNvPr>
            <p:cNvSpPr/>
            <p:nvPr/>
          </p:nvSpPr>
          <p:spPr>
            <a:xfrm>
              <a:off x="0" y="0"/>
              <a:ext cx="812800" cy="441477"/>
            </a:xfrm>
            <a:custGeom>
              <a:avLst/>
              <a:gdLst/>
              <a:ahLst/>
              <a:cxnLst/>
              <a:rect l="l" t="t" r="r" b="b"/>
              <a:pathLst>
                <a:path w="812800" h="441477">
                  <a:moveTo>
                    <a:pt x="32358" y="0"/>
                  </a:moveTo>
                  <a:lnTo>
                    <a:pt x="780442" y="0"/>
                  </a:lnTo>
                  <a:cubicBezTo>
                    <a:pt x="798313" y="0"/>
                    <a:pt x="812800" y="14487"/>
                    <a:pt x="812800" y="32358"/>
                  </a:cubicBezTo>
                  <a:lnTo>
                    <a:pt x="812800" y="409119"/>
                  </a:lnTo>
                  <a:cubicBezTo>
                    <a:pt x="812800" y="426990"/>
                    <a:pt x="798313" y="441477"/>
                    <a:pt x="780442" y="441477"/>
                  </a:cubicBezTo>
                  <a:lnTo>
                    <a:pt x="32358" y="441477"/>
                  </a:lnTo>
                  <a:cubicBezTo>
                    <a:pt x="14487" y="441477"/>
                    <a:pt x="0" y="426990"/>
                    <a:pt x="0" y="409119"/>
                  </a:cubicBezTo>
                  <a:lnTo>
                    <a:pt x="0" y="32358"/>
                  </a:lnTo>
                  <a:cubicBezTo>
                    <a:pt x="0" y="14487"/>
                    <a:pt x="14487" y="0"/>
                    <a:pt x="32358" y="0"/>
                  </a:cubicBezTo>
                  <a:close/>
                </a:path>
              </a:pathLst>
            </a:custGeom>
            <a:solidFill>
              <a:srgbClr val="EAEAEC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IN" dirty="0"/>
            </a:p>
          </p:txBody>
        </p:sp>
        <p:sp>
          <p:nvSpPr>
            <p:cNvPr id="309" name="TextBox 36">
              <a:extLst>
                <a:ext uri="{FF2B5EF4-FFF2-40B4-BE49-F238E27FC236}">
                  <a16:creationId xmlns:a16="http://schemas.microsoft.com/office/drawing/2014/main" id="{6F481963-D66B-8C0B-DF62-5AB663FC2C38}"/>
                </a:ext>
              </a:extLst>
            </p:cNvPr>
            <p:cNvSpPr txBox="1"/>
            <p:nvPr/>
          </p:nvSpPr>
          <p:spPr>
            <a:xfrm>
              <a:off x="0" y="0"/>
              <a:ext cx="812800" cy="44147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331"/>
                </a:lnSpc>
              </a:pPr>
              <a:endParaRPr/>
            </a:p>
          </p:txBody>
        </p:sp>
      </p:grpSp>
      <p:sp>
        <p:nvSpPr>
          <p:cNvPr id="9" name="AutoShape 69">
            <a:extLst>
              <a:ext uri="{FF2B5EF4-FFF2-40B4-BE49-F238E27FC236}">
                <a16:creationId xmlns:a16="http://schemas.microsoft.com/office/drawing/2014/main" id="{86825D00-39B7-2D6C-A970-DBE669DD4789}"/>
              </a:ext>
            </a:extLst>
          </p:cNvPr>
          <p:cNvSpPr/>
          <p:nvPr/>
        </p:nvSpPr>
        <p:spPr>
          <a:xfrm flipV="1">
            <a:off x="2196444" y="2036186"/>
            <a:ext cx="546755" cy="9430"/>
          </a:xfrm>
          <a:prstGeom prst="line">
            <a:avLst/>
          </a:prstGeom>
          <a:ln w="28575" cap="rnd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A9B86BB-3E87-02B8-A33D-4CF158B66B5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59756"/>
            <a:ext cx="3827282" cy="1025592"/>
          </a:xfrm>
          <a:prstGeom prst="rect">
            <a:avLst/>
          </a:prstGeom>
        </p:spPr>
      </p:pic>
      <p:grpSp>
        <p:nvGrpSpPr>
          <p:cNvPr id="7" name="Group 10">
            <a:extLst>
              <a:ext uri="{FF2B5EF4-FFF2-40B4-BE49-F238E27FC236}">
                <a16:creationId xmlns:a16="http://schemas.microsoft.com/office/drawing/2014/main" id="{E7A32219-8D9F-2CC1-7DEA-59403D97C5A6}"/>
              </a:ext>
            </a:extLst>
          </p:cNvPr>
          <p:cNvGrpSpPr/>
          <p:nvPr/>
        </p:nvGrpSpPr>
        <p:grpSpPr>
          <a:xfrm>
            <a:off x="309798" y="2797399"/>
            <a:ext cx="1917117" cy="933179"/>
            <a:chOff x="0" y="0"/>
            <a:chExt cx="812800" cy="441477"/>
          </a:xfrm>
        </p:grpSpPr>
        <p:sp>
          <p:nvSpPr>
            <p:cNvPr id="12" name="Freeform 11">
              <a:extLst>
                <a:ext uri="{FF2B5EF4-FFF2-40B4-BE49-F238E27FC236}">
                  <a16:creationId xmlns:a16="http://schemas.microsoft.com/office/drawing/2014/main" id="{0BDC8033-ED02-83B3-6AA2-079C6EE875B3}"/>
                </a:ext>
              </a:extLst>
            </p:cNvPr>
            <p:cNvSpPr/>
            <p:nvPr/>
          </p:nvSpPr>
          <p:spPr>
            <a:xfrm>
              <a:off x="0" y="0"/>
              <a:ext cx="812800" cy="441477"/>
            </a:xfrm>
            <a:custGeom>
              <a:avLst/>
              <a:gdLst/>
              <a:ahLst/>
              <a:cxnLst/>
              <a:rect l="l" t="t" r="r" b="b"/>
              <a:pathLst>
                <a:path w="812800" h="441477">
                  <a:moveTo>
                    <a:pt x="32358" y="0"/>
                  </a:moveTo>
                  <a:lnTo>
                    <a:pt x="780442" y="0"/>
                  </a:lnTo>
                  <a:cubicBezTo>
                    <a:pt x="798313" y="0"/>
                    <a:pt x="812800" y="14487"/>
                    <a:pt x="812800" y="32358"/>
                  </a:cubicBezTo>
                  <a:lnTo>
                    <a:pt x="812800" y="409119"/>
                  </a:lnTo>
                  <a:cubicBezTo>
                    <a:pt x="812800" y="426990"/>
                    <a:pt x="798313" y="441477"/>
                    <a:pt x="780442" y="441477"/>
                  </a:cubicBezTo>
                  <a:lnTo>
                    <a:pt x="32358" y="441477"/>
                  </a:lnTo>
                  <a:cubicBezTo>
                    <a:pt x="14487" y="441477"/>
                    <a:pt x="0" y="426990"/>
                    <a:pt x="0" y="409119"/>
                  </a:cubicBezTo>
                  <a:lnTo>
                    <a:pt x="0" y="32358"/>
                  </a:lnTo>
                  <a:cubicBezTo>
                    <a:pt x="0" y="14487"/>
                    <a:pt x="14487" y="0"/>
                    <a:pt x="32358" y="0"/>
                  </a:cubicBezTo>
                  <a:close/>
                </a:path>
              </a:pathLst>
            </a:custGeom>
            <a:solidFill>
              <a:srgbClr val="2D3546"/>
            </a:solidFill>
            <a:ln cap="sq">
              <a:noFill/>
              <a:prstDash val="solid"/>
              <a:miter/>
            </a:ln>
          </p:spPr>
        </p:sp>
        <p:sp>
          <p:nvSpPr>
            <p:cNvPr id="19" name="TextBox 12">
              <a:extLst>
                <a:ext uri="{FF2B5EF4-FFF2-40B4-BE49-F238E27FC236}">
                  <a16:creationId xmlns:a16="http://schemas.microsoft.com/office/drawing/2014/main" id="{62EFA332-8D4F-9A1C-532C-80CE9A694890}"/>
                </a:ext>
              </a:extLst>
            </p:cNvPr>
            <p:cNvSpPr txBox="1"/>
            <p:nvPr/>
          </p:nvSpPr>
          <p:spPr>
            <a:xfrm>
              <a:off x="0" y="0"/>
              <a:ext cx="812800" cy="44147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331"/>
                </a:lnSpc>
              </a:pPr>
              <a:endParaRPr/>
            </a:p>
          </p:txBody>
        </p:sp>
      </p:grpSp>
      <p:sp>
        <p:nvSpPr>
          <p:cNvPr id="24" name="TextBox 16">
            <a:extLst>
              <a:ext uri="{FF2B5EF4-FFF2-40B4-BE49-F238E27FC236}">
                <a16:creationId xmlns:a16="http://schemas.microsoft.com/office/drawing/2014/main" id="{8CCEF8CE-796C-1953-2008-F1733EEC5503}"/>
              </a:ext>
            </a:extLst>
          </p:cNvPr>
          <p:cNvSpPr txBox="1"/>
          <p:nvPr/>
        </p:nvSpPr>
        <p:spPr>
          <a:xfrm>
            <a:off x="630161" y="3079154"/>
            <a:ext cx="1321453" cy="30707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682"/>
              </a:lnSpc>
              <a:spcBef>
                <a:spcPct val="0"/>
              </a:spcBef>
            </a:pPr>
            <a:r>
              <a:rPr lang="en-US" sz="1400" dirty="0">
                <a:solidFill>
                  <a:srgbClr val="EAEAEC"/>
                </a:solidFill>
                <a:ea typeface="Garet"/>
                <a:cs typeface="Garet"/>
                <a:sym typeface="Garet"/>
              </a:rPr>
              <a:t>Phase 2</a:t>
            </a:r>
          </a:p>
        </p:txBody>
      </p:sp>
      <p:grpSp>
        <p:nvGrpSpPr>
          <p:cNvPr id="32" name="Group 10">
            <a:extLst>
              <a:ext uri="{FF2B5EF4-FFF2-40B4-BE49-F238E27FC236}">
                <a16:creationId xmlns:a16="http://schemas.microsoft.com/office/drawing/2014/main" id="{777FC1F2-2239-4121-394F-4CE6201D7435}"/>
              </a:ext>
            </a:extLst>
          </p:cNvPr>
          <p:cNvGrpSpPr/>
          <p:nvPr/>
        </p:nvGrpSpPr>
        <p:grpSpPr>
          <a:xfrm>
            <a:off x="319227" y="4126578"/>
            <a:ext cx="1917117" cy="933179"/>
            <a:chOff x="0" y="0"/>
            <a:chExt cx="812800" cy="441477"/>
          </a:xfrm>
        </p:grpSpPr>
        <p:sp>
          <p:nvSpPr>
            <p:cNvPr id="33" name="Freeform 11">
              <a:extLst>
                <a:ext uri="{FF2B5EF4-FFF2-40B4-BE49-F238E27FC236}">
                  <a16:creationId xmlns:a16="http://schemas.microsoft.com/office/drawing/2014/main" id="{9AA7CC42-487F-06DB-63ED-68C9CE9B74D0}"/>
                </a:ext>
              </a:extLst>
            </p:cNvPr>
            <p:cNvSpPr/>
            <p:nvPr/>
          </p:nvSpPr>
          <p:spPr>
            <a:xfrm>
              <a:off x="0" y="0"/>
              <a:ext cx="812800" cy="441477"/>
            </a:xfrm>
            <a:custGeom>
              <a:avLst/>
              <a:gdLst/>
              <a:ahLst/>
              <a:cxnLst/>
              <a:rect l="l" t="t" r="r" b="b"/>
              <a:pathLst>
                <a:path w="812800" h="441477">
                  <a:moveTo>
                    <a:pt x="32358" y="0"/>
                  </a:moveTo>
                  <a:lnTo>
                    <a:pt x="780442" y="0"/>
                  </a:lnTo>
                  <a:cubicBezTo>
                    <a:pt x="798313" y="0"/>
                    <a:pt x="812800" y="14487"/>
                    <a:pt x="812800" y="32358"/>
                  </a:cubicBezTo>
                  <a:lnTo>
                    <a:pt x="812800" y="409119"/>
                  </a:lnTo>
                  <a:cubicBezTo>
                    <a:pt x="812800" y="426990"/>
                    <a:pt x="798313" y="441477"/>
                    <a:pt x="780442" y="441477"/>
                  </a:cubicBezTo>
                  <a:lnTo>
                    <a:pt x="32358" y="441477"/>
                  </a:lnTo>
                  <a:cubicBezTo>
                    <a:pt x="14487" y="441477"/>
                    <a:pt x="0" y="426990"/>
                    <a:pt x="0" y="409119"/>
                  </a:cubicBezTo>
                  <a:lnTo>
                    <a:pt x="0" y="32358"/>
                  </a:lnTo>
                  <a:cubicBezTo>
                    <a:pt x="0" y="14487"/>
                    <a:pt x="14487" y="0"/>
                    <a:pt x="32358" y="0"/>
                  </a:cubicBezTo>
                  <a:close/>
                </a:path>
              </a:pathLst>
            </a:custGeom>
            <a:solidFill>
              <a:srgbClr val="2D3546"/>
            </a:solidFill>
            <a:ln cap="sq">
              <a:noFill/>
              <a:prstDash val="solid"/>
              <a:miter/>
            </a:ln>
          </p:spPr>
        </p:sp>
        <p:sp>
          <p:nvSpPr>
            <p:cNvPr id="34" name="TextBox 12">
              <a:extLst>
                <a:ext uri="{FF2B5EF4-FFF2-40B4-BE49-F238E27FC236}">
                  <a16:creationId xmlns:a16="http://schemas.microsoft.com/office/drawing/2014/main" id="{FED12AF5-6CCC-6D71-ED59-7FBC74ADC0F6}"/>
                </a:ext>
              </a:extLst>
            </p:cNvPr>
            <p:cNvSpPr txBox="1"/>
            <p:nvPr/>
          </p:nvSpPr>
          <p:spPr>
            <a:xfrm>
              <a:off x="0" y="0"/>
              <a:ext cx="812800" cy="44147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331"/>
                </a:lnSpc>
              </a:pPr>
              <a:endParaRPr/>
            </a:p>
          </p:txBody>
        </p:sp>
      </p:grpSp>
      <p:sp>
        <p:nvSpPr>
          <p:cNvPr id="38" name="TextBox 16">
            <a:extLst>
              <a:ext uri="{FF2B5EF4-FFF2-40B4-BE49-F238E27FC236}">
                <a16:creationId xmlns:a16="http://schemas.microsoft.com/office/drawing/2014/main" id="{1804B5E4-9E93-4195-0620-A0D4AA1C13DD}"/>
              </a:ext>
            </a:extLst>
          </p:cNvPr>
          <p:cNvSpPr txBox="1"/>
          <p:nvPr/>
        </p:nvSpPr>
        <p:spPr>
          <a:xfrm>
            <a:off x="639590" y="4408333"/>
            <a:ext cx="1321453" cy="30707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682"/>
              </a:lnSpc>
              <a:spcBef>
                <a:spcPct val="0"/>
              </a:spcBef>
            </a:pPr>
            <a:r>
              <a:rPr lang="en-US" sz="1400" dirty="0">
                <a:solidFill>
                  <a:srgbClr val="EAEAEC"/>
                </a:solidFill>
                <a:ea typeface="Garet"/>
                <a:cs typeface="Garet"/>
                <a:sym typeface="Garet"/>
              </a:rPr>
              <a:t>Phase 3</a:t>
            </a:r>
          </a:p>
        </p:txBody>
      </p:sp>
      <p:grpSp>
        <p:nvGrpSpPr>
          <p:cNvPr id="39" name="Group 10">
            <a:extLst>
              <a:ext uri="{FF2B5EF4-FFF2-40B4-BE49-F238E27FC236}">
                <a16:creationId xmlns:a16="http://schemas.microsoft.com/office/drawing/2014/main" id="{F6EBBE64-AA4D-09AD-21BA-DA33E575F4F1}"/>
              </a:ext>
            </a:extLst>
          </p:cNvPr>
          <p:cNvGrpSpPr/>
          <p:nvPr/>
        </p:nvGrpSpPr>
        <p:grpSpPr>
          <a:xfrm>
            <a:off x="338079" y="5493466"/>
            <a:ext cx="1917117" cy="933179"/>
            <a:chOff x="0" y="0"/>
            <a:chExt cx="812800" cy="441477"/>
          </a:xfrm>
        </p:grpSpPr>
        <p:sp>
          <p:nvSpPr>
            <p:cNvPr id="40" name="Freeform 11">
              <a:extLst>
                <a:ext uri="{FF2B5EF4-FFF2-40B4-BE49-F238E27FC236}">
                  <a16:creationId xmlns:a16="http://schemas.microsoft.com/office/drawing/2014/main" id="{CAF32B03-A6FA-D39A-4A7F-C4628E673469}"/>
                </a:ext>
              </a:extLst>
            </p:cNvPr>
            <p:cNvSpPr/>
            <p:nvPr/>
          </p:nvSpPr>
          <p:spPr>
            <a:xfrm>
              <a:off x="0" y="0"/>
              <a:ext cx="812800" cy="441477"/>
            </a:xfrm>
            <a:custGeom>
              <a:avLst/>
              <a:gdLst/>
              <a:ahLst/>
              <a:cxnLst/>
              <a:rect l="l" t="t" r="r" b="b"/>
              <a:pathLst>
                <a:path w="812800" h="441477">
                  <a:moveTo>
                    <a:pt x="32358" y="0"/>
                  </a:moveTo>
                  <a:lnTo>
                    <a:pt x="780442" y="0"/>
                  </a:lnTo>
                  <a:cubicBezTo>
                    <a:pt x="798313" y="0"/>
                    <a:pt x="812800" y="14487"/>
                    <a:pt x="812800" y="32358"/>
                  </a:cubicBezTo>
                  <a:lnTo>
                    <a:pt x="812800" y="409119"/>
                  </a:lnTo>
                  <a:cubicBezTo>
                    <a:pt x="812800" y="426990"/>
                    <a:pt x="798313" y="441477"/>
                    <a:pt x="780442" y="441477"/>
                  </a:cubicBezTo>
                  <a:lnTo>
                    <a:pt x="32358" y="441477"/>
                  </a:lnTo>
                  <a:cubicBezTo>
                    <a:pt x="14487" y="441477"/>
                    <a:pt x="0" y="426990"/>
                    <a:pt x="0" y="409119"/>
                  </a:cubicBezTo>
                  <a:lnTo>
                    <a:pt x="0" y="32358"/>
                  </a:lnTo>
                  <a:cubicBezTo>
                    <a:pt x="0" y="14487"/>
                    <a:pt x="14487" y="0"/>
                    <a:pt x="32358" y="0"/>
                  </a:cubicBezTo>
                  <a:close/>
                </a:path>
              </a:pathLst>
            </a:custGeom>
            <a:solidFill>
              <a:srgbClr val="2D3546"/>
            </a:solidFill>
            <a:ln cap="sq">
              <a:noFill/>
              <a:prstDash val="solid"/>
              <a:miter/>
            </a:ln>
          </p:spPr>
        </p:sp>
        <p:sp>
          <p:nvSpPr>
            <p:cNvPr id="41" name="TextBox 12">
              <a:extLst>
                <a:ext uri="{FF2B5EF4-FFF2-40B4-BE49-F238E27FC236}">
                  <a16:creationId xmlns:a16="http://schemas.microsoft.com/office/drawing/2014/main" id="{245D19F9-6732-235B-F07C-E6D86B41A784}"/>
                </a:ext>
              </a:extLst>
            </p:cNvPr>
            <p:cNvSpPr txBox="1"/>
            <p:nvPr/>
          </p:nvSpPr>
          <p:spPr>
            <a:xfrm>
              <a:off x="0" y="0"/>
              <a:ext cx="812800" cy="44147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331"/>
                </a:lnSpc>
              </a:pPr>
              <a:endParaRPr/>
            </a:p>
          </p:txBody>
        </p:sp>
      </p:grpSp>
      <p:sp>
        <p:nvSpPr>
          <p:cNvPr id="45" name="TextBox 16">
            <a:extLst>
              <a:ext uri="{FF2B5EF4-FFF2-40B4-BE49-F238E27FC236}">
                <a16:creationId xmlns:a16="http://schemas.microsoft.com/office/drawing/2014/main" id="{E269881B-F39B-0E83-8583-3DD993312284}"/>
              </a:ext>
            </a:extLst>
          </p:cNvPr>
          <p:cNvSpPr txBox="1"/>
          <p:nvPr/>
        </p:nvSpPr>
        <p:spPr>
          <a:xfrm>
            <a:off x="658442" y="5775221"/>
            <a:ext cx="1321453" cy="30707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682"/>
              </a:lnSpc>
              <a:spcBef>
                <a:spcPct val="0"/>
              </a:spcBef>
            </a:pPr>
            <a:r>
              <a:rPr lang="en-US" sz="1400" dirty="0">
                <a:solidFill>
                  <a:srgbClr val="EAEAEC"/>
                </a:solidFill>
                <a:ea typeface="Garet"/>
                <a:cs typeface="Garet"/>
                <a:sym typeface="Garet"/>
              </a:rPr>
              <a:t>Phase 4</a:t>
            </a:r>
          </a:p>
        </p:txBody>
      </p:sp>
      <p:sp>
        <p:nvSpPr>
          <p:cNvPr id="47" name="AutoShape 69">
            <a:extLst>
              <a:ext uri="{FF2B5EF4-FFF2-40B4-BE49-F238E27FC236}">
                <a16:creationId xmlns:a16="http://schemas.microsoft.com/office/drawing/2014/main" id="{38432843-29EC-F561-3B2F-76E0C40721E4}"/>
              </a:ext>
            </a:extLst>
          </p:cNvPr>
          <p:cNvSpPr/>
          <p:nvPr/>
        </p:nvSpPr>
        <p:spPr>
          <a:xfrm flipV="1">
            <a:off x="4639557" y="1989055"/>
            <a:ext cx="573466" cy="1569"/>
          </a:xfrm>
          <a:prstGeom prst="line">
            <a:avLst/>
          </a:prstGeom>
          <a:ln w="28575" cap="rnd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</p:sp>
      <p:sp>
        <p:nvSpPr>
          <p:cNvPr id="48" name="AutoShape 69">
            <a:extLst>
              <a:ext uri="{FF2B5EF4-FFF2-40B4-BE49-F238E27FC236}">
                <a16:creationId xmlns:a16="http://schemas.microsoft.com/office/drawing/2014/main" id="{299AD518-4254-3625-F3BB-EDD975678600}"/>
              </a:ext>
            </a:extLst>
          </p:cNvPr>
          <p:cNvSpPr/>
          <p:nvPr/>
        </p:nvSpPr>
        <p:spPr>
          <a:xfrm flipV="1">
            <a:off x="2235721" y="3282094"/>
            <a:ext cx="546755" cy="9430"/>
          </a:xfrm>
          <a:prstGeom prst="line">
            <a:avLst/>
          </a:prstGeom>
          <a:ln w="28575" cap="rnd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</p:sp>
      <p:grpSp>
        <p:nvGrpSpPr>
          <p:cNvPr id="49" name="Group 34">
            <a:extLst>
              <a:ext uri="{FF2B5EF4-FFF2-40B4-BE49-F238E27FC236}">
                <a16:creationId xmlns:a16="http://schemas.microsoft.com/office/drawing/2014/main" id="{DBA063A8-280C-5BE0-F2CB-995BBB3B7222}"/>
              </a:ext>
            </a:extLst>
          </p:cNvPr>
          <p:cNvGrpSpPr/>
          <p:nvPr/>
        </p:nvGrpSpPr>
        <p:grpSpPr>
          <a:xfrm>
            <a:off x="5146316" y="5500967"/>
            <a:ext cx="1917117" cy="933179"/>
            <a:chOff x="0" y="0"/>
            <a:chExt cx="812800" cy="441477"/>
          </a:xfrm>
        </p:grpSpPr>
        <p:sp>
          <p:nvSpPr>
            <p:cNvPr id="50" name="Freeform 35">
              <a:extLst>
                <a:ext uri="{FF2B5EF4-FFF2-40B4-BE49-F238E27FC236}">
                  <a16:creationId xmlns:a16="http://schemas.microsoft.com/office/drawing/2014/main" id="{C2BBECAD-827B-2366-2759-7F251EE498AE}"/>
                </a:ext>
              </a:extLst>
            </p:cNvPr>
            <p:cNvSpPr/>
            <p:nvPr/>
          </p:nvSpPr>
          <p:spPr>
            <a:xfrm>
              <a:off x="0" y="0"/>
              <a:ext cx="812800" cy="441477"/>
            </a:xfrm>
            <a:custGeom>
              <a:avLst/>
              <a:gdLst/>
              <a:ahLst/>
              <a:cxnLst/>
              <a:rect l="l" t="t" r="r" b="b"/>
              <a:pathLst>
                <a:path w="812800" h="441477">
                  <a:moveTo>
                    <a:pt x="32358" y="0"/>
                  </a:moveTo>
                  <a:lnTo>
                    <a:pt x="780442" y="0"/>
                  </a:lnTo>
                  <a:cubicBezTo>
                    <a:pt x="798313" y="0"/>
                    <a:pt x="812800" y="14487"/>
                    <a:pt x="812800" y="32358"/>
                  </a:cubicBezTo>
                  <a:lnTo>
                    <a:pt x="812800" y="409119"/>
                  </a:lnTo>
                  <a:cubicBezTo>
                    <a:pt x="812800" y="426990"/>
                    <a:pt x="798313" y="441477"/>
                    <a:pt x="780442" y="441477"/>
                  </a:cubicBezTo>
                  <a:lnTo>
                    <a:pt x="32358" y="441477"/>
                  </a:lnTo>
                  <a:cubicBezTo>
                    <a:pt x="14487" y="441477"/>
                    <a:pt x="0" y="426990"/>
                    <a:pt x="0" y="409119"/>
                  </a:cubicBezTo>
                  <a:lnTo>
                    <a:pt x="0" y="32358"/>
                  </a:lnTo>
                  <a:cubicBezTo>
                    <a:pt x="0" y="14487"/>
                    <a:pt x="14487" y="0"/>
                    <a:pt x="32358" y="0"/>
                  </a:cubicBezTo>
                  <a:close/>
                </a:path>
              </a:pathLst>
            </a:custGeom>
            <a:solidFill>
              <a:srgbClr val="EAEAEC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IN" dirty="0"/>
            </a:p>
          </p:txBody>
        </p:sp>
        <p:sp>
          <p:nvSpPr>
            <p:cNvPr id="51" name="TextBox 36">
              <a:extLst>
                <a:ext uri="{FF2B5EF4-FFF2-40B4-BE49-F238E27FC236}">
                  <a16:creationId xmlns:a16="http://schemas.microsoft.com/office/drawing/2014/main" id="{C5A3DA3F-1355-C8CE-6FB8-33F4E453213F}"/>
                </a:ext>
              </a:extLst>
            </p:cNvPr>
            <p:cNvSpPr txBox="1"/>
            <p:nvPr/>
          </p:nvSpPr>
          <p:spPr>
            <a:xfrm>
              <a:off x="0" y="0"/>
              <a:ext cx="812800" cy="44147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331"/>
                </a:lnSpc>
              </a:pPr>
              <a:endParaRPr/>
            </a:p>
          </p:txBody>
        </p:sp>
      </p:grpSp>
      <p:sp>
        <p:nvSpPr>
          <p:cNvPr id="53" name="TextBox 52">
            <a:extLst>
              <a:ext uri="{FF2B5EF4-FFF2-40B4-BE49-F238E27FC236}">
                <a16:creationId xmlns:a16="http://schemas.microsoft.com/office/drawing/2014/main" id="{096E0E71-FE44-691B-3B3E-3884E607E4D2}"/>
              </a:ext>
            </a:extLst>
          </p:cNvPr>
          <p:cNvSpPr txBox="1"/>
          <p:nvPr/>
        </p:nvSpPr>
        <p:spPr>
          <a:xfrm>
            <a:off x="2747414" y="5684742"/>
            <a:ext cx="1939277" cy="3994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682"/>
              </a:lnSpc>
              <a:spcBef>
                <a:spcPct val="0"/>
              </a:spcBef>
            </a:pPr>
            <a:r>
              <a:rPr lang="en-US" sz="1400" dirty="0">
                <a:solidFill>
                  <a:srgbClr val="000000"/>
                </a:solidFill>
                <a:ea typeface="Garet"/>
                <a:cs typeface="Garet"/>
                <a:sym typeface="Garet"/>
              </a:rPr>
              <a:t>Final Prototype</a:t>
            </a:r>
          </a:p>
        </p:txBody>
      </p:sp>
      <p:grpSp>
        <p:nvGrpSpPr>
          <p:cNvPr id="54" name="Group 58">
            <a:extLst>
              <a:ext uri="{FF2B5EF4-FFF2-40B4-BE49-F238E27FC236}">
                <a16:creationId xmlns:a16="http://schemas.microsoft.com/office/drawing/2014/main" id="{6FDBE508-5ACC-F249-6B42-198386F469EB}"/>
              </a:ext>
            </a:extLst>
          </p:cNvPr>
          <p:cNvGrpSpPr/>
          <p:nvPr/>
        </p:nvGrpSpPr>
        <p:grpSpPr>
          <a:xfrm>
            <a:off x="2770230" y="2852664"/>
            <a:ext cx="1917117" cy="933179"/>
            <a:chOff x="0" y="0"/>
            <a:chExt cx="812800" cy="441477"/>
          </a:xfrm>
        </p:grpSpPr>
        <p:sp>
          <p:nvSpPr>
            <p:cNvPr id="55" name="Freeform 59">
              <a:extLst>
                <a:ext uri="{FF2B5EF4-FFF2-40B4-BE49-F238E27FC236}">
                  <a16:creationId xmlns:a16="http://schemas.microsoft.com/office/drawing/2014/main" id="{701205E6-C1FA-F081-4F1E-6FD099E8155A}"/>
                </a:ext>
              </a:extLst>
            </p:cNvPr>
            <p:cNvSpPr/>
            <p:nvPr/>
          </p:nvSpPr>
          <p:spPr>
            <a:xfrm>
              <a:off x="0" y="0"/>
              <a:ext cx="812800" cy="441477"/>
            </a:xfrm>
            <a:custGeom>
              <a:avLst/>
              <a:gdLst/>
              <a:ahLst/>
              <a:cxnLst/>
              <a:rect l="l" t="t" r="r" b="b"/>
              <a:pathLst>
                <a:path w="812800" h="441477">
                  <a:moveTo>
                    <a:pt x="32358" y="0"/>
                  </a:moveTo>
                  <a:lnTo>
                    <a:pt x="780442" y="0"/>
                  </a:lnTo>
                  <a:cubicBezTo>
                    <a:pt x="798313" y="0"/>
                    <a:pt x="812800" y="14487"/>
                    <a:pt x="812800" y="32358"/>
                  </a:cubicBezTo>
                  <a:lnTo>
                    <a:pt x="812800" y="409119"/>
                  </a:lnTo>
                  <a:cubicBezTo>
                    <a:pt x="812800" y="426990"/>
                    <a:pt x="798313" y="441477"/>
                    <a:pt x="780442" y="441477"/>
                  </a:cubicBezTo>
                  <a:lnTo>
                    <a:pt x="32358" y="441477"/>
                  </a:lnTo>
                  <a:cubicBezTo>
                    <a:pt x="14487" y="441477"/>
                    <a:pt x="0" y="426990"/>
                    <a:pt x="0" y="409119"/>
                  </a:cubicBezTo>
                  <a:lnTo>
                    <a:pt x="0" y="32358"/>
                  </a:lnTo>
                  <a:cubicBezTo>
                    <a:pt x="0" y="14487"/>
                    <a:pt x="14487" y="0"/>
                    <a:pt x="32358" y="0"/>
                  </a:cubicBezTo>
                  <a:close/>
                </a:path>
              </a:pathLst>
            </a:custGeom>
            <a:solidFill>
              <a:srgbClr val="EAEAEC"/>
            </a:solidFill>
            <a:ln cap="sq">
              <a:noFill/>
              <a:prstDash val="solid"/>
              <a:miter/>
            </a:ln>
          </p:spPr>
        </p:sp>
        <p:sp>
          <p:nvSpPr>
            <p:cNvPr id="56" name="TextBox 60">
              <a:extLst>
                <a:ext uri="{FF2B5EF4-FFF2-40B4-BE49-F238E27FC236}">
                  <a16:creationId xmlns:a16="http://schemas.microsoft.com/office/drawing/2014/main" id="{80AB9190-1B7A-92AF-8F2D-F053F1C2D0A2}"/>
                </a:ext>
              </a:extLst>
            </p:cNvPr>
            <p:cNvSpPr txBox="1"/>
            <p:nvPr/>
          </p:nvSpPr>
          <p:spPr>
            <a:xfrm>
              <a:off x="0" y="0"/>
              <a:ext cx="812800" cy="44147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331"/>
                </a:lnSpc>
              </a:pPr>
              <a:endParaRPr/>
            </a:p>
          </p:txBody>
        </p:sp>
      </p:grpSp>
      <p:sp>
        <p:nvSpPr>
          <p:cNvPr id="57" name="TextBox 56">
            <a:extLst>
              <a:ext uri="{FF2B5EF4-FFF2-40B4-BE49-F238E27FC236}">
                <a16:creationId xmlns:a16="http://schemas.microsoft.com/office/drawing/2014/main" id="{E79D48A7-7F35-5AEC-9BED-A034ECFFECED}"/>
              </a:ext>
            </a:extLst>
          </p:cNvPr>
          <p:cNvSpPr txBox="1"/>
          <p:nvPr/>
        </p:nvSpPr>
        <p:spPr>
          <a:xfrm>
            <a:off x="2665614" y="3034866"/>
            <a:ext cx="2011654" cy="41293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682"/>
              </a:lnSpc>
              <a:spcBef>
                <a:spcPct val="0"/>
              </a:spcBef>
            </a:pPr>
            <a:r>
              <a:rPr lang="en-IN" sz="1400" dirty="0"/>
              <a:t>Data Acquisition</a:t>
            </a:r>
            <a:endParaRPr lang="en-US" sz="1400" dirty="0">
              <a:solidFill>
                <a:srgbClr val="000000"/>
              </a:solidFill>
              <a:ea typeface="Garet"/>
              <a:cs typeface="Garet"/>
              <a:sym typeface="Garet"/>
            </a:endParaRPr>
          </a:p>
        </p:txBody>
      </p:sp>
      <p:grpSp>
        <p:nvGrpSpPr>
          <p:cNvPr id="58" name="Group 58">
            <a:extLst>
              <a:ext uri="{FF2B5EF4-FFF2-40B4-BE49-F238E27FC236}">
                <a16:creationId xmlns:a16="http://schemas.microsoft.com/office/drawing/2014/main" id="{B5002E7D-B2A5-631A-398E-5AFCC6FA06D4}"/>
              </a:ext>
            </a:extLst>
          </p:cNvPr>
          <p:cNvGrpSpPr/>
          <p:nvPr/>
        </p:nvGrpSpPr>
        <p:grpSpPr>
          <a:xfrm>
            <a:off x="7642317" y="2879373"/>
            <a:ext cx="1917117" cy="933179"/>
            <a:chOff x="0" y="0"/>
            <a:chExt cx="812800" cy="441477"/>
          </a:xfrm>
        </p:grpSpPr>
        <p:sp>
          <p:nvSpPr>
            <p:cNvPr id="59" name="Freeform 59">
              <a:extLst>
                <a:ext uri="{FF2B5EF4-FFF2-40B4-BE49-F238E27FC236}">
                  <a16:creationId xmlns:a16="http://schemas.microsoft.com/office/drawing/2014/main" id="{A7BA99F2-4943-760E-8492-9CCEE43C3213}"/>
                </a:ext>
              </a:extLst>
            </p:cNvPr>
            <p:cNvSpPr/>
            <p:nvPr/>
          </p:nvSpPr>
          <p:spPr>
            <a:xfrm>
              <a:off x="0" y="0"/>
              <a:ext cx="812800" cy="441477"/>
            </a:xfrm>
            <a:custGeom>
              <a:avLst/>
              <a:gdLst/>
              <a:ahLst/>
              <a:cxnLst/>
              <a:rect l="l" t="t" r="r" b="b"/>
              <a:pathLst>
                <a:path w="812800" h="441477">
                  <a:moveTo>
                    <a:pt x="32358" y="0"/>
                  </a:moveTo>
                  <a:lnTo>
                    <a:pt x="780442" y="0"/>
                  </a:lnTo>
                  <a:cubicBezTo>
                    <a:pt x="798313" y="0"/>
                    <a:pt x="812800" y="14487"/>
                    <a:pt x="812800" y="32358"/>
                  </a:cubicBezTo>
                  <a:lnTo>
                    <a:pt x="812800" y="409119"/>
                  </a:lnTo>
                  <a:cubicBezTo>
                    <a:pt x="812800" y="426990"/>
                    <a:pt x="798313" y="441477"/>
                    <a:pt x="780442" y="441477"/>
                  </a:cubicBezTo>
                  <a:lnTo>
                    <a:pt x="32358" y="441477"/>
                  </a:lnTo>
                  <a:cubicBezTo>
                    <a:pt x="14487" y="441477"/>
                    <a:pt x="0" y="426990"/>
                    <a:pt x="0" y="409119"/>
                  </a:cubicBezTo>
                  <a:lnTo>
                    <a:pt x="0" y="32358"/>
                  </a:lnTo>
                  <a:cubicBezTo>
                    <a:pt x="0" y="14487"/>
                    <a:pt x="14487" y="0"/>
                    <a:pt x="32358" y="0"/>
                  </a:cubicBezTo>
                  <a:close/>
                </a:path>
              </a:pathLst>
            </a:custGeom>
            <a:solidFill>
              <a:srgbClr val="EAEAEC"/>
            </a:solidFill>
            <a:ln cap="sq">
              <a:noFill/>
              <a:prstDash val="solid"/>
              <a:miter/>
            </a:ln>
          </p:spPr>
        </p:sp>
        <p:sp>
          <p:nvSpPr>
            <p:cNvPr id="60" name="TextBox 60">
              <a:extLst>
                <a:ext uri="{FF2B5EF4-FFF2-40B4-BE49-F238E27FC236}">
                  <a16:creationId xmlns:a16="http://schemas.microsoft.com/office/drawing/2014/main" id="{C3CAC6AF-2FA1-4C53-3A36-AF8715FFD90B}"/>
                </a:ext>
              </a:extLst>
            </p:cNvPr>
            <p:cNvSpPr txBox="1"/>
            <p:nvPr/>
          </p:nvSpPr>
          <p:spPr>
            <a:xfrm>
              <a:off x="0" y="0"/>
              <a:ext cx="812800" cy="44147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331"/>
                </a:lnSpc>
              </a:pPr>
              <a:endParaRPr/>
            </a:p>
          </p:txBody>
        </p:sp>
      </p:grpSp>
      <p:sp>
        <p:nvSpPr>
          <p:cNvPr id="61" name="TextBox 60">
            <a:extLst>
              <a:ext uri="{FF2B5EF4-FFF2-40B4-BE49-F238E27FC236}">
                <a16:creationId xmlns:a16="http://schemas.microsoft.com/office/drawing/2014/main" id="{7D1A07D5-ADBC-62A5-275A-B40E901BE0EA}"/>
              </a:ext>
            </a:extLst>
          </p:cNvPr>
          <p:cNvSpPr txBox="1"/>
          <p:nvPr/>
        </p:nvSpPr>
        <p:spPr>
          <a:xfrm>
            <a:off x="5190427" y="3080429"/>
            <a:ext cx="2011654" cy="3994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682"/>
              </a:lnSpc>
              <a:spcBef>
                <a:spcPct val="0"/>
              </a:spcBef>
            </a:pPr>
            <a:r>
              <a:rPr lang="en-US" sz="1400" dirty="0">
                <a:solidFill>
                  <a:srgbClr val="000000"/>
                </a:solidFill>
                <a:ea typeface="Garet"/>
                <a:cs typeface="Garet"/>
                <a:sym typeface="Garet"/>
              </a:rPr>
              <a:t>Feature Normalization</a:t>
            </a:r>
          </a:p>
        </p:txBody>
      </p:sp>
      <p:grpSp>
        <p:nvGrpSpPr>
          <p:cNvPr id="62" name="Group 58">
            <a:extLst>
              <a:ext uri="{FF2B5EF4-FFF2-40B4-BE49-F238E27FC236}">
                <a16:creationId xmlns:a16="http://schemas.microsoft.com/office/drawing/2014/main" id="{D9E47C01-DDB3-D3CB-DDAC-35B67EE96E4B}"/>
              </a:ext>
            </a:extLst>
          </p:cNvPr>
          <p:cNvGrpSpPr/>
          <p:nvPr/>
        </p:nvGrpSpPr>
        <p:grpSpPr>
          <a:xfrm>
            <a:off x="2778086" y="4189699"/>
            <a:ext cx="1917117" cy="933179"/>
            <a:chOff x="0" y="0"/>
            <a:chExt cx="812800" cy="441477"/>
          </a:xfrm>
        </p:grpSpPr>
        <p:sp>
          <p:nvSpPr>
            <p:cNvPr id="63" name="Freeform 59">
              <a:extLst>
                <a:ext uri="{FF2B5EF4-FFF2-40B4-BE49-F238E27FC236}">
                  <a16:creationId xmlns:a16="http://schemas.microsoft.com/office/drawing/2014/main" id="{8159F99A-6A65-CAD8-A714-31F00E300DA4}"/>
                </a:ext>
              </a:extLst>
            </p:cNvPr>
            <p:cNvSpPr/>
            <p:nvPr/>
          </p:nvSpPr>
          <p:spPr>
            <a:xfrm>
              <a:off x="0" y="0"/>
              <a:ext cx="812800" cy="441477"/>
            </a:xfrm>
            <a:custGeom>
              <a:avLst/>
              <a:gdLst/>
              <a:ahLst/>
              <a:cxnLst/>
              <a:rect l="l" t="t" r="r" b="b"/>
              <a:pathLst>
                <a:path w="812800" h="441477">
                  <a:moveTo>
                    <a:pt x="32358" y="0"/>
                  </a:moveTo>
                  <a:lnTo>
                    <a:pt x="780442" y="0"/>
                  </a:lnTo>
                  <a:cubicBezTo>
                    <a:pt x="798313" y="0"/>
                    <a:pt x="812800" y="14487"/>
                    <a:pt x="812800" y="32358"/>
                  </a:cubicBezTo>
                  <a:lnTo>
                    <a:pt x="812800" y="409119"/>
                  </a:lnTo>
                  <a:cubicBezTo>
                    <a:pt x="812800" y="426990"/>
                    <a:pt x="798313" y="441477"/>
                    <a:pt x="780442" y="441477"/>
                  </a:cubicBezTo>
                  <a:lnTo>
                    <a:pt x="32358" y="441477"/>
                  </a:lnTo>
                  <a:cubicBezTo>
                    <a:pt x="14487" y="441477"/>
                    <a:pt x="0" y="426990"/>
                    <a:pt x="0" y="409119"/>
                  </a:cubicBezTo>
                  <a:lnTo>
                    <a:pt x="0" y="32358"/>
                  </a:lnTo>
                  <a:cubicBezTo>
                    <a:pt x="0" y="14487"/>
                    <a:pt x="14487" y="0"/>
                    <a:pt x="32358" y="0"/>
                  </a:cubicBezTo>
                  <a:close/>
                </a:path>
              </a:pathLst>
            </a:custGeom>
            <a:solidFill>
              <a:srgbClr val="EAEAEC"/>
            </a:solidFill>
            <a:ln cap="sq">
              <a:noFill/>
              <a:prstDash val="solid"/>
              <a:miter/>
            </a:ln>
          </p:spPr>
        </p:sp>
        <p:sp>
          <p:nvSpPr>
            <p:cNvPr id="128" name="TextBox 60">
              <a:extLst>
                <a:ext uri="{FF2B5EF4-FFF2-40B4-BE49-F238E27FC236}">
                  <a16:creationId xmlns:a16="http://schemas.microsoft.com/office/drawing/2014/main" id="{23B5D44B-099F-C63A-3964-39ABB136A202}"/>
                </a:ext>
              </a:extLst>
            </p:cNvPr>
            <p:cNvSpPr txBox="1"/>
            <p:nvPr/>
          </p:nvSpPr>
          <p:spPr>
            <a:xfrm>
              <a:off x="0" y="0"/>
              <a:ext cx="812800" cy="44147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331"/>
                </a:lnSpc>
              </a:pPr>
              <a:endParaRPr/>
            </a:p>
          </p:txBody>
        </p:sp>
      </p:grpSp>
      <p:sp>
        <p:nvSpPr>
          <p:cNvPr id="129" name="TextBox 128">
            <a:extLst>
              <a:ext uri="{FF2B5EF4-FFF2-40B4-BE49-F238E27FC236}">
                <a16:creationId xmlns:a16="http://schemas.microsoft.com/office/drawing/2014/main" id="{D1F9E53E-28AA-0D77-A758-72D171614AB4}"/>
              </a:ext>
            </a:extLst>
          </p:cNvPr>
          <p:cNvSpPr txBox="1"/>
          <p:nvPr/>
        </p:nvSpPr>
        <p:spPr>
          <a:xfrm>
            <a:off x="7594263" y="2948454"/>
            <a:ext cx="2011654" cy="7456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682"/>
              </a:lnSpc>
              <a:spcBef>
                <a:spcPct val="0"/>
              </a:spcBef>
            </a:pPr>
            <a:r>
              <a:rPr lang="en-US" sz="1400" dirty="0">
                <a:solidFill>
                  <a:srgbClr val="000000"/>
                </a:solidFill>
                <a:ea typeface="Garet"/>
                <a:cs typeface="Garet"/>
                <a:sym typeface="Garet"/>
              </a:rPr>
              <a:t>Model Training &amp;</a:t>
            </a:r>
          </a:p>
          <a:p>
            <a:pPr algn="ctr">
              <a:lnSpc>
                <a:spcPts val="2682"/>
              </a:lnSpc>
              <a:spcBef>
                <a:spcPct val="0"/>
              </a:spcBef>
            </a:pPr>
            <a:r>
              <a:rPr lang="en-US" sz="1400" dirty="0">
                <a:solidFill>
                  <a:srgbClr val="000000"/>
                </a:solidFill>
                <a:ea typeface="Garet"/>
                <a:cs typeface="Garet"/>
                <a:sym typeface="Garet"/>
              </a:rPr>
              <a:t>Performance Evaluation</a:t>
            </a:r>
          </a:p>
        </p:txBody>
      </p:sp>
      <p:sp>
        <p:nvSpPr>
          <p:cNvPr id="130" name="AutoShape 69">
            <a:extLst>
              <a:ext uri="{FF2B5EF4-FFF2-40B4-BE49-F238E27FC236}">
                <a16:creationId xmlns:a16="http://schemas.microsoft.com/office/drawing/2014/main" id="{DFD3E218-28E3-B90E-CB12-F08CBA22C620}"/>
              </a:ext>
            </a:extLst>
          </p:cNvPr>
          <p:cNvSpPr/>
          <p:nvPr/>
        </p:nvSpPr>
        <p:spPr>
          <a:xfrm flipV="1">
            <a:off x="4667838" y="3291522"/>
            <a:ext cx="546755" cy="9430"/>
          </a:xfrm>
          <a:prstGeom prst="line">
            <a:avLst/>
          </a:prstGeom>
          <a:ln w="28575" cap="rnd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</p:sp>
      <p:sp>
        <p:nvSpPr>
          <p:cNvPr id="131" name="AutoShape 69">
            <a:extLst>
              <a:ext uri="{FF2B5EF4-FFF2-40B4-BE49-F238E27FC236}">
                <a16:creationId xmlns:a16="http://schemas.microsoft.com/office/drawing/2014/main" id="{F2480EC3-4C74-D14B-11EA-23D4D5FD1A07}"/>
              </a:ext>
            </a:extLst>
          </p:cNvPr>
          <p:cNvSpPr/>
          <p:nvPr/>
        </p:nvSpPr>
        <p:spPr>
          <a:xfrm flipV="1">
            <a:off x="7118808" y="3319802"/>
            <a:ext cx="546755" cy="9430"/>
          </a:xfrm>
          <a:prstGeom prst="line">
            <a:avLst/>
          </a:prstGeom>
          <a:ln w="28575" cap="rnd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</p:sp>
      <p:sp>
        <p:nvSpPr>
          <p:cNvPr id="132" name="AutoShape 69">
            <a:extLst>
              <a:ext uri="{FF2B5EF4-FFF2-40B4-BE49-F238E27FC236}">
                <a16:creationId xmlns:a16="http://schemas.microsoft.com/office/drawing/2014/main" id="{5CF34382-90D8-79C7-2EBD-0AD5E3621C4F}"/>
              </a:ext>
            </a:extLst>
          </p:cNvPr>
          <p:cNvSpPr/>
          <p:nvPr/>
        </p:nvSpPr>
        <p:spPr>
          <a:xfrm flipV="1">
            <a:off x="2235723" y="4620701"/>
            <a:ext cx="546755" cy="9430"/>
          </a:xfrm>
          <a:prstGeom prst="line">
            <a:avLst/>
          </a:prstGeom>
          <a:ln w="28575" cap="rnd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</p:sp>
      <p:sp>
        <p:nvSpPr>
          <p:cNvPr id="133" name="AutoShape 69">
            <a:extLst>
              <a:ext uri="{FF2B5EF4-FFF2-40B4-BE49-F238E27FC236}">
                <a16:creationId xmlns:a16="http://schemas.microsoft.com/office/drawing/2014/main" id="{9B4B04A5-F2A6-A580-94DE-EB2E1C7F8545}"/>
              </a:ext>
            </a:extLst>
          </p:cNvPr>
          <p:cNvSpPr/>
          <p:nvPr/>
        </p:nvSpPr>
        <p:spPr>
          <a:xfrm flipV="1">
            <a:off x="4705545" y="4601848"/>
            <a:ext cx="546755" cy="9430"/>
          </a:xfrm>
          <a:prstGeom prst="line">
            <a:avLst/>
          </a:prstGeom>
          <a:ln w="28575" cap="rnd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</p:sp>
      <p:sp>
        <p:nvSpPr>
          <p:cNvPr id="134" name="AutoShape 69">
            <a:extLst>
              <a:ext uri="{FF2B5EF4-FFF2-40B4-BE49-F238E27FC236}">
                <a16:creationId xmlns:a16="http://schemas.microsoft.com/office/drawing/2014/main" id="{5041D78E-563C-387E-822E-9B8FFF799F5C}"/>
              </a:ext>
            </a:extLst>
          </p:cNvPr>
          <p:cNvSpPr/>
          <p:nvPr/>
        </p:nvSpPr>
        <p:spPr>
          <a:xfrm flipV="1">
            <a:off x="7118807" y="4639555"/>
            <a:ext cx="546755" cy="9430"/>
          </a:xfrm>
          <a:prstGeom prst="line">
            <a:avLst/>
          </a:prstGeom>
          <a:ln w="28575" cap="rnd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</p:sp>
      <p:sp>
        <p:nvSpPr>
          <p:cNvPr id="135" name="AutoShape 69">
            <a:extLst>
              <a:ext uri="{FF2B5EF4-FFF2-40B4-BE49-F238E27FC236}">
                <a16:creationId xmlns:a16="http://schemas.microsoft.com/office/drawing/2014/main" id="{7063A727-0615-5789-71B8-2E625337E546}"/>
              </a:ext>
            </a:extLst>
          </p:cNvPr>
          <p:cNvSpPr/>
          <p:nvPr/>
        </p:nvSpPr>
        <p:spPr>
          <a:xfrm flipV="1">
            <a:off x="2254576" y="5940454"/>
            <a:ext cx="546755" cy="9430"/>
          </a:xfrm>
          <a:prstGeom prst="line">
            <a:avLst/>
          </a:prstGeom>
          <a:ln w="28575" cap="rnd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</p:sp>
      <p:sp>
        <p:nvSpPr>
          <p:cNvPr id="136" name="AutoShape 69">
            <a:extLst>
              <a:ext uri="{FF2B5EF4-FFF2-40B4-BE49-F238E27FC236}">
                <a16:creationId xmlns:a16="http://schemas.microsoft.com/office/drawing/2014/main" id="{5EB65B8A-8356-62B8-0D3E-51CEF9387160}"/>
              </a:ext>
            </a:extLst>
          </p:cNvPr>
          <p:cNvSpPr/>
          <p:nvPr/>
        </p:nvSpPr>
        <p:spPr>
          <a:xfrm flipV="1">
            <a:off x="4667838" y="5931027"/>
            <a:ext cx="546755" cy="9430"/>
          </a:xfrm>
          <a:prstGeom prst="line">
            <a:avLst/>
          </a:prstGeom>
          <a:ln w="28575" cap="rnd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</p:sp>
      <p:grpSp>
        <p:nvGrpSpPr>
          <p:cNvPr id="137" name="Group 26">
            <a:extLst>
              <a:ext uri="{FF2B5EF4-FFF2-40B4-BE49-F238E27FC236}">
                <a16:creationId xmlns:a16="http://schemas.microsoft.com/office/drawing/2014/main" id="{0DB0E38D-099C-D58D-3539-1A013FC25C7A}"/>
              </a:ext>
            </a:extLst>
          </p:cNvPr>
          <p:cNvGrpSpPr/>
          <p:nvPr/>
        </p:nvGrpSpPr>
        <p:grpSpPr>
          <a:xfrm>
            <a:off x="7655631" y="1441004"/>
            <a:ext cx="1917117" cy="933179"/>
            <a:chOff x="0" y="0"/>
            <a:chExt cx="812800" cy="441477"/>
          </a:xfrm>
        </p:grpSpPr>
        <p:sp>
          <p:nvSpPr>
            <p:cNvPr id="138" name="Freeform 27">
              <a:extLst>
                <a:ext uri="{FF2B5EF4-FFF2-40B4-BE49-F238E27FC236}">
                  <a16:creationId xmlns:a16="http://schemas.microsoft.com/office/drawing/2014/main" id="{0F4CBB0F-A80A-AB9A-29D7-6C1942532876}"/>
                </a:ext>
              </a:extLst>
            </p:cNvPr>
            <p:cNvSpPr/>
            <p:nvPr/>
          </p:nvSpPr>
          <p:spPr>
            <a:xfrm>
              <a:off x="0" y="0"/>
              <a:ext cx="812800" cy="441477"/>
            </a:xfrm>
            <a:custGeom>
              <a:avLst/>
              <a:gdLst/>
              <a:ahLst/>
              <a:cxnLst/>
              <a:rect l="l" t="t" r="r" b="b"/>
              <a:pathLst>
                <a:path w="812800" h="441477">
                  <a:moveTo>
                    <a:pt x="32358" y="0"/>
                  </a:moveTo>
                  <a:lnTo>
                    <a:pt x="780442" y="0"/>
                  </a:lnTo>
                  <a:cubicBezTo>
                    <a:pt x="798313" y="0"/>
                    <a:pt x="812800" y="14487"/>
                    <a:pt x="812800" y="32358"/>
                  </a:cubicBezTo>
                  <a:lnTo>
                    <a:pt x="812800" y="409119"/>
                  </a:lnTo>
                  <a:cubicBezTo>
                    <a:pt x="812800" y="426990"/>
                    <a:pt x="798313" y="441477"/>
                    <a:pt x="780442" y="441477"/>
                  </a:cubicBezTo>
                  <a:lnTo>
                    <a:pt x="32358" y="441477"/>
                  </a:lnTo>
                  <a:cubicBezTo>
                    <a:pt x="14487" y="441477"/>
                    <a:pt x="0" y="426990"/>
                    <a:pt x="0" y="409119"/>
                  </a:cubicBezTo>
                  <a:lnTo>
                    <a:pt x="0" y="32358"/>
                  </a:lnTo>
                  <a:cubicBezTo>
                    <a:pt x="0" y="14487"/>
                    <a:pt x="14487" y="0"/>
                    <a:pt x="32358" y="0"/>
                  </a:cubicBezTo>
                  <a:close/>
                </a:path>
              </a:pathLst>
            </a:custGeom>
            <a:solidFill>
              <a:srgbClr val="EAEAEC"/>
            </a:solidFill>
            <a:ln cap="sq">
              <a:noFill/>
              <a:prstDash val="solid"/>
              <a:miter/>
            </a:ln>
          </p:spPr>
        </p:sp>
        <p:sp>
          <p:nvSpPr>
            <p:cNvPr id="139" name="TextBox 28">
              <a:extLst>
                <a:ext uri="{FF2B5EF4-FFF2-40B4-BE49-F238E27FC236}">
                  <a16:creationId xmlns:a16="http://schemas.microsoft.com/office/drawing/2014/main" id="{07FEA772-4212-AD44-EFBE-361AC94FF861}"/>
                </a:ext>
              </a:extLst>
            </p:cNvPr>
            <p:cNvSpPr txBox="1"/>
            <p:nvPr/>
          </p:nvSpPr>
          <p:spPr>
            <a:xfrm>
              <a:off x="0" y="0"/>
              <a:ext cx="812800" cy="44147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331"/>
                </a:lnSpc>
              </a:pPr>
              <a:endParaRPr/>
            </a:p>
          </p:txBody>
        </p:sp>
      </p:grpSp>
      <p:sp>
        <p:nvSpPr>
          <p:cNvPr id="140" name="TextBox 32">
            <a:extLst>
              <a:ext uri="{FF2B5EF4-FFF2-40B4-BE49-F238E27FC236}">
                <a16:creationId xmlns:a16="http://schemas.microsoft.com/office/drawing/2014/main" id="{969112A9-3F40-F536-17CB-A67469A2FBDB}"/>
              </a:ext>
            </a:extLst>
          </p:cNvPr>
          <p:cNvSpPr txBox="1"/>
          <p:nvPr/>
        </p:nvSpPr>
        <p:spPr>
          <a:xfrm>
            <a:off x="7826181" y="1700986"/>
            <a:ext cx="1593575" cy="30707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682"/>
              </a:lnSpc>
              <a:spcBef>
                <a:spcPct val="0"/>
              </a:spcBef>
            </a:pPr>
            <a:r>
              <a:rPr lang="en-US" sz="1400" dirty="0">
                <a:solidFill>
                  <a:srgbClr val="000000"/>
                </a:solidFill>
                <a:ea typeface="Garet"/>
                <a:cs typeface="Garet"/>
                <a:sym typeface="Garet"/>
              </a:rPr>
              <a:t> ✅ </a:t>
            </a:r>
          </a:p>
        </p:txBody>
      </p:sp>
      <p:sp>
        <p:nvSpPr>
          <p:cNvPr id="141" name="AutoShape 69">
            <a:extLst>
              <a:ext uri="{FF2B5EF4-FFF2-40B4-BE49-F238E27FC236}">
                <a16:creationId xmlns:a16="http://schemas.microsoft.com/office/drawing/2014/main" id="{A3BBFBE8-24C2-4A56-3B1E-561177049600}"/>
              </a:ext>
            </a:extLst>
          </p:cNvPr>
          <p:cNvSpPr/>
          <p:nvPr/>
        </p:nvSpPr>
        <p:spPr>
          <a:xfrm flipV="1">
            <a:off x="7101524" y="1924638"/>
            <a:ext cx="573466" cy="1569"/>
          </a:xfrm>
          <a:prstGeom prst="line">
            <a:avLst/>
          </a:prstGeom>
          <a:ln w="28575" cap="rnd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</p:sp>
      <p:grpSp>
        <p:nvGrpSpPr>
          <p:cNvPr id="146" name="Group 26">
            <a:extLst>
              <a:ext uri="{FF2B5EF4-FFF2-40B4-BE49-F238E27FC236}">
                <a16:creationId xmlns:a16="http://schemas.microsoft.com/office/drawing/2014/main" id="{802FB54D-96F6-73C6-DB89-57AC00632148}"/>
              </a:ext>
            </a:extLst>
          </p:cNvPr>
          <p:cNvGrpSpPr/>
          <p:nvPr/>
        </p:nvGrpSpPr>
        <p:grpSpPr>
          <a:xfrm>
            <a:off x="10089318" y="2847169"/>
            <a:ext cx="1917117" cy="933179"/>
            <a:chOff x="0" y="0"/>
            <a:chExt cx="812800" cy="441477"/>
          </a:xfrm>
        </p:grpSpPr>
        <p:sp>
          <p:nvSpPr>
            <p:cNvPr id="147" name="Freeform 27">
              <a:extLst>
                <a:ext uri="{FF2B5EF4-FFF2-40B4-BE49-F238E27FC236}">
                  <a16:creationId xmlns:a16="http://schemas.microsoft.com/office/drawing/2014/main" id="{FC3C7B43-0420-7754-20B4-86D21EB6E22A}"/>
                </a:ext>
              </a:extLst>
            </p:cNvPr>
            <p:cNvSpPr/>
            <p:nvPr/>
          </p:nvSpPr>
          <p:spPr>
            <a:xfrm>
              <a:off x="0" y="0"/>
              <a:ext cx="812800" cy="441477"/>
            </a:xfrm>
            <a:custGeom>
              <a:avLst/>
              <a:gdLst/>
              <a:ahLst/>
              <a:cxnLst/>
              <a:rect l="l" t="t" r="r" b="b"/>
              <a:pathLst>
                <a:path w="812800" h="441477">
                  <a:moveTo>
                    <a:pt x="32358" y="0"/>
                  </a:moveTo>
                  <a:lnTo>
                    <a:pt x="780442" y="0"/>
                  </a:lnTo>
                  <a:cubicBezTo>
                    <a:pt x="798313" y="0"/>
                    <a:pt x="812800" y="14487"/>
                    <a:pt x="812800" y="32358"/>
                  </a:cubicBezTo>
                  <a:lnTo>
                    <a:pt x="812800" y="409119"/>
                  </a:lnTo>
                  <a:cubicBezTo>
                    <a:pt x="812800" y="426990"/>
                    <a:pt x="798313" y="441477"/>
                    <a:pt x="780442" y="441477"/>
                  </a:cubicBezTo>
                  <a:lnTo>
                    <a:pt x="32358" y="441477"/>
                  </a:lnTo>
                  <a:cubicBezTo>
                    <a:pt x="14487" y="441477"/>
                    <a:pt x="0" y="426990"/>
                    <a:pt x="0" y="409119"/>
                  </a:cubicBezTo>
                  <a:lnTo>
                    <a:pt x="0" y="32358"/>
                  </a:lnTo>
                  <a:cubicBezTo>
                    <a:pt x="0" y="14487"/>
                    <a:pt x="14487" y="0"/>
                    <a:pt x="32358" y="0"/>
                  </a:cubicBezTo>
                  <a:close/>
                </a:path>
              </a:pathLst>
            </a:custGeom>
            <a:solidFill>
              <a:srgbClr val="EAEAEC"/>
            </a:solidFill>
            <a:ln cap="sq">
              <a:noFill/>
              <a:prstDash val="solid"/>
              <a:miter/>
            </a:ln>
          </p:spPr>
        </p:sp>
        <p:sp>
          <p:nvSpPr>
            <p:cNvPr id="148" name="TextBox 28">
              <a:extLst>
                <a:ext uri="{FF2B5EF4-FFF2-40B4-BE49-F238E27FC236}">
                  <a16:creationId xmlns:a16="http://schemas.microsoft.com/office/drawing/2014/main" id="{14575FC5-052D-C093-77A8-D172A10CC000}"/>
                </a:ext>
              </a:extLst>
            </p:cNvPr>
            <p:cNvSpPr txBox="1"/>
            <p:nvPr/>
          </p:nvSpPr>
          <p:spPr>
            <a:xfrm>
              <a:off x="0" y="0"/>
              <a:ext cx="812800" cy="44147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331"/>
                </a:lnSpc>
              </a:pPr>
              <a:endParaRPr/>
            </a:p>
          </p:txBody>
        </p:sp>
      </p:grpSp>
      <p:sp>
        <p:nvSpPr>
          <p:cNvPr id="149" name="TextBox 32">
            <a:extLst>
              <a:ext uri="{FF2B5EF4-FFF2-40B4-BE49-F238E27FC236}">
                <a16:creationId xmlns:a16="http://schemas.microsoft.com/office/drawing/2014/main" id="{A31A7890-A5D8-C6AC-57E4-465C3C00BB4D}"/>
              </a:ext>
            </a:extLst>
          </p:cNvPr>
          <p:cNvSpPr txBox="1"/>
          <p:nvPr/>
        </p:nvSpPr>
        <p:spPr>
          <a:xfrm>
            <a:off x="10259868" y="3107151"/>
            <a:ext cx="1593575" cy="31874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682"/>
              </a:lnSpc>
              <a:spcBef>
                <a:spcPct val="0"/>
              </a:spcBef>
            </a:pPr>
            <a:r>
              <a:rPr lang="en-IN" dirty="0"/>
              <a:t>  </a:t>
            </a:r>
            <a:endParaRPr lang="en-US" sz="1400" dirty="0">
              <a:solidFill>
                <a:srgbClr val="000000"/>
              </a:solidFill>
              <a:ea typeface="Garet"/>
              <a:cs typeface="Garet"/>
              <a:sym typeface="Garet"/>
            </a:endParaRPr>
          </a:p>
        </p:txBody>
      </p:sp>
      <p:sp>
        <p:nvSpPr>
          <p:cNvPr id="150" name="AutoShape 69">
            <a:extLst>
              <a:ext uri="{FF2B5EF4-FFF2-40B4-BE49-F238E27FC236}">
                <a16:creationId xmlns:a16="http://schemas.microsoft.com/office/drawing/2014/main" id="{C785B430-F894-7E60-B090-E0FB4835636F}"/>
              </a:ext>
            </a:extLst>
          </p:cNvPr>
          <p:cNvSpPr/>
          <p:nvPr/>
        </p:nvSpPr>
        <p:spPr>
          <a:xfrm flipV="1">
            <a:off x="9535211" y="3330803"/>
            <a:ext cx="573466" cy="1569"/>
          </a:xfrm>
          <a:prstGeom prst="line">
            <a:avLst/>
          </a:prstGeom>
          <a:ln w="28575" cap="rnd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</p:sp>
      <p:grpSp>
        <p:nvGrpSpPr>
          <p:cNvPr id="151" name="Group 26">
            <a:extLst>
              <a:ext uri="{FF2B5EF4-FFF2-40B4-BE49-F238E27FC236}">
                <a16:creationId xmlns:a16="http://schemas.microsoft.com/office/drawing/2014/main" id="{646E5583-1BFB-B6B1-A796-77D30EAEA63D}"/>
              </a:ext>
            </a:extLst>
          </p:cNvPr>
          <p:cNvGrpSpPr/>
          <p:nvPr/>
        </p:nvGrpSpPr>
        <p:grpSpPr>
          <a:xfrm>
            <a:off x="10070464" y="4176349"/>
            <a:ext cx="1917117" cy="933179"/>
            <a:chOff x="0" y="0"/>
            <a:chExt cx="812800" cy="441477"/>
          </a:xfrm>
        </p:grpSpPr>
        <p:sp>
          <p:nvSpPr>
            <p:cNvPr id="152" name="Freeform 27">
              <a:extLst>
                <a:ext uri="{FF2B5EF4-FFF2-40B4-BE49-F238E27FC236}">
                  <a16:creationId xmlns:a16="http://schemas.microsoft.com/office/drawing/2014/main" id="{D208D546-E167-BC04-70DB-7F6B95674AA4}"/>
                </a:ext>
              </a:extLst>
            </p:cNvPr>
            <p:cNvSpPr/>
            <p:nvPr/>
          </p:nvSpPr>
          <p:spPr>
            <a:xfrm>
              <a:off x="0" y="0"/>
              <a:ext cx="812800" cy="441477"/>
            </a:xfrm>
            <a:custGeom>
              <a:avLst/>
              <a:gdLst/>
              <a:ahLst/>
              <a:cxnLst/>
              <a:rect l="l" t="t" r="r" b="b"/>
              <a:pathLst>
                <a:path w="812800" h="441477">
                  <a:moveTo>
                    <a:pt x="32358" y="0"/>
                  </a:moveTo>
                  <a:lnTo>
                    <a:pt x="780442" y="0"/>
                  </a:lnTo>
                  <a:cubicBezTo>
                    <a:pt x="798313" y="0"/>
                    <a:pt x="812800" y="14487"/>
                    <a:pt x="812800" y="32358"/>
                  </a:cubicBezTo>
                  <a:lnTo>
                    <a:pt x="812800" y="409119"/>
                  </a:lnTo>
                  <a:cubicBezTo>
                    <a:pt x="812800" y="426990"/>
                    <a:pt x="798313" y="441477"/>
                    <a:pt x="780442" y="441477"/>
                  </a:cubicBezTo>
                  <a:lnTo>
                    <a:pt x="32358" y="441477"/>
                  </a:lnTo>
                  <a:cubicBezTo>
                    <a:pt x="14487" y="441477"/>
                    <a:pt x="0" y="426990"/>
                    <a:pt x="0" y="409119"/>
                  </a:cubicBezTo>
                  <a:lnTo>
                    <a:pt x="0" y="32358"/>
                  </a:lnTo>
                  <a:cubicBezTo>
                    <a:pt x="0" y="14487"/>
                    <a:pt x="14487" y="0"/>
                    <a:pt x="32358" y="0"/>
                  </a:cubicBezTo>
                  <a:close/>
                </a:path>
              </a:pathLst>
            </a:custGeom>
            <a:solidFill>
              <a:srgbClr val="EAEAEC"/>
            </a:solidFill>
            <a:ln cap="sq">
              <a:noFill/>
              <a:prstDash val="solid"/>
              <a:miter/>
            </a:ln>
          </p:spPr>
        </p:sp>
        <p:sp>
          <p:nvSpPr>
            <p:cNvPr id="153" name="TextBox 28">
              <a:extLst>
                <a:ext uri="{FF2B5EF4-FFF2-40B4-BE49-F238E27FC236}">
                  <a16:creationId xmlns:a16="http://schemas.microsoft.com/office/drawing/2014/main" id="{CA3E0C4F-FBBE-76EC-F642-3E5242ED13C7}"/>
                </a:ext>
              </a:extLst>
            </p:cNvPr>
            <p:cNvSpPr txBox="1"/>
            <p:nvPr/>
          </p:nvSpPr>
          <p:spPr>
            <a:xfrm>
              <a:off x="0" y="0"/>
              <a:ext cx="812800" cy="44147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331"/>
                </a:lnSpc>
              </a:pPr>
              <a:endParaRPr/>
            </a:p>
          </p:txBody>
        </p:sp>
      </p:grpSp>
      <p:sp>
        <p:nvSpPr>
          <p:cNvPr id="154" name="TextBox 32">
            <a:extLst>
              <a:ext uri="{FF2B5EF4-FFF2-40B4-BE49-F238E27FC236}">
                <a16:creationId xmlns:a16="http://schemas.microsoft.com/office/drawing/2014/main" id="{12F56685-229B-89F6-412F-213604451110}"/>
              </a:ext>
            </a:extLst>
          </p:cNvPr>
          <p:cNvSpPr txBox="1"/>
          <p:nvPr/>
        </p:nvSpPr>
        <p:spPr>
          <a:xfrm>
            <a:off x="10241014" y="4436331"/>
            <a:ext cx="1593575" cy="31874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682"/>
              </a:lnSpc>
              <a:spcBef>
                <a:spcPct val="0"/>
              </a:spcBef>
            </a:pPr>
            <a:r>
              <a:rPr lang="en-IN" dirty="0"/>
              <a:t>❌ </a:t>
            </a:r>
            <a:endParaRPr lang="en-US" sz="1400" dirty="0">
              <a:solidFill>
                <a:srgbClr val="000000"/>
              </a:solidFill>
              <a:ea typeface="Garet"/>
              <a:cs typeface="Garet"/>
              <a:sym typeface="Garet"/>
            </a:endParaRPr>
          </a:p>
        </p:txBody>
      </p:sp>
      <p:sp>
        <p:nvSpPr>
          <p:cNvPr id="155" name="AutoShape 69">
            <a:extLst>
              <a:ext uri="{FF2B5EF4-FFF2-40B4-BE49-F238E27FC236}">
                <a16:creationId xmlns:a16="http://schemas.microsoft.com/office/drawing/2014/main" id="{C4709E28-CAFA-A616-769F-07C5F562E174}"/>
              </a:ext>
            </a:extLst>
          </p:cNvPr>
          <p:cNvSpPr/>
          <p:nvPr/>
        </p:nvSpPr>
        <p:spPr>
          <a:xfrm flipV="1">
            <a:off x="9516357" y="4659983"/>
            <a:ext cx="573466" cy="1569"/>
          </a:xfrm>
          <a:prstGeom prst="line">
            <a:avLst/>
          </a:prstGeom>
          <a:ln w="28575" cap="rnd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</p:sp>
      <p:sp>
        <p:nvSpPr>
          <p:cNvPr id="159" name="TextBox 32">
            <a:extLst>
              <a:ext uri="{FF2B5EF4-FFF2-40B4-BE49-F238E27FC236}">
                <a16:creationId xmlns:a16="http://schemas.microsoft.com/office/drawing/2014/main" id="{0A33A251-ABEF-319F-3886-DE0E86759AC7}"/>
              </a:ext>
            </a:extLst>
          </p:cNvPr>
          <p:cNvSpPr txBox="1"/>
          <p:nvPr/>
        </p:nvSpPr>
        <p:spPr>
          <a:xfrm>
            <a:off x="5282516" y="5774937"/>
            <a:ext cx="1593575" cy="31874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682"/>
              </a:lnSpc>
              <a:spcBef>
                <a:spcPct val="0"/>
              </a:spcBef>
            </a:pPr>
            <a:r>
              <a:rPr lang="en-IN" dirty="0"/>
              <a:t>❌ </a:t>
            </a:r>
            <a:endParaRPr lang="en-US" sz="1400" dirty="0">
              <a:solidFill>
                <a:srgbClr val="000000"/>
              </a:solidFill>
              <a:ea typeface="Garet"/>
              <a:cs typeface="Garet"/>
              <a:sym typeface="Garet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BDC3816-9166-5F9F-2CE6-87E56B7E1F9E}"/>
              </a:ext>
            </a:extLst>
          </p:cNvPr>
          <p:cNvSpPr txBox="1"/>
          <p:nvPr/>
        </p:nvSpPr>
        <p:spPr>
          <a:xfrm>
            <a:off x="10595728" y="3103271"/>
            <a:ext cx="702296" cy="4110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682"/>
              </a:lnSpc>
              <a:spcBef>
                <a:spcPct val="0"/>
              </a:spcBef>
            </a:pPr>
            <a:r>
              <a:rPr lang="en-US" sz="1800" dirty="0">
                <a:solidFill>
                  <a:srgbClr val="000000"/>
                </a:solidFill>
                <a:ea typeface="Garet"/>
                <a:cs typeface="Garet"/>
                <a:sym typeface="Garet"/>
              </a:rPr>
              <a:t> ✅ 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EE11896-DEE5-6A9C-69B8-97DDE28F4D62}"/>
              </a:ext>
            </a:extLst>
          </p:cNvPr>
          <p:cNvSpPr txBox="1"/>
          <p:nvPr/>
        </p:nvSpPr>
        <p:spPr>
          <a:xfrm>
            <a:off x="7592792" y="4280149"/>
            <a:ext cx="1939277" cy="7456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682"/>
              </a:lnSpc>
              <a:spcBef>
                <a:spcPct val="0"/>
              </a:spcBef>
            </a:pPr>
            <a:r>
              <a:rPr lang="en-US" sz="1400" dirty="0">
                <a:solidFill>
                  <a:srgbClr val="000000"/>
                </a:solidFill>
                <a:ea typeface="Garet"/>
                <a:cs typeface="Garet"/>
                <a:sym typeface="Garet"/>
              </a:rPr>
              <a:t>Real-Time Inference</a:t>
            </a:r>
          </a:p>
          <a:p>
            <a:pPr algn="ctr">
              <a:lnSpc>
                <a:spcPts val="2682"/>
              </a:lnSpc>
              <a:spcBef>
                <a:spcPct val="0"/>
              </a:spcBef>
            </a:pPr>
            <a:r>
              <a:rPr lang="en-US" sz="1400" dirty="0">
                <a:solidFill>
                  <a:srgbClr val="000000"/>
                </a:solidFill>
                <a:ea typeface="Garet"/>
                <a:cs typeface="Garet"/>
                <a:sym typeface="Garet"/>
              </a:rPr>
              <a:t>&amp; Feedback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6556C35-3A36-DE91-AF05-AB326243C398}"/>
              </a:ext>
            </a:extLst>
          </p:cNvPr>
          <p:cNvSpPr txBox="1"/>
          <p:nvPr/>
        </p:nvSpPr>
        <p:spPr>
          <a:xfrm>
            <a:off x="5228027" y="4380908"/>
            <a:ext cx="1968500" cy="3994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682"/>
              </a:lnSpc>
              <a:spcBef>
                <a:spcPct val="0"/>
              </a:spcBef>
            </a:pPr>
            <a:r>
              <a:rPr lang="en-US" sz="1400" dirty="0">
                <a:solidFill>
                  <a:srgbClr val="000000"/>
                </a:solidFill>
                <a:ea typeface="Garet"/>
                <a:cs typeface="Garet"/>
                <a:sym typeface="Garet"/>
              </a:rPr>
              <a:t>Custom UI Creation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0F76E8B-1066-BDC3-94D3-6523D53737B3}"/>
              </a:ext>
            </a:extLst>
          </p:cNvPr>
          <p:cNvSpPr txBox="1"/>
          <p:nvPr/>
        </p:nvSpPr>
        <p:spPr>
          <a:xfrm>
            <a:off x="2736417" y="4156027"/>
            <a:ext cx="1968500" cy="7456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682"/>
              </a:lnSpc>
              <a:spcBef>
                <a:spcPct val="0"/>
              </a:spcBef>
            </a:pPr>
            <a:r>
              <a:rPr lang="en-US" sz="1400" dirty="0">
                <a:solidFill>
                  <a:srgbClr val="000000"/>
                </a:solidFill>
                <a:ea typeface="Garet"/>
                <a:cs typeface="Garet"/>
                <a:sym typeface="Garet"/>
              </a:rPr>
              <a:t>Hardware Implementation</a:t>
            </a:r>
          </a:p>
        </p:txBody>
      </p:sp>
    </p:spTree>
    <p:extLst>
      <p:ext uri="{BB962C8B-B14F-4D97-AF65-F5344CB8AC3E}">
        <p14:creationId xmlns:p14="http://schemas.microsoft.com/office/powerpoint/2010/main" val="247791165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CF9B85-6676-0A73-529B-D1DBD2AA6E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object 3">
            <a:extLst>
              <a:ext uri="{FF2B5EF4-FFF2-40B4-BE49-F238E27FC236}">
                <a16:creationId xmlns:a16="http://schemas.microsoft.com/office/drawing/2014/main" id="{9B326F57-A6CB-CAC3-FD79-D808A89A0402}"/>
              </a:ext>
            </a:extLst>
          </p:cNvPr>
          <p:cNvGrpSpPr/>
          <p:nvPr/>
        </p:nvGrpSpPr>
        <p:grpSpPr>
          <a:xfrm>
            <a:off x="0" y="0"/>
            <a:ext cx="12197080" cy="123825"/>
            <a:chOff x="0" y="828738"/>
            <a:chExt cx="12197080" cy="123825"/>
          </a:xfrm>
        </p:grpSpPr>
        <p:sp>
          <p:nvSpPr>
            <p:cNvPr id="14" name="object 4">
              <a:extLst>
                <a:ext uri="{FF2B5EF4-FFF2-40B4-BE49-F238E27FC236}">
                  <a16:creationId xmlns:a16="http://schemas.microsoft.com/office/drawing/2014/main" id="{951C09D1-E7E1-E3C1-681F-651F192980EE}"/>
                </a:ext>
              </a:extLst>
            </p:cNvPr>
            <p:cNvSpPr/>
            <p:nvPr/>
          </p:nvSpPr>
          <p:spPr>
            <a:xfrm>
              <a:off x="4763" y="833500"/>
              <a:ext cx="12187555" cy="114300"/>
            </a:xfrm>
            <a:custGeom>
              <a:avLst/>
              <a:gdLst/>
              <a:ahLst/>
              <a:cxnLst/>
              <a:rect l="l" t="t" r="r" b="b"/>
              <a:pathLst>
                <a:path w="12187555" h="114300">
                  <a:moveTo>
                    <a:pt x="12187236" y="0"/>
                  </a:moveTo>
                  <a:lnTo>
                    <a:pt x="0" y="0"/>
                  </a:lnTo>
                  <a:lnTo>
                    <a:pt x="0" y="114300"/>
                  </a:lnTo>
                  <a:lnTo>
                    <a:pt x="12187236" y="114300"/>
                  </a:lnTo>
                  <a:lnTo>
                    <a:pt x="12187236" y="0"/>
                  </a:lnTo>
                  <a:close/>
                </a:path>
              </a:pathLst>
            </a:custGeom>
            <a:solidFill>
              <a:srgbClr val="252573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15" name="object 5">
              <a:extLst>
                <a:ext uri="{FF2B5EF4-FFF2-40B4-BE49-F238E27FC236}">
                  <a16:creationId xmlns:a16="http://schemas.microsoft.com/office/drawing/2014/main" id="{0D49D1A0-BB80-0185-F2C5-5BE058B35747}"/>
                </a:ext>
              </a:extLst>
            </p:cNvPr>
            <p:cNvSpPr/>
            <p:nvPr/>
          </p:nvSpPr>
          <p:spPr>
            <a:xfrm>
              <a:off x="4763" y="833500"/>
              <a:ext cx="12187555" cy="114300"/>
            </a:xfrm>
            <a:custGeom>
              <a:avLst/>
              <a:gdLst/>
              <a:ahLst/>
              <a:cxnLst/>
              <a:rect l="l" t="t" r="r" b="b"/>
              <a:pathLst>
                <a:path w="12187555" h="114300">
                  <a:moveTo>
                    <a:pt x="12187236" y="0"/>
                  </a:moveTo>
                  <a:lnTo>
                    <a:pt x="0" y="0"/>
                  </a:lnTo>
                  <a:lnTo>
                    <a:pt x="0" y="114300"/>
                  </a:lnTo>
                  <a:lnTo>
                    <a:pt x="12187236" y="114300"/>
                  </a:lnTo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6" name="object 3">
            <a:extLst>
              <a:ext uri="{FF2B5EF4-FFF2-40B4-BE49-F238E27FC236}">
                <a16:creationId xmlns:a16="http://schemas.microsoft.com/office/drawing/2014/main" id="{893BFF00-49DC-640E-E255-51E693235EC7}"/>
              </a:ext>
            </a:extLst>
          </p:cNvPr>
          <p:cNvGrpSpPr/>
          <p:nvPr/>
        </p:nvGrpSpPr>
        <p:grpSpPr>
          <a:xfrm>
            <a:off x="0" y="1196383"/>
            <a:ext cx="12197080" cy="123825"/>
            <a:chOff x="0" y="828738"/>
            <a:chExt cx="12197080" cy="123825"/>
          </a:xfrm>
        </p:grpSpPr>
        <p:sp>
          <p:nvSpPr>
            <p:cNvPr id="17" name="object 4">
              <a:extLst>
                <a:ext uri="{FF2B5EF4-FFF2-40B4-BE49-F238E27FC236}">
                  <a16:creationId xmlns:a16="http://schemas.microsoft.com/office/drawing/2014/main" id="{3C012500-A0C0-33D7-DE88-198C14357428}"/>
                </a:ext>
              </a:extLst>
            </p:cNvPr>
            <p:cNvSpPr/>
            <p:nvPr/>
          </p:nvSpPr>
          <p:spPr>
            <a:xfrm>
              <a:off x="4763" y="833500"/>
              <a:ext cx="12187555" cy="114300"/>
            </a:xfrm>
            <a:custGeom>
              <a:avLst/>
              <a:gdLst/>
              <a:ahLst/>
              <a:cxnLst/>
              <a:rect l="l" t="t" r="r" b="b"/>
              <a:pathLst>
                <a:path w="12187555" h="114300">
                  <a:moveTo>
                    <a:pt x="12187236" y="0"/>
                  </a:moveTo>
                  <a:lnTo>
                    <a:pt x="0" y="0"/>
                  </a:lnTo>
                  <a:lnTo>
                    <a:pt x="0" y="114300"/>
                  </a:lnTo>
                  <a:lnTo>
                    <a:pt x="12187236" y="114300"/>
                  </a:lnTo>
                  <a:lnTo>
                    <a:pt x="12187236" y="0"/>
                  </a:lnTo>
                  <a:close/>
                </a:path>
              </a:pathLst>
            </a:custGeom>
            <a:solidFill>
              <a:srgbClr val="25257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5">
              <a:extLst>
                <a:ext uri="{FF2B5EF4-FFF2-40B4-BE49-F238E27FC236}">
                  <a16:creationId xmlns:a16="http://schemas.microsoft.com/office/drawing/2014/main" id="{8F3E302D-6A43-C0F1-C93A-0370CBB57888}"/>
                </a:ext>
              </a:extLst>
            </p:cNvPr>
            <p:cNvSpPr/>
            <p:nvPr/>
          </p:nvSpPr>
          <p:spPr>
            <a:xfrm>
              <a:off x="4763" y="833500"/>
              <a:ext cx="12187555" cy="114300"/>
            </a:xfrm>
            <a:custGeom>
              <a:avLst/>
              <a:gdLst/>
              <a:ahLst/>
              <a:cxnLst/>
              <a:rect l="l" t="t" r="r" b="b"/>
              <a:pathLst>
                <a:path w="12187555" h="114300">
                  <a:moveTo>
                    <a:pt x="12187236" y="0"/>
                  </a:moveTo>
                  <a:lnTo>
                    <a:pt x="0" y="0"/>
                  </a:lnTo>
                  <a:lnTo>
                    <a:pt x="0" y="114300"/>
                  </a:lnTo>
                  <a:lnTo>
                    <a:pt x="12187236" y="114300"/>
                  </a:lnTo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" name="object 2">
            <a:extLst>
              <a:ext uri="{FF2B5EF4-FFF2-40B4-BE49-F238E27FC236}">
                <a16:creationId xmlns:a16="http://schemas.microsoft.com/office/drawing/2014/main" id="{554F605C-2CEA-C0E0-94A6-9231BBE9BD3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763770" y="3065233"/>
            <a:ext cx="3626086" cy="69057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b="1" dirty="0">
                <a:latin typeface="Arial Black" panose="020B0A04020102020204" pitchFamily="34" charset="0"/>
              </a:rPr>
              <a:t>Thank</a:t>
            </a:r>
            <a:r>
              <a:rPr b="1" spc="-200" dirty="0">
                <a:latin typeface="Arial Black" panose="020B0A04020102020204" pitchFamily="34" charset="0"/>
              </a:rPr>
              <a:t> </a:t>
            </a:r>
            <a:r>
              <a:rPr b="1" spc="-60" dirty="0">
                <a:latin typeface="Arial Black" panose="020B0A04020102020204" pitchFamily="34" charset="0"/>
              </a:rPr>
              <a:t>You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67481A8-1958-B30A-55BB-C82C55954D0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59756"/>
            <a:ext cx="3827282" cy="10255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972452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2303</TotalTime>
  <Words>914</Words>
  <Application>Microsoft Office PowerPoint</Application>
  <PresentationFormat>Widescreen</PresentationFormat>
  <Paragraphs>212</Paragraphs>
  <Slides>20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8" baseType="lpstr">
      <vt:lpstr>Arial</vt:lpstr>
      <vt:lpstr>Arial Black</vt:lpstr>
      <vt:lpstr>Arial MT</vt:lpstr>
      <vt:lpstr>Calibri</vt:lpstr>
      <vt:lpstr>Calibri Light</vt:lpstr>
      <vt:lpstr>Garet</vt:lpstr>
      <vt:lpstr>Garet Bold</vt:lpstr>
      <vt:lpstr>Office Theme</vt:lpstr>
      <vt:lpstr>PowerPoint Presentation</vt:lpstr>
      <vt:lpstr>Contents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BALAJI MUTHUKUMAR</dc:creator>
  <cp:lastModifiedBy>BALAJI MUTHUKUMAR</cp:lastModifiedBy>
  <cp:revision>36</cp:revision>
  <dcterms:created xsi:type="dcterms:W3CDTF">2025-03-04T17:03:01Z</dcterms:created>
  <dcterms:modified xsi:type="dcterms:W3CDTF">2026-03-06T09:08:16Z</dcterms:modified>
</cp:coreProperties>
</file>