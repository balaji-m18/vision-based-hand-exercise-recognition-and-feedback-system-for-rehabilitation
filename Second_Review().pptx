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71" r:id="rId5"/>
    <p:sldId id="294" r:id="rId6"/>
    <p:sldId id="259" r:id="rId7"/>
    <p:sldId id="260" r:id="rId8"/>
    <p:sldId id="261" r:id="rId9"/>
    <p:sldId id="274" r:id="rId10"/>
    <p:sldId id="272" r:id="rId11"/>
    <p:sldId id="277" r:id="rId12"/>
    <p:sldId id="284" r:id="rId13"/>
    <p:sldId id="283" r:id="rId14"/>
    <p:sldId id="291" r:id="rId15"/>
    <p:sldId id="276" r:id="rId16"/>
    <p:sldId id="279" r:id="rId17"/>
    <p:sldId id="296" r:id="rId18"/>
    <p:sldId id="297" r:id="rId19"/>
    <p:sldId id="278" r:id="rId20"/>
    <p:sldId id="295" r:id="rId21"/>
    <p:sldId id="280" r:id="rId22"/>
    <p:sldId id="281" r:id="rId23"/>
    <p:sldId id="282" r:id="rId24"/>
    <p:sldId id="293" r:id="rId25"/>
    <p:sldId id="286" r:id="rId26"/>
    <p:sldId id="285" r:id="rId27"/>
    <p:sldId id="287" r:id="rId28"/>
    <p:sldId id="289" r:id="rId29"/>
    <p:sldId id="288" r:id="rId30"/>
    <p:sldId id="290" r:id="rId31"/>
    <p:sldId id="264" r:id="rId32"/>
    <p:sldId id="292" r:id="rId33"/>
    <p:sldId id="265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0" autoAdjust="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122667-FDE9-47ED-B124-1706BBD2737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EE7BA8-EC30-4AF1-BDE3-AE80ED968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329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EE7BA8-EC30-4AF1-BDE3-AE80ED9687F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194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BE0F6-7776-B4CA-13E0-0A69C6247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D40ED-7D56-472F-1805-B3D6A7B11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4CB3C-D984-B5D9-F17E-53769DAEB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5D0D8-7BBD-3F17-A822-D78DB64D1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20D75-95E0-AB8F-8DD3-C9A5912A5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979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95A3B-8C5E-3D53-3BDA-53818E794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FD038-433E-1E4F-0D49-2A5ABF1FD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E7E90-1033-797B-DA94-B2E287C9F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F6E0B-7296-73B7-3A34-52B8BA3B1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F7F70-6596-E040-F1AF-FB0425F6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78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F476F-880A-E893-328A-D5D10DB88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1163D-6609-AAD4-F50F-5EFB2DA3F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C9BAA-C93E-968B-7C4C-38B075771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49133-FE48-F485-E9A8-E46385982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EC092-6FEA-914E-A2EE-49CD942AD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158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EFB1-B2FB-8958-B5D3-F57B6095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D860B-A5B6-3276-D8D2-1E214CA60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2A2DBC-D358-A5FA-2321-C0C3874DA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5C039-FCF9-CD6C-725C-A880EA662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F3C69-ADC8-92D0-9263-71F40D67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15134-B753-2B10-0DBA-DDA02383B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154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D8C44-AFAD-9FCE-EBBF-B9411F3A7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C4A5E-7FD3-A51A-BE13-20B1CD262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AD306E-C16F-4C5C-2DE5-EF66A5B8D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7DEC6-3A7C-9EE1-6F1D-056E813CAF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27A17-C352-48E6-5FE3-23EB058547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F596E4-106F-A2CA-B73D-240AFA7A8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27FD92-416A-699A-71A7-5728E5162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D7FA0E-CE43-162D-CFB2-A6B368D93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61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E4B73-C557-DE8D-427C-9A76B628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1F1383-85BA-09A7-2640-88830DC46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18FE2-5AF7-922B-30D6-1EF940D6C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70055-3685-CAEE-AA19-32592FDA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493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5C27F9-49A8-C6EC-8943-2F81BA9A7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B0D147-4A2A-67A7-1ACE-7DAC066A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9E682-9055-263F-62D9-BDBD79ED1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116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BEE3D-27DB-7A38-BC7B-D94E951BD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2AC24-C980-6365-BE04-FD2B1D66F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D6465-82E2-B7F6-395C-02932ABBB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64A35-B078-5B26-2EB4-5530F5ED0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8D121-92B6-536A-2315-68EE7FFBB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7BF60-7DAB-9094-79FB-38563DEB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145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54DE1-D608-FCB4-E049-D71CD7379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211727-B8AB-CFFD-3E86-FB540B7EE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21C95-EE24-717F-165D-B3776538B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4696EE-D05F-0B8F-ECF1-9F574AFDA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023A6-6B96-12E9-B8D1-A68A3A381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21E5C-4E80-0D0E-F859-BB5D9E9B3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220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69667-275C-3965-2EB1-F75123EC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6F717-79A7-68D0-44D8-646BE11AB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6E270-D539-53E2-642B-0E53A3AAA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604A3-65BB-DF34-3E01-3BA28783D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49ED8-5119-1B11-A441-E183BF1D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877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9CD538-A54F-5ADF-5879-26A232396D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14407C-6CA7-D5BD-5B47-5570AF862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A35CF-A144-E988-6A48-1E95C7B04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86F57-2CA7-4D44-0A4B-FABFAF1FF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23D22-53A1-9F5C-7BA2-CA9316FE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160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3505EE-B2D1-92DE-EA00-CFE22C2C4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1B819-4E0E-DADB-DBC7-645778BED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E3CDD-A62D-30BF-E4FC-56BE2D49C5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A6545-D21C-459C-AC30-16BCAE01A88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CB36C-5305-E006-A3BE-B3C93B7469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F7CB6-4516-96CA-126C-F2490F1C9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17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object 3">
            <a:extLst>
              <a:ext uri="{FF2B5EF4-FFF2-40B4-BE49-F238E27FC236}">
                <a16:creationId xmlns:a16="http://schemas.microsoft.com/office/drawing/2014/main" id="{14382E05-6842-2243-562D-772C3987FBBB}"/>
              </a:ext>
            </a:extLst>
          </p:cNvPr>
          <p:cNvGrpSpPr/>
          <p:nvPr/>
        </p:nvGrpSpPr>
        <p:grpSpPr>
          <a:xfrm>
            <a:off x="0" y="2252185"/>
            <a:ext cx="12197080" cy="123825"/>
            <a:chOff x="0" y="828738"/>
            <a:chExt cx="12197080" cy="123825"/>
          </a:xfrm>
        </p:grpSpPr>
        <p:sp>
          <p:nvSpPr>
            <p:cNvPr id="9" name="object 4">
              <a:extLst>
                <a:ext uri="{FF2B5EF4-FFF2-40B4-BE49-F238E27FC236}">
                  <a16:creationId xmlns:a16="http://schemas.microsoft.com/office/drawing/2014/main" id="{65CF8F5E-4F85-A8ED-984F-D123FED4E967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>
              <a:extLst>
                <a:ext uri="{FF2B5EF4-FFF2-40B4-BE49-F238E27FC236}">
                  <a16:creationId xmlns:a16="http://schemas.microsoft.com/office/drawing/2014/main" id="{B30DA8AB-FE78-AE2C-0A12-D61B04D45D2F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4620B63-F098-F9B9-529C-343875E39577}"/>
              </a:ext>
            </a:extLst>
          </p:cNvPr>
          <p:cNvSpPr txBox="1"/>
          <p:nvPr/>
        </p:nvSpPr>
        <p:spPr>
          <a:xfrm>
            <a:off x="207390" y="2476593"/>
            <a:ext cx="118400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Arial Black" panose="020B0A04020102020204" pitchFamily="34" charset="0"/>
              </a:rPr>
              <a:t>Vision-Based Hand Exercise Recognition and Feedback System for Rehabilitation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ECB66A-F4A0-6582-62DF-93620173A8D5}"/>
              </a:ext>
            </a:extLst>
          </p:cNvPr>
          <p:cNvSpPr txBox="1"/>
          <p:nvPr/>
        </p:nvSpPr>
        <p:spPr>
          <a:xfrm>
            <a:off x="122549" y="2969443"/>
            <a:ext cx="11887200" cy="3839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2800" dirty="0"/>
          </a:p>
          <a:p>
            <a:pPr algn="ctr"/>
            <a:endParaRPr lang="en-IN" sz="2800" dirty="0"/>
          </a:p>
          <a:p>
            <a:pPr algn="ctr"/>
            <a:r>
              <a:rPr lang="en-IN" sz="2800" dirty="0"/>
              <a:t>Presented by </a:t>
            </a:r>
          </a:p>
          <a:p>
            <a:pPr algn="ctr"/>
            <a:r>
              <a:rPr lang="en-IN" sz="2800" b="1" dirty="0">
                <a:latin typeface="Arial Black" panose="020B0A04020102020204" pitchFamily="34" charset="0"/>
              </a:rPr>
              <a:t>Balaji M(126006058)</a:t>
            </a:r>
          </a:p>
          <a:p>
            <a:pPr algn="ctr"/>
            <a:endParaRPr lang="en-IN" sz="2800" b="1" dirty="0">
              <a:latin typeface="Arial Black" panose="020B0A04020102020204" pitchFamily="34" charset="0"/>
            </a:endParaRPr>
          </a:p>
          <a:p>
            <a:pPr algn="ctr"/>
            <a:r>
              <a:rPr lang="en-IN" sz="2800" dirty="0"/>
              <a:t>Project Guide</a:t>
            </a:r>
          </a:p>
          <a:p>
            <a:pPr marL="13335" algn="ctr">
              <a:lnSpc>
                <a:spcPts val="3000"/>
              </a:lnSpc>
            </a:pPr>
            <a:r>
              <a:rPr lang="en-US" sz="2800" b="1" dirty="0" err="1">
                <a:latin typeface="Arial"/>
                <a:cs typeface="Arial"/>
              </a:rPr>
              <a:t>Dr.</a:t>
            </a:r>
            <a:r>
              <a:rPr lang="en-US" sz="2800" b="1" spc="-20" dirty="0" err="1">
                <a:latin typeface="Arial"/>
                <a:cs typeface="Arial"/>
              </a:rPr>
              <a:t>Nirmala</a:t>
            </a:r>
            <a:r>
              <a:rPr lang="en-US" sz="2800" b="1" spc="-20" dirty="0">
                <a:latin typeface="Arial"/>
                <a:cs typeface="Arial"/>
              </a:rPr>
              <a:t> </a:t>
            </a:r>
            <a:r>
              <a:rPr lang="en-US" sz="2800" b="1" spc="-20" dirty="0" err="1">
                <a:latin typeface="Arial"/>
                <a:cs typeface="Arial"/>
              </a:rPr>
              <a:t>Jegadeesan</a:t>
            </a:r>
            <a:r>
              <a:rPr lang="en-US" sz="2800" b="1" spc="-20" dirty="0">
                <a:latin typeface="Arial"/>
                <a:cs typeface="Arial"/>
              </a:rPr>
              <a:t>, SEEE</a:t>
            </a:r>
            <a:endParaRPr lang="en-US" sz="2800" dirty="0">
              <a:latin typeface="Arial"/>
              <a:cs typeface="Arial"/>
            </a:endParaRPr>
          </a:p>
          <a:p>
            <a:pPr algn="ctr">
              <a:lnSpc>
                <a:spcPts val="2720"/>
              </a:lnSpc>
            </a:pPr>
            <a:r>
              <a:rPr lang="en-US" sz="2800" dirty="0">
                <a:latin typeface="Arial MT"/>
                <a:cs typeface="Arial MT"/>
              </a:rPr>
              <a:t>SASTRA</a:t>
            </a:r>
            <a:r>
              <a:rPr lang="en-US" sz="2800" spc="-8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Deemed</a:t>
            </a:r>
            <a:r>
              <a:rPr lang="en-US" sz="2800" spc="10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9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be</a:t>
            </a:r>
            <a:r>
              <a:rPr lang="en-US" sz="2800" spc="100" dirty="0">
                <a:latin typeface="Arial MT"/>
                <a:cs typeface="Arial MT"/>
              </a:rPr>
              <a:t> </a:t>
            </a:r>
            <a:r>
              <a:rPr lang="en-US" sz="2800" spc="-10" dirty="0">
                <a:latin typeface="Arial MT"/>
                <a:cs typeface="Arial MT"/>
              </a:rPr>
              <a:t>University</a:t>
            </a:r>
            <a:endParaRPr lang="en-US" sz="2800" dirty="0">
              <a:latin typeface="Arial MT"/>
              <a:cs typeface="Arial MT"/>
            </a:endParaRPr>
          </a:p>
          <a:p>
            <a:pPr algn="ctr"/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34F01C-C5FB-D695-2877-F2496741C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545" y="0"/>
            <a:ext cx="8305014" cy="222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85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1B83C-6BED-7382-4413-2DAE9464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636" y="82321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57A08-2C12-83B3-2726-308327924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Problem Statements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  <a:p>
            <a:r>
              <a:rPr lang="en-IN" sz="2800" dirty="0">
                <a:latin typeface="Arial"/>
                <a:cs typeface="Arial"/>
              </a:rPr>
              <a:t>Literature</a:t>
            </a:r>
            <a:r>
              <a:rPr lang="en-IN" sz="2800" b="1" spc="215" dirty="0">
                <a:latin typeface="Arial"/>
                <a:cs typeface="Arial"/>
              </a:rPr>
              <a:t> </a:t>
            </a:r>
            <a:r>
              <a:rPr lang="en-IN" sz="2800" spc="-10" dirty="0">
                <a:latin typeface="Arial"/>
                <a:cs typeface="Arial"/>
              </a:rPr>
              <a:t>Survey</a:t>
            </a: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Methodology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Exercise Selection</a:t>
            </a: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Data Acquisition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Feature Normalization</a:t>
            </a: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Model Training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Performance Evaluation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ea typeface="Times New Roman Bold"/>
              <a:cs typeface="Arial" panose="020B0604020202020204" pitchFamily="34" charset="0"/>
              <a:sym typeface="Times New Roman Bold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Future Work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ea typeface="Times New Roman Bold"/>
              <a:cs typeface="Arial" panose="020B0604020202020204" pitchFamily="34" charset="0"/>
              <a:sym typeface="Times New Roman Bold"/>
            </a:endParaRP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DB4BCB49-CFF5-F28D-78A2-458E62853C9D}"/>
              </a:ext>
            </a:extLst>
          </p:cNvPr>
          <p:cNvGrpSpPr/>
          <p:nvPr/>
        </p:nvGrpSpPr>
        <p:grpSpPr>
          <a:xfrm>
            <a:off x="-5080" y="0"/>
            <a:ext cx="12197080" cy="123825"/>
            <a:chOff x="0" y="828738"/>
            <a:chExt cx="12197080" cy="123825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C31AACD9-8FE4-E8E5-6C4A-5C318F90138E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D162C2EF-0D70-BBB2-907F-FFC23929EF92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3">
            <a:extLst>
              <a:ext uri="{FF2B5EF4-FFF2-40B4-BE49-F238E27FC236}">
                <a16:creationId xmlns:a16="http://schemas.microsoft.com/office/drawing/2014/main" id="{0E12C6BA-8172-451C-8979-0C38C5D1356F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106729E8-21AF-EC8D-5D14-40805351E296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BDF36638-7933-D33B-D3B9-2C3BE1CB1C5F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BC7B5024-7A8F-85D1-68F7-38ACC1C83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099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ED23F4B6-933D-F153-11F1-69CEBE555C84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1E7B41B5-81AA-45CD-0217-3CA0591BAD26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995BEEDF-AB7E-4635-A9C2-1821638B337D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CF1635C2-157F-1531-9653-1F95E7DE7241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1820B751-87AE-5CD4-B44D-00DC8A329695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BDC60279-D44C-69EF-A494-08941B15335A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0B9D1D0-5CBD-254A-9885-E134819E3701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latin typeface="Arial Black" panose="020B0A04020102020204" pitchFamily="34" charset="0"/>
              </a:rPr>
              <a:t>Problem Statements</a:t>
            </a:r>
            <a:endParaRPr lang="en-IN" sz="4400" dirty="0"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CE9C61D3-EFE2-EA53-4A06-D720C9E69E9F}"/>
              </a:ext>
            </a:extLst>
          </p:cNvPr>
          <p:cNvSpPr txBox="1"/>
          <p:nvPr/>
        </p:nvSpPr>
        <p:spPr>
          <a:xfrm>
            <a:off x="155723" y="1425020"/>
            <a:ext cx="11732262" cy="35150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84200" indent="-571500">
              <a:spcBef>
                <a:spcPts val="130"/>
              </a:spcBef>
              <a:buFont typeface="+mj-lt"/>
              <a:buAutoNum type="romanUcPeriod"/>
              <a:tabLst>
                <a:tab pos="469900" algn="l"/>
              </a:tabLst>
            </a:pPr>
            <a:r>
              <a:rPr lang="en-US" sz="2800" dirty="0"/>
              <a:t>Stroke patients with hand paralysis often lack continuous supervision during rehabilitation, making it difficult to ensure correct exercise performance.</a:t>
            </a:r>
          </a:p>
          <a:p>
            <a:pPr marL="584200" indent="-571500" algn="l" rtl="0">
              <a:spcBef>
                <a:spcPts val="130"/>
              </a:spcBef>
              <a:buFont typeface="+mj-lt"/>
              <a:buAutoNum type="romanUcPeriod"/>
              <a:tabLst>
                <a:tab pos="469900" algn="l"/>
              </a:tabLst>
            </a:pPr>
            <a:endParaRPr lang="en-US" sz="2800" dirty="0"/>
          </a:p>
          <a:p>
            <a:pPr marL="584200" indent="-571500">
              <a:spcBef>
                <a:spcPts val="130"/>
              </a:spcBef>
              <a:buFont typeface="+mj-lt"/>
              <a:buAutoNum type="romanUcPeriod"/>
              <a:tabLst>
                <a:tab pos="469900" algn="l"/>
              </a:tabLst>
            </a:pPr>
            <a:r>
              <a:rPr lang="en-US" sz="2800" dirty="0"/>
              <a:t>Existing rehabilitation systems commonly rely on wearable sensors, which may be uncomfortable, expensive, or unsuitable for long-term home use.</a:t>
            </a:r>
          </a:p>
          <a:p>
            <a:pPr marL="584200" indent="-571500" algn="l" rtl="0">
              <a:spcBef>
                <a:spcPts val="130"/>
              </a:spcBef>
              <a:buFont typeface="+mj-lt"/>
              <a:buAutoNum type="romanUcPeriod"/>
              <a:tabLst>
                <a:tab pos="469900" algn="l"/>
              </a:tabLst>
            </a:pPr>
            <a:endParaRPr lang="en-US" sz="2800" dirty="0"/>
          </a:p>
          <a:p>
            <a:pPr marL="584200" indent="-571500">
              <a:spcBef>
                <a:spcPts val="130"/>
              </a:spcBef>
              <a:buFont typeface="+mj-lt"/>
              <a:buAutoNum type="romanUcPeriod"/>
              <a:tabLst>
                <a:tab pos="469900" algn="l"/>
              </a:tabLst>
            </a:pPr>
            <a:r>
              <a:rPr lang="en-US" sz="2800" dirty="0"/>
              <a:t>There is a need for a low-cost, non-invasive system that can automatically recognize hand rehabilitation exercises and provide real-time feedback.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ED000C-CF7D-12FB-4354-63B6A2A2F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192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ED7CC-7B5A-ADED-C733-5BA2F982D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062928BA-0B09-0010-0B3D-D631F472E3E5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4424E834-8362-8278-002C-668BC3C09B60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D1E29209-08E7-BC30-BB0F-1AB4C11FF175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467B7D3C-902D-D56C-190B-3C4DA11F77CD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832D33F2-5E02-237F-98C9-84A152E5EFEB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39DAA594-696A-49FD-DC37-830B599E4780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A7D7D77-B7A0-773E-FADB-FA40720CE6B4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latin typeface="Arial Black" panose="020B0A04020102020204" pitchFamily="34" charset="0"/>
              </a:rPr>
              <a:t>Objective</a:t>
            </a:r>
            <a:endParaRPr lang="en-IN" sz="4400" dirty="0"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C0E8A97A-6D04-DEC3-174A-0F06AA5523BB}"/>
              </a:ext>
            </a:extLst>
          </p:cNvPr>
          <p:cNvSpPr txBox="1"/>
          <p:nvPr/>
        </p:nvSpPr>
        <p:spPr>
          <a:xfrm>
            <a:off x="155723" y="1425020"/>
            <a:ext cx="11732262" cy="86049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84200" indent="-571500">
              <a:spcBef>
                <a:spcPts val="130"/>
              </a:spcBef>
              <a:buFont typeface="+mj-lt"/>
              <a:buAutoNum type="romanUcPeriod"/>
              <a:tabLst>
                <a:tab pos="469900" algn="l"/>
              </a:tabLst>
            </a:pPr>
            <a:endParaRPr lang="en-IN" sz="2800" b="1" dirty="0"/>
          </a:p>
          <a:p>
            <a:pPr marL="584200" indent="-571500" algn="l" rtl="0">
              <a:spcBef>
                <a:spcPts val="130"/>
              </a:spcBef>
              <a:buFont typeface="+mj-lt"/>
              <a:buAutoNum type="romanUcPeriod"/>
              <a:tabLst>
                <a:tab pos="469900" algn="l"/>
              </a:tabLst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5FBAE3-6200-32D4-FFE7-FE524F7A8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A83BB149-4241-4235-7540-D7BE52C26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255" y="1550564"/>
            <a:ext cx="1160439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Literature review – Study existing hand rehab and gesture systems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Exercise selection – Choose predefined hand exercises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capture – Collect hand exercise images using a camera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Recognition – Detect exercises in real time using live video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 – Provide real-time hardware feedback </a:t>
            </a:r>
          </a:p>
        </p:txBody>
      </p:sp>
    </p:spTree>
    <p:extLst>
      <p:ext uri="{BB962C8B-B14F-4D97-AF65-F5344CB8AC3E}">
        <p14:creationId xmlns:p14="http://schemas.microsoft.com/office/powerpoint/2010/main" val="585956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43333-49CC-6A9F-128B-A641782DA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1FDFB63E-2A52-E48C-EF5B-9DF4754D2558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517DCFCF-0C65-F72C-2025-63F96E5C6A3C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F4F54C94-2C1F-6CB8-6C57-803EEED02AB6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D0F7AB52-D289-1845-D86D-9D8A06E7D786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327313DB-F52E-8A30-3DAB-0A1F03DFD273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0B7A8793-C1FF-01E9-858F-ED9FD3050114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F9F758F-E626-1601-EBB0-9251294613E7}"/>
              </a:ext>
            </a:extLst>
          </p:cNvPr>
          <p:cNvSpPr txBox="1"/>
          <p:nvPr/>
        </p:nvSpPr>
        <p:spPr>
          <a:xfrm>
            <a:off x="4501296" y="273377"/>
            <a:ext cx="76907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Arial Black" panose="020B0A04020102020204" pitchFamily="34" charset="0"/>
              </a:rPr>
              <a:t>Discussion</a:t>
            </a:r>
            <a:endParaRPr lang="en-IN" sz="40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B808DD-1FD2-92CE-E046-7A9969BE4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92A049-82F2-114C-10F1-16D656E09363}"/>
              </a:ext>
            </a:extLst>
          </p:cNvPr>
          <p:cNvSpPr txBox="1"/>
          <p:nvPr/>
        </p:nvSpPr>
        <p:spPr>
          <a:xfrm>
            <a:off x="202676" y="1390356"/>
            <a:ext cx="10487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>
              <a:buNone/>
            </a:pPr>
            <a:endParaRPr lang="en-US" sz="24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8D6FB5D-F326-0C67-DAD4-44ADCC0D838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88537" y="1396923"/>
            <a:ext cx="11236750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1. Compared to wearable glove systems, the proposed system is: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Low-cost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Comfortable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Easy to use at home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2. Eliminates need for hardware sensors → reduces maintenance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3. Provides real-time feedback, improving exercise correctness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4. Limitation: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Sensitive to camera quality and lighting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Requires proper hand positioning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683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83BD6-4995-D69E-8AF5-A591CC8C4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330AF756-BAAC-9C69-2CAF-CA896593B243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646BD34E-7FC5-B6BE-6FC8-1885E71B953C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BC65759D-3EA7-E8C9-4B4E-2B9BBAC81703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704E0464-A50E-E78B-2BA2-7B3C58408D9C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E471EE69-00D1-9AEC-3533-6A2BF0CFAB7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90EA71CF-C2A1-6EEA-FE04-BFF763E98237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515B9C1-3AEF-EDBA-06C0-41F52806D9C6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latin typeface="Arial Black" panose="020B0A04020102020204" pitchFamily="34" charset="0"/>
              </a:rPr>
              <a:t>Literature Survey</a:t>
            </a:r>
            <a:endParaRPr lang="en-IN" sz="4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79172F-0C3F-A2D7-5D37-9C75AC59D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149196"/>
              </p:ext>
            </p:extLst>
          </p:nvPr>
        </p:nvGraphicFramePr>
        <p:xfrm>
          <a:off x="540727" y="1450130"/>
          <a:ext cx="11167107" cy="5136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2369">
                  <a:extLst>
                    <a:ext uri="{9D8B030D-6E8A-4147-A177-3AD203B41FA5}">
                      <a16:colId xmlns:a16="http://schemas.microsoft.com/office/drawing/2014/main" val="741973221"/>
                    </a:ext>
                  </a:extLst>
                </a:gridCol>
                <a:gridCol w="3722369">
                  <a:extLst>
                    <a:ext uri="{9D8B030D-6E8A-4147-A177-3AD203B41FA5}">
                      <a16:colId xmlns:a16="http://schemas.microsoft.com/office/drawing/2014/main" val="2461659747"/>
                    </a:ext>
                  </a:extLst>
                </a:gridCol>
                <a:gridCol w="3722369">
                  <a:extLst>
                    <a:ext uri="{9D8B030D-6E8A-4147-A177-3AD203B41FA5}">
                      <a16:colId xmlns:a16="http://schemas.microsoft.com/office/drawing/2014/main" val="2994232230"/>
                    </a:ext>
                  </a:extLst>
                </a:gridCol>
              </a:tblGrid>
              <a:tr h="218136">
                <a:tc>
                  <a:txBody>
                    <a:bodyPr/>
                    <a:lstStyle/>
                    <a:p>
                      <a:r>
                        <a:rPr lang="en-IN" sz="2000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Improvements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697499"/>
                  </a:ext>
                </a:extLst>
              </a:tr>
              <a:tr h="2088595"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Device for Local or Remote Monitoring of Hand</a:t>
                      </a:r>
                    </a:p>
                    <a:p>
                      <a:r>
                        <a:rPr lang="en-IN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Rehabilitation Sessions for Rheumatic Patients</a:t>
                      </a:r>
                    </a:p>
                    <a:p>
                      <a:r>
                        <a:rPr lang="en-IN" b="0" i="0" dirty="0"/>
                        <a:t>D. Pani, G. Barabino, A. </a:t>
                      </a:r>
                      <a:r>
                        <a:rPr lang="en-IN" b="0" i="0" dirty="0" err="1"/>
                        <a:t>Dessì</a:t>
                      </a:r>
                      <a:r>
                        <a:rPr lang="en-IN" b="0" i="0" dirty="0"/>
                        <a:t>, IEEE Journal of Biomedical and Health Informatics, Nov. 2015.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Focused on static gestures, limited classes, no rehabilitation feedback, and constrained real-time adaptability.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 Extended to dynamic hand exercises with real-time recognition and hardware-based feedback for rehabilitation support.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072323"/>
                  </a:ext>
                </a:extLst>
              </a:tr>
              <a:tr h="1399328">
                <a:tc>
                  <a:txBody>
                    <a:bodyPr/>
                    <a:lstStyle/>
                    <a:p>
                      <a:r>
                        <a:rPr lang="en-IN" sz="1800" b="1" dirty="0"/>
                        <a:t>Wearable Hand Rehabilitation System With Soft Gloves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i="0" dirty="0"/>
                        <a:t>X. Chen, L. Gong, L. Wei, S.-C. Yeh,</a:t>
                      </a:r>
                      <a:br>
                        <a:rPr lang="en-IN" b="0" i="0" dirty="0"/>
                      </a:br>
                      <a:r>
                        <a:rPr lang="en-IN" b="0" i="0" dirty="0"/>
                        <a:t>IEEE Transactions on Industrial Informatics, Feb. 2021.</a:t>
                      </a:r>
                      <a:endParaRPr lang="en-US" sz="18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The glove doesn’t support many rehab tasks, and we don’t know if it works well long-term. Adding more therapy features and better real-time changes can help more patients.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Adding more exercises to help with different hand movements and recovery. Testing the glove for a longer time to see how well it works.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446779"/>
                  </a:ext>
                </a:extLst>
              </a:tr>
              <a:tr h="904249">
                <a:tc>
                  <a:txBody>
                    <a:bodyPr/>
                    <a:lstStyle/>
                    <a:p>
                      <a:r>
                        <a:rPr lang="en-US" b="1" dirty="0"/>
                        <a:t>Sign language detection</a:t>
                      </a:r>
                    </a:p>
                    <a:p>
                      <a:r>
                        <a:rPr lang="en-US" dirty="0"/>
                        <a:t>P</a:t>
                      </a:r>
                      <a:r>
                        <a:rPr lang="en-US" i="0" dirty="0"/>
                        <a:t>. Kadiyala, International Research Journal of Engineering and Technology (IRJET),</a:t>
                      </a:r>
                      <a:r>
                        <a:rPr lang="en-US" b="0" i="0" dirty="0"/>
                        <a:t>Jul. 2021.</a:t>
                      </a:r>
                      <a:endParaRPr lang="en-IN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Limited to static sign recognition for communication, lacks real-time monitoring, rehabilitation focus, exercise evaluation, and hardware-based feedback.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Supports real-time hand rehabilitation exercise recognition, continuous monitoring, and integrates hardware-based visual or auditory feedback for effective therapy.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0865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85CF207-FE7D-24AA-3FEE-B6271225D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196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7E4B6-01CE-2C9E-0477-53A140997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246A967B-4A6C-B71C-84F1-52918CF115FD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0D107270-6E47-99B4-95DB-3051DA64E115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B33943C9-DBCA-2F9B-0CE4-3B868A7E9192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97DDDA6B-4974-CA19-0211-2660D42E932F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00797473-E15B-048E-FBA1-BAFC9984E960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AC360F44-1F18-3182-898D-2AB81E2695BC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054C501-2A59-D585-2C8D-DF9D906ED513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0000"/>
                </a:solidFill>
                <a:latin typeface="Arial Black" panose="020B0A040201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Methodology</a:t>
            </a:r>
            <a:endParaRPr lang="en-IN" sz="4400" b="1" dirty="0">
              <a:latin typeface="Arial Black" panose="020B0A04020102020204" pitchFamily="34" charset="0"/>
            </a:endParaRPr>
          </a:p>
        </p:txBody>
      </p:sp>
      <p:grpSp>
        <p:nvGrpSpPr>
          <p:cNvPr id="187" name="Group 10">
            <a:extLst>
              <a:ext uri="{FF2B5EF4-FFF2-40B4-BE49-F238E27FC236}">
                <a16:creationId xmlns:a16="http://schemas.microsoft.com/office/drawing/2014/main" id="{9C60596C-C55D-F068-8874-77829A1E5424}"/>
              </a:ext>
            </a:extLst>
          </p:cNvPr>
          <p:cNvGrpSpPr/>
          <p:nvPr/>
        </p:nvGrpSpPr>
        <p:grpSpPr>
          <a:xfrm>
            <a:off x="9159998" y="1476077"/>
            <a:ext cx="1917117" cy="933179"/>
            <a:chOff x="0" y="0"/>
            <a:chExt cx="812800" cy="441477"/>
          </a:xfrm>
        </p:grpSpPr>
        <p:sp>
          <p:nvSpPr>
            <p:cNvPr id="188" name="Freeform 11">
              <a:extLst>
                <a:ext uri="{FF2B5EF4-FFF2-40B4-BE49-F238E27FC236}">
                  <a16:creationId xmlns:a16="http://schemas.microsoft.com/office/drawing/2014/main" id="{1E6AF394-5A12-DB11-1A99-AD8010BE968B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2D3546"/>
            </a:solidFill>
            <a:ln cap="sq">
              <a:noFill/>
              <a:prstDash val="solid"/>
              <a:miter/>
            </a:ln>
          </p:spPr>
        </p:sp>
        <p:sp>
          <p:nvSpPr>
            <p:cNvPr id="189" name="TextBox 12">
              <a:extLst>
                <a:ext uri="{FF2B5EF4-FFF2-40B4-BE49-F238E27FC236}">
                  <a16:creationId xmlns:a16="http://schemas.microsoft.com/office/drawing/2014/main" id="{B6C50CDE-3DE0-C7EB-3C09-432AF3F377FE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grpSp>
        <p:nvGrpSpPr>
          <p:cNvPr id="190" name="Group 13">
            <a:extLst>
              <a:ext uri="{FF2B5EF4-FFF2-40B4-BE49-F238E27FC236}">
                <a16:creationId xmlns:a16="http://schemas.microsoft.com/office/drawing/2014/main" id="{902A7327-948D-01DC-00CE-D7E252672A5A}"/>
              </a:ext>
            </a:extLst>
          </p:cNvPr>
          <p:cNvGrpSpPr/>
          <p:nvPr/>
        </p:nvGrpSpPr>
        <p:grpSpPr>
          <a:xfrm>
            <a:off x="10040547" y="1291544"/>
            <a:ext cx="323455" cy="289872"/>
            <a:chOff x="0" y="0"/>
            <a:chExt cx="812800" cy="812800"/>
          </a:xfrm>
        </p:grpSpPr>
        <p:sp>
          <p:nvSpPr>
            <p:cNvPr id="191" name="Freeform 14">
              <a:extLst>
                <a:ext uri="{FF2B5EF4-FFF2-40B4-BE49-F238E27FC236}">
                  <a16:creationId xmlns:a16="http://schemas.microsoft.com/office/drawing/2014/main" id="{7C0E2E18-000F-7D47-CE0E-EDF901F392A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593F"/>
            </a:solidFill>
            <a:ln cap="sq">
              <a:noFill/>
              <a:prstDash val="solid"/>
              <a:miter/>
            </a:ln>
          </p:spPr>
        </p:sp>
        <p:sp>
          <p:nvSpPr>
            <p:cNvPr id="192" name="TextBox 15">
              <a:extLst>
                <a:ext uri="{FF2B5EF4-FFF2-40B4-BE49-F238E27FC236}">
                  <a16:creationId xmlns:a16="http://schemas.microsoft.com/office/drawing/2014/main" id="{BD97FAAE-4AFD-E543-0090-FBAC5C25BFCB}"/>
                </a:ext>
              </a:extLst>
            </p:cNvPr>
            <p:cNvSpPr txBox="1"/>
            <p:nvPr/>
          </p:nvSpPr>
          <p:spPr>
            <a:xfrm>
              <a:off x="76200" y="47626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</a:t>
              </a:r>
            </a:p>
          </p:txBody>
        </p:sp>
      </p:grpSp>
      <p:sp>
        <p:nvSpPr>
          <p:cNvPr id="193" name="TextBox 16">
            <a:extLst>
              <a:ext uri="{FF2B5EF4-FFF2-40B4-BE49-F238E27FC236}">
                <a16:creationId xmlns:a16="http://schemas.microsoft.com/office/drawing/2014/main" id="{B412E37A-3AEF-538E-2373-119CB862B684}"/>
              </a:ext>
            </a:extLst>
          </p:cNvPr>
          <p:cNvSpPr txBox="1"/>
          <p:nvPr/>
        </p:nvSpPr>
        <p:spPr>
          <a:xfrm>
            <a:off x="9480361" y="1757832"/>
            <a:ext cx="1321453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EAEAEC"/>
                </a:solidFill>
                <a:ea typeface="Garet"/>
                <a:cs typeface="Garet"/>
                <a:sym typeface="Garet"/>
              </a:rPr>
              <a:t>Literature Review</a:t>
            </a:r>
          </a:p>
        </p:txBody>
      </p:sp>
      <p:grpSp>
        <p:nvGrpSpPr>
          <p:cNvPr id="194" name="Group 17">
            <a:extLst>
              <a:ext uri="{FF2B5EF4-FFF2-40B4-BE49-F238E27FC236}">
                <a16:creationId xmlns:a16="http://schemas.microsoft.com/office/drawing/2014/main" id="{CB74373B-5F2B-7180-C681-78574D373D40}"/>
              </a:ext>
            </a:extLst>
          </p:cNvPr>
          <p:cNvGrpSpPr/>
          <p:nvPr/>
        </p:nvGrpSpPr>
        <p:grpSpPr>
          <a:xfrm>
            <a:off x="6428707" y="2374887"/>
            <a:ext cx="1917117" cy="933179"/>
            <a:chOff x="0" y="0"/>
            <a:chExt cx="812800" cy="441477"/>
          </a:xfrm>
        </p:grpSpPr>
        <p:sp>
          <p:nvSpPr>
            <p:cNvPr id="195" name="Freeform 18">
              <a:extLst>
                <a:ext uri="{FF2B5EF4-FFF2-40B4-BE49-F238E27FC236}">
                  <a16:creationId xmlns:a16="http://schemas.microsoft.com/office/drawing/2014/main" id="{45B83CAE-2CA3-1506-F037-C69F51DF9034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196" name="TextBox 19">
              <a:extLst>
                <a:ext uri="{FF2B5EF4-FFF2-40B4-BE49-F238E27FC236}">
                  <a16:creationId xmlns:a16="http://schemas.microsoft.com/office/drawing/2014/main" id="{03122B95-6535-2471-B483-AFAD1AA90ED2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00" name="TextBox 23">
            <a:extLst>
              <a:ext uri="{FF2B5EF4-FFF2-40B4-BE49-F238E27FC236}">
                <a16:creationId xmlns:a16="http://schemas.microsoft.com/office/drawing/2014/main" id="{13B1D844-479B-B345-C0B8-C5697C980326}"/>
              </a:ext>
            </a:extLst>
          </p:cNvPr>
          <p:cNvSpPr txBox="1"/>
          <p:nvPr/>
        </p:nvSpPr>
        <p:spPr>
          <a:xfrm>
            <a:off x="6693021" y="2566682"/>
            <a:ext cx="1321453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Exercise Selection</a:t>
            </a:r>
          </a:p>
        </p:txBody>
      </p:sp>
      <p:grpSp>
        <p:nvGrpSpPr>
          <p:cNvPr id="203" name="Group 26">
            <a:extLst>
              <a:ext uri="{FF2B5EF4-FFF2-40B4-BE49-F238E27FC236}">
                <a16:creationId xmlns:a16="http://schemas.microsoft.com/office/drawing/2014/main" id="{58EB053E-4793-51F3-9A21-1289EF23C4EC}"/>
              </a:ext>
            </a:extLst>
          </p:cNvPr>
          <p:cNvGrpSpPr/>
          <p:nvPr/>
        </p:nvGrpSpPr>
        <p:grpSpPr>
          <a:xfrm>
            <a:off x="3261169" y="2306699"/>
            <a:ext cx="1917117" cy="933179"/>
            <a:chOff x="0" y="0"/>
            <a:chExt cx="812800" cy="441477"/>
          </a:xfrm>
        </p:grpSpPr>
        <p:sp>
          <p:nvSpPr>
            <p:cNvPr id="204" name="Freeform 27">
              <a:extLst>
                <a:ext uri="{FF2B5EF4-FFF2-40B4-BE49-F238E27FC236}">
                  <a16:creationId xmlns:a16="http://schemas.microsoft.com/office/drawing/2014/main" id="{ACCB8EB9-FE4B-35B3-78FC-3872558B655E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205" name="TextBox 28">
              <a:extLst>
                <a:ext uri="{FF2B5EF4-FFF2-40B4-BE49-F238E27FC236}">
                  <a16:creationId xmlns:a16="http://schemas.microsoft.com/office/drawing/2014/main" id="{DB72860E-3034-392A-DDE6-ABABA02A8AEB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09" name="TextBox 32">
            <a:extLst>
              <a:ext uri="{FF2B5EF4-FFF2-40B4-BE49-F238E27FC236}">
                <a16:creationId xmlns:a16="http://schemas.microsoft.com/office/drawing/2014/main" id="{4839A923-AE6A-CB0D-C18E-607744B9FA12}"/>
              </a:ext>
            </a:extLst>
          </p:cNvPr>
          <p:cNvSpPr txBox="1"/>
          <p:nvPr/>
        </p:nvSpPr>
        <p:spPr>
          <a:xfrm>
            <a:off x="3431719" y="2566681"/>
            <a:ext cx="1593575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Data Acquisition</a:t>
            </a:r>
          </a:p>
        </p:txBody>
      </p:sp>
      <p:sp>
        <p:nvSpPr>
          <p:cNvPr id="210" name="AutoShape 33">
            <a:extLst>
              <a:ext uri="{FF2B5EF4-FFF2-40B4-BE49-F238E27FC236}">
                <a16:creationId xmlns:a16="http://schemas.microsoft.com/office/drawing/2014/main" id="{654CEA4F-B5DC-43B7-D4E1-7CE53009C9AC}"/>
              </a:ext>
            </a:extLst>
          </p:cNvPr>
          <p:cNvSpPr/>
          <p:nvPr/>
        </p:nvSpPr>
        <p:spPr>
          <a:xfrm flipV="1">
            <a:off x="1517715" y="4440023"/>
            <a:ext cx="1734531" cy="18854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211" name="Group 34">
            <a:extLst>
              <a:ext uri="{FF2B5EF4-FFF2-40B4-BE49-F238E27FC236}">
                <a16:creationId xmlns:a16="http://schemas.microsoft.com/office/drawing/2014/main" id="{BBE8DAA3-128A-7CF9-85D6-BC8C308007A8}"/>
              </a:ext>
            </a:extLst>
          </p:cNvPr>
          <p:cNvGrpSpPr/>
          <p:nvPr/>
        </p:nvGrpSpPr>
        <p:grpSpPr>
          <a:xfrm>
            <a:off x="9417601" y="3887412"/>
            <a:ext cx="1917117" cy="933179"/>
            <a:chOff x="0" y="0"/>
            <a:chExt cx="812800" cy="441477"/>
          </a:xfrm>
        </p:grpSpPr>
        <p:sp>
          <p:nvSpPr>
            <p:cNvPr id="212" name="Freeform 35">
              <a:extLst>
                <a:ext uri="{FF2B5EF4-FFF2-40B4-BE49-F238E27FC236}">
                  <a16:creationId xmlns:a16="http://schemas.microsoft.com/office/drawing/2014/main" id="{937867FF-997D-C110-B214-7E923934CBCB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213" name="TextBox 36">
              <a:extLst>
                <a:ext uri="{FF2B5EF4-FFF2-40B4-BE49-F238E27FC236}">
                  <a16:creationId xmlns:a16="http://schemas.microsoft.com/office/drawing/2014/main" id="{2CAE75E5-1C37-8FDC-C816-24625E6A90BB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grpSp>
        <p:nvGrpSpPr>
          <p:cNvPr id="220" name="Group 43">
            <a:extLst>
              <a:ext uri="{FF2B5EF4-FFF2-40B4-BE49-F238E27FC236}">
                <a16:creationId xmlns:a16="http://schemas.microsoft.com/office/drawing/2014/main" id="{3C8A8978-8D1B-6614-01CD-9FB756B8C656}"/>
              </a:ext>
            </a:extLst>
          </p:cNvPr>
          <p:cNvGrpSpPr/>
          <p:nvPr/>
        </p:nvGrpSpPr>
        <p:grpSpPr>
          <a:xfrm>
            <a:off x="6299793" y="3922185"/>
            <a:ext cx="1917117" cy="933179"/>
            <a:chOff x="0" y="0"/>
            <a:chExt cx="812800" cy="441477"/>
          </a:xfrm>
        </p:grpSpPr>
        <p:sp>
          <p:nvSpPr>
            <p:cNvPr id="221" name="Freeform 44">
              <a:extLst>
                <a:ext uri="{FF2B5EF4-FFF2-40B4-BE49-F238E27FC236}">
                  <a16:creationId xmlns:a16="http://schemas.microsoft.com/office/drawing/2014/main" id="{5D050BB5-E41E-A26C-A08E-BB1D84BD4599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222" name="TextBox 45">
              <a:extLst>
                <a:ext uri="{FF2B5EF4-FFF2-40B4-BE49-F238E27FC236}">
                  <a16:creationId xmlns:a16="http://schemas.microsoft.com/office/drawing/2014/main" id="{7F1FE8F4-0370-0686-92DF-7528AB99642C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grpSp>
        <p:nvGrpSpPr>
          <p:cNvPr id="227" name="Group 50">
            <a:extLst>
              <a:ext uri="{FF2B5EF4-FFF2-40B4-BE49-F238E27FC236}">
                <a16:creationId xmlns:a16="http://schemas.microsoft.com/office/drawing/2014/main" id="{6F9B0E50-66FD-BEAF-3C2C-3F5A0D1CFF54}"/>
              </a:ext>
            </a:extLst>
          </p:cNvPr>
          <p:cNvGrpSpPr/>
          <p:nvPr/>
        </p:nvGrpSpPr>
        <p:grpSpPr>
          <a:xfrm>
            <a:off x="285726" y="2316126"/>
            <a:ext cx="1917117" cy="933179"/>
            <a:chOff x="0" y="0"/>
            <a:chExt cx="812800" cy="441477"/>
          </a:xfrm>
        </p:grpSpPr>
        <p:sp>
          <p:nvSpPr>
            <p:cNvPr id="228" name="Freeform 51">
              <a:extLst>
                <a:ext uri="{FF2B5EF4-FFF2-40B4-BE49-F238E27FC236}">
                  <a16:creationId xmlns:a16="http://schemas.microsoft.com/office/drawing/2014/main" id="{B42287DD-15DE-2706-E822-CD09301B41C2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229" name="TextBox 52">
              <a:extLst>
                <a:ext uri="{FF2B5EF4-FFF2-40B4-BE49-F238E27FC236}">
                  <a16:creationId xmlns:a16="http://schemas.microsoft.com/office/drawing/2014/main" id="{E7928DC3-B444-DC70-BC29-22ADCAA7FF6D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33" name="TextBox 56">
            <a:extLst>
              <a:ext uri="{FF2B5EF4-FFF2-40B4-BE49-F238E27FC236}">
                <a16:creationId xmlns:a16="http://schemas.microsoft.com/office/drawing/2014/main" id="{A5AB84D6-694C-C9B0-4C28-C11D3C971B56}"/>
              </a:ext>
            </a:extLst>
          </p:cNvPr>
          <p:cNvSpPr txBox="1"/>
          <p:nvPr/>
        </p:nvSpPr>
        <p:spPr>
          <a:xfrm>
            <a:off x="6641238" y="4125183"/>
            <a:ext cx="1135877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Model Training</a:t>
            </a:r>
          </a:p>
        </p:txBody>
      </p:sp>
      <p:grpSp>
        <p:nvGrpSpPr>
          <p:cNvPr id="235" name="Group 58">
            <a:extLst>
              <a:ext uri="{FF2B5EF4-FFF2-40B4-BE49-F238E27FC236}">
                <a16:creationId xmlns:a16="http://schemas.microsoft.com/office/drawing/2014/main" id="{7C430413-3015-9466-E747-C99D12181131}"/>
              </a:ext>
            </a:extLst>
          </p:cNvPr>
          <p:cNvGrpSpPr/>
          <p:nvPr/>
        </p:nvGrpSpPr>
        <p:grpSpPr>
          <a:xfrm>
            <a:off x="3230571" y="3916322"/>
            <a:ext cx="1917117" cy="933179"/>
            <a:chOff x="0" y="0"/>
            <a:chExt cx="812800" cy="441477"/>
          </a:xfrm>
        </p:grpSpPr>
        <p:sp>
          <p:nvSpPr>
            <p:cNvPr id="236" name="Freeform 59">
              <a:extLst>
                <a:ext uri="{FF2B5EF4-FFF2-40B4-BE49-F238E27FC236}">
                  <a16:creationId xmlns:a16="http://schemas.microsoft.com/office/drawing/2014/main" id="{3DF6908F-DACF-95B5-DC7C-7CF8EFA951E7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237" name="TextBox 60">
              <a:extLst>
                <a:ext uri="{FF2B5EF4-FFF2-40B4-BE49-F238E27FC236}">
                  <a16:creationId xmlns:a16="http://schemas.microsoft.com/office/drawing/2014/main" id="{E4FAAC35-7879-E3E7-27DA-A32CC4844115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45" name="AutoShape 68">
            <a:extLst>
              <a:ext uri="{FF2B5EF4-FFF2-40B4-BE49-F238E27FC236}">
                <a16:creationId xmlns:a16="http://schemas.microsoft.com/office/drawing/2014/main" id="{1E816F33-DBE3-4993-B21C-47EC53B4870D}"/>
              </a:ext>
            </a:extLst>
          </p:cNvPr>
          <p:cNvSpPr/>
          <p:nvPr/>
        </p:nvSpPr>
        <p:spPr>
          <a:xfrm flipH="1">
            <a:off x="8851769" y="6099142"/>
            <a:ext cx="1470581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46" name="AutoShape 69">
            <a:extLst>
              <a:ext uri="{FF2B5EF4-FFF2-40B4-BE49-F238E27FC236}">
                <a16:creationId xmlns:a16="http://schemas.microsoft.com/office/drawing/2014/main" id="{543DD604-1176-27CF-9EE6-BB86303C111E}"/>
              </a:ext>
            </a:extLst>
          </p:cNvPr>
          <p:cNvSpPr/>
          <p:nvPr/>
        </p:nvSpPr>
        <p:spPr>
          <a:xfrm flipH="1">
            <a:off x="5637229" y="6070861"/>
            <a:ext cx="1282045" cy="942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56" name="Group 79">
            <a:extLst>
              <a:ext uri="{FF2B5EF4-FFF2-40B4-BE49-F238E27FC236}">
                <a16:creationId xmlns:a16="http://schemas.microsoft.com/office/drawing/2014/main" id="{BCD04BFD-E98D-CF69-5F0A-7DE4FD880BD7}"/>
              </a:ext>
            </a:extLst>
          </p:cNvPr>
          <p:cNvGrpSpPr/>
          <p:nvPr/>
        </p:nvGrpSpPr>
        <p:grpSpPr>
          <a:xfrm>
            <a:off x="3725854" y="5625904"/>
            <a:ext cx="1917117" cy="933179"/>
            <a:chOff x="0" y="0"/>
            <a:chExt cx="812800" cy="441477"/>
          </a:xfrm>
        </p:grpSpPr>
        <p:sp>
          <p:nvSpPr>
            <p:cNvPr id="257" name="Freeform 80">
              <a:extLst>
                <a:ext uri="{FF2B5EF4-FFF2-40B4-BE49-F238E27FC236}">
                  <a16:creationId xmlns:a16="http://schemas.microsoft.com/office/drawing/2014/main" id="{C46E1C80-86AC-999A-EB1C-81FFBC46CD10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2D3546"/>
            </a:solidFill>
            <a:ln cap="sq">
              <a:noFill/>
              <a:prstDash val="solid"/>
              <a:miter/>
            </a:ln>
          </p:spPr>
        </p:sp>
        <p:sp>
          <p:nvSpPr>
            <p:cNvPr id="258" name="TextBox 81">
              <a:extLst>
                <a:ext uri="{FF2B5EF4-FFF2-40B4-BE49-F238E27FC236}">
                  <a16:creationId xmlns:a16="http://schemas.microsoft.com/office/drawing/2014/main" id="{521550DC-8859-98B3-5BBF-22824B09E64B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62" name="TextBox 85">
            <a:extLst>
              <a:ext uri="{FF2B5EF4-FFF2-40B4-BE49-F238E27FC236}">
                <a16:creationId xmlns:a16="http://schemas.microsoft.com/office/drawing/2014/main" id="{1CFC31D1-725D-2718-2732-D95F4F2F08E1}"/>
              </a:ext>
            </a:extLst>
          </p:cNvPr>
          <p:cNvSpPr txBox="1"/>
          <p:nvPr/>
        </p:nvSpPr>
        <p:spPr>
          <a:xfrm>
            <a:off x="6316190" y="4882990"/>
            <a:ext cx="397461" cy="37160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9</a:t>
            </a:r>
          </a:p>
        </p:txBody>
      </p:sp>
      <p:grpSp>
        <p:nvGrpSpPr>
          <p:cNvPr id="267" name="Group 13">
            <a:extLst>
              <a:ext uri="{FF2B5EF4-FFF2-40B4-BE49-F238E27FC236}">
                <a16:creationId xmlns:a16="http://schemas.microsoft.com/office/drawing/2014/main" id="{8251DF8B-8BB4-B412-A985-565D83C63294}"/>
              </a:ext>
            </a:extLst>
          </p:cNvPr>
          <p:cNvGrpSpPr/>
          <p:nvPr/>
        </p:nvGrpSpPr>
        <p:grpSpPr>
          <a:xfrm>
            <a:off x="7239634" y="2176932"/>
            <a:ext cx="323455" cy="289872"/>
            <a:chOff x="0" y="0"/>
            <a:chExt cx="812800" cy="812800"/>
          </a:xfrm>
        </p:grpSpPr>
        <p:sp>
          <p:nvSpPr>
            <p:cNvPr id="268" name="Freeform 14">
              <a:extLst>
                <a:ext uri="{FF2B5EF4-FFF2-40B4-BE49-F238E27FC236}">
                  <a16:creationId xmlns:a16="http://schemas.microsoft.com/office/drawing/2014/main" id="{ECE79B12-1033-9B34-1C16-073E2E2ACDF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593F"/>
            </a:solidFill>
            <a:ln cap="sq">
              <a:noFill/>
              <a:prstDash val="solid"/>
              <a:miter/>
            </a:ln>
          </p:spPr>
        </p:sp>
        <p:sp>
          <p:nvSpPr>
            <p:cNvPr id="269" name="TextBox 15">
              <a:extLst>
                <a:ext uri="{FF2B5EF4-FFF2-40B4-BE49-F238E27FC236}">
                  <a16:creationId xmlns:a16="http://schemas.microsoft.com/office/drawing/2014/main" id="{EEF891A1-75FA-E439-9713-E1CD0C3E983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</a:t>
              </a:r>
            </a:p>
          </p:txBody>
        </p:sp>
      </p:grpSp>
      <p:grpSp>
        <p:nvGrpSpPr>
          <p:cNvPr id="270" name="Group 13">
            <a:extLst>
              <a:ext uri="{FF2B5EF4-FFF2-40B4-BE49-F238E27FC236}">
                <a16:creationId xmlns:a16="http://schemas.microsoft.com/office/drawing/2014/main" id="{13BF66E2-82C4-35A1-AB82-4A977B85D31D}"/>
              </a:ext>
            </a:extLst>
          </p:cNvPr>
          <p:cNvGrpSpPr/>
          <p:nvPr/>
        </p:nvGrpSpPr>
        <p:grpSpPr>
          <a:xfrm>
            <a:off x="4094225" y="2109478"/>
            <a:ext cx="323455" cy="289872"/>
            <a:chOff x="0" y="0"/>
            <a:chExt cx="812800" cy="812800"/>
          </a:xfrm>
        </p:grpSpPr>
        <p:sp>
          <p:nvSpPr>
            <p:cNvPr id="271" name="Freeform 14">
              <a:extLst>
                <a:ext uri="{FF2B5EF4-FFF2-40B4-BE49-F238E27FC236}">
                  <a16:creationId xmlns:a16="http://schemas.microsoft.com/office/drawing/2014/main" id="{58312829-8E57-435B-8765-93ECEBE3304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593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72" name="TextBox 15">
              <a:extLst>
                <a:ext uri="{FF2B5EF4-FFF2-40B4-BE49-F238E27FC236}">
                  <a16:creationId xmlns:a16="http://schemas.microsoft.com/office/drawing/2014/main" id="{3CBE3C92-EC6E-E79E-F081-07B520F8B20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3</a:t>
              </a:r>
            </a:p>
          </p:txBody>
        </p:sp>
      </p:grpSp>
      <p:sp>
        <p:nvSpPr>
          <p:cNvPr id="285" name="Freeform 14">
            <a:extLst>
              <a:ext uri="{FF2B5EF4-FFF2-40B4-BE49-F238E27FC236}">
                <a16:creationId xmlns:a16="http://schemas.microsoft.com/office/drawing/2014/main" id="{91095752-4F20-CD34-1762-5323FEAB70E0}"/>
              </a:ext>
            </a:extLst>
          </p:cNvPr>
          <p:cNvSpPr/>
          <p:nvPr/>
        </p:nvSpPr>
        <p:spPr>
          <a:xfrm>
            <a:off x="1090843" y="2139225"/>
            <a:ext cx="323455" cy="289872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2593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>
              <a:lnSpc>
                <a:spcPts val="1679"/>
              </a:lnSpc>
            </a:pPr>
            <a:r>
              <a:rPr lang="en-US" sz="12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4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FD6890BD-B2C0-7892-80E7-B052230AABCA}"/>
              </a:ext>
            </a:extLst>
          </p:cNvPr>
          <p:cNvSpPr txBox="1"/>
          <p:nvPr/>
        </p:nvSpPr>
        <p:spPr>
          <a:xfrm>
            <a:off x="384848" y="2519115"/>
            <a:ext cx="1755036" cy="406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Data Organization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489495E5-6F52-F47E-257E-83950A275CF3}"/>
              </a:ext>
            </a:extLst>
          </p:cNvPr>
          <p:cNvSpPr txBox="1"/>
          <p:nvPr/>
        </p:nvSpPr>
        <p:spPr>
          <a:xfrm>
            <a:off x="3125955" y="4098524"/>
            <a:ext cx="2011654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Feature Normalization</a:t>
            </a:r>
          </a:p>
        </p:txBody>
      </p:sp>
      <p:grpSp>
        <p:nvGrpSpPr>
          <p:cNvPr id="292" name="Group 53">
            <a:extLst>
              <a:ext uri="{FF2B5EF4-FFF2-40B4-BE49-F238E27FC236}">
                <a16:creationId xmlns:a16="http://schemas.microsoft.com/office/drawing/2014/main" id="{2E8AD037-2D17-A7AC-8AB6-901ED2B3B425}"/>
              </a:ext>
            </a:extLst>
          </p:cNvPr>
          <p:cNvGrpSpPr/>
          <p:nvPr/>
        </p:nvGrpSpPr>
        <p:grpSpPr>
          <a:xfrm>
            <a:off x="4046682" y="3772512"/>
            <a:ext cx="356893" cy="292537"/>
            <a:chOff x="0" y="0"/>
            <a:chExt cx="812800" cy="812800"/>
          </a:xfrm>
        </p:grpSpPr>
        <p:sp>
          <p:nvSpPr>
            <p:cNvPr id="293" name="Freeform 54">
              <a:extLst>
                <a:ext uri="{FF2B5EF4-FFF2-40B4-BE49-F238E27FC236}">
                  <a16:creationId xmlns:a16="http://schemas.microsoft.com/office/drawing/2014/main" id="{218FEE69-E3F8-86A6-DF52-DE97AE611C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593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94" name="TextBox 55">
              <a:extLst>
                <a:ext uri="{FF2B5EF4-FFF2-40B4-BE49-F238E27FC236}">
                  <a16:creationId xmlns:a16="http://schemas.microsoft.com/office/drawing/2014/main" id="{6D7C1131-5ED4-6F9C-2B51-ED537BF6013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5</a:t>
              </a:r>
            </a:p>
          </p:txBody>
        </p:sp>
      </p:grpSp>
      <p:sp>
        <p:nvSpPr>
          <p:cNvPr id="295" name="AutoShape 68">
            <a:extLst>
              <a:ext uri="{FF2B5EF4-FFF2-40B4-BE49-F238E27FC236}">
                <a16:creationId xmlns:a16="http://schemas.microsoft.com/office/drawing/2014/main" id="{E0BE2A08-EA20-EBE5-E8A1-87AD67C4F66B}"/>
              </a:ext>
            </a:extLst>
          </p:cNvPr>
          <p:cNvSpPr/>
          <p:nvPr/>
        </p:nvSpPr>
        <p:spPr>
          <a:xfrm flipV="1">
            <a:off x="8220171" y="4355183"/>
            <a:ext cx="1216059" cy="18853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99" name="Freeform 54">
            <a:extLst>
              <a:ext uri="{FF2B5EF4-FFF2-40B4-BE49-F238E27FC236}">
                <a16:creationId xmlns:a16="http://schemas.microsoft.com/office/drawing/2014/main" id="{188DBEC5-54C4-510D-E6F3-6DDA5AD7B456}"/>
              </a:ext>
            </a:extLst>
          </p:cNvPr>
          <p:cNvSpPr/>
          <p:nvPr/>
        </p:nvSpPr>
        <p:spPr>
          <a:xfrm>
            <a:off x="7023143" y="3737735"/>
            <a:ext cx="356893" cy="29253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2593F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300" name="TextBox 15">
            <a:extLst>
              <a:ext uri="{FF2B5EF4-FFF2-40B4-BE49-F238E27FC236}">
                <a16:creationId xmlns:a16="http://schemas.microsoft.com/office/drawing/2014/main" id="{FEFE6DAE-6EB0-A3F1-D860-8EF19912F016}"/>
              </a:ext>
            </a:extLst>
          </p:cNvPr>
          <p:cNvSpPr txBox="1"/>
          <p:nvPr/>
        </p:nvSpPr>
        <p:spPr>
          <a:xfrm>
            <a:off x="7061312" y="3739283"/>
            <a:ext cx="262807" cy="24571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679"/>
              </a:lnSpc>
            </a:pPr>
            <a:r>
              <a:rPr lang="en-US" sz="12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6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FD7F6604-C91D-60C6-3A11-02E5D6FA32AE}"/>
              </a:ext>
            </a:extLst>
          </p:cNvPr>
          <p:cNvSpPr txBox="1"/>
          <p:nvPr/>
        </p:nvSpPr>
        <p:spPr>
          <a:xfrm>
            <a:off x="9390170" y="4107322"/>
            <a:ext cx="1968500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Performance Evaluation</a:t>
            </a:r>
          </a:p>
        </p:txBody>
      </p:sp>
      <p:sp>
        <p:nvSpPr>
          <p:cNvPr id="306" name="Freeform 14">
            <a:extLst>
              <a:ext uri="{FF2B5EF4-FFF2-40B4-BE49-F238E27FC236}">
                <a16:creationId xmlns:a16="http://schemas.microsoft.com/office/drawing/2014/main" id="{F938DB89-6FAE-F598-9FC8-37EEEFD11245}"/>
              </a:ext>
            </a:extLst>
          </p:cNvPr>
          <p:cNvSpPr/>
          <p:nvPr/>
        </p:nvSpPr>
        <p:spPr>
          <a:xfrm>
            <a:off x="10204049" y="3687525"/>
            <a:ext cx="323455" cy="289872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2593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>
              <a:lnSpc>
                <a:spcPts val="1679"/>
              </a:lnSpc>
            </a:pPr>
            <a:r>
              <a:rPr lang="en-US" sz="12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</a:p>
        </p:txBody>
      </p:sp>
      <p:grpSp>
        <p:nvGrpSpPr>
          <p:cNvPr id="307" name="Group 34">
            <a:extLst>
              <a:ext uri="{FF2B5EF4-FFF2-40B4-BE49-F238E27FC236}">
                <a16:creationId xmlns:a16="http://schemas.microsoft.com/office/drawing/2014/main" id="{4D3B4282-602F-0FDD-9254-CEFEF6CF439E}"/>
              </a:ext>
            </a:extLst>
          </p:cNvPr>
          <p:cNvGrpSpPr/>
          <p:nvPr/>
        </p:nvGrpSpPr>
        <p:grpSpPr>
          <a:xfrm>
            <a:off x="6935838" y="5640797"/>
            <a:ext cx="1917117" cy="933179"/>
            <a:chOff x="0" y="0"/>
            <a:chExt cx="812800" cy="441477"/>
          </a:xfrm>
        </p:grpSpPr>
        <p:sp>
          <p:nvSpPr>
            <p:cNvPr id="308" name="Freeform 35">
              <a:extLst>
                <a:ext uri="{FF2B5EF4-FFF2-40B4-BE49-F238E27FC236}">
                  <a16:creationId xmlns:a16="http://schemas.microsoft.com/office/drawing/2014/main" id="{8EE78F98-1A56-BBE2-875F-7805E09CEE98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09" name="TextBox 36">
              <a:extLst>
                <a:ext uri="{FF2B5EF4-FFF2-40B4-BE49-F238E27FC236}">
                  <a16:creationId xmlns:a16="http://schemas.microsoft.com/office/drawing/2014/main" id="{B11E177C-B995-893E-D2A8-82B406620B22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310" name="AutoShape 68">
            <a:extLst>
              <a:ext uri="{FF2B5EF4-FFF2-40B4-BE49-F238E27FC236}">
                <a16:creationId xmlns:a16="http://schemas.microsoft.com/office/drawing/2014/main" id="{6E19DC40-0B03-AF1E-9343-4F7AD73D6CBB}"/>
              </a:ext>
            </a:extLst>
          </p:cNvPr>
          <p:cNvSpPr/>
          <p:nvPr/>
        </p:nvSpPr>
        <p:spPr>
          <a:xfrm>
            <a:off x="5128180" y="4355184"/>
            <a:ext cx="1206632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15" name="Freeform 54">
            <a:extLst>
              <a:ext uri="{FF2B5EF4-FFF2-40B4-BE49-F238E27FC236}">
                <a16:creationId xmlns:a16="http://schemas.microsoft.com/office/drawing/2014/main" id="{A7AC4685-04BA-7196-9E5F-3BB175E571C8}"/>
              </a:ext>
            </a:extLst>
          </p:cNvPr>
          <p:cNvSpPr/>
          <p:nvPr/>
        </p:nvSpPr>
        <p:spPr>
          <a:xfrm>
            <a:off x="7643321" y="5486827"/>
            <a:ext cx="377213" cy="31285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2593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>
              <a:lnSpc>
                <a:spcPts val="1679"/>
              </a:lnSpc>
            </a:pPr>
            <a:r>
              <a:rPr lang="en-US" sz="12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8</a:t>
            </a:r>
          </a:p>
        </p:txBody>
      </p:sp>
      <p:sp>
        <p:nvSpPr>
          <p:cNvPr id="339" name="Freeform 54">
            <a:extLst>
              <a:ext uri="{FF2B5EF4-FFF2-40B4-BE49-F238E27FC236}">
                <a16:creationId xmlns:a16="http://schemas.microsoft.com/office/drawing/2014/main" id="{84ECCDBA-072F-280A-122B-17D8605086B2}"/>
              </a:ext>
            </a:extLst>
          </p:cNvPr>
          <p:cNvSpPr/>
          <p:nvPr/>
        </p:nvSpPr>
        <p:spPr>
          <a:xfrm>
            <a:off x="4496340" y="5441264"/>
            <a:ext cx="377213" cy="31285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2593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>
              <a:lnSpc>
                <a:spcPts val="1679"/>
              </a:lnSpc>
            </a:pPr>
            <a:r>
              <a:rPr lang="en-US" sz="12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B0D57F-47F2-08EC-B201-0E3D14BE4C07}"/>
              </a:ext>
            </a:extLst>
          </p:cNvPr>
          <p:cNvSpPr txBox="1"/>
          <p:nvPr/>
        </p:nvSpPr>
        <p:spPr>
          <a:xfrm>
            <a:off x="6893637" y="5796292"/>
            <a:ext cx="1939277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Real-Time Inference</a:t>
            </a:r>
          </a:p>
        </p:txBody>
      </p:sp>
      <p:sp>
        <p:nvSpPr>
          <p:cNvPr id="4" name="TextBox 82">
            <a:extLst>
              <a:ext uri="{FF2B5EF4-FFF2-40B4-BE49-F238E27FC236}">
                <a16:creationId xmlns:a16="http://schemas.microsoft.com/office/drawing/2014/main" id="{0465D387-E213-21DA-F5DC-6745B4BDD7D1}"/>
              </a:ext>
            </a:extLst>
          </p:cNvPr>
          <p:cNvSpPr txBox="1"/>
          <p:nvPr/>
        </p:nvSpPr>
        <p:spPr>
          <a:xfrm>
            <a:off x="3729371" y="5869222"/>
            <a:ext cx="1814122" cy="307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ea typeface="Garet"/>
                <a:cs typeface="Garet"/>
                <a:sym typeface="Garet"/>
              </a:rPr>
              <a:t>Final Prototype</a:t>
            </a:r>
          </a:p>
        </p:txBody>
      </p:sp>
      <p:sp>
        <p:nvSpPr>
          <p:cNvPr id="5" name="AutoShape 25">
            <a:extLst>
              <a:ext uri="{FF2B5EF4-FFF2-40B4-BE49-F238E27FC236}">
                <a16:creationId xmlns:a16="http://schemas.microsoft.com/office/drawing/2014/main" id="{601A04B9-EA09-6D21-C65B-8C47E678392D}"/>
              </a:ext>
            </a:extLst>
          </p:cNvPr>
          <p:cNvSpPr/>
          <p:nvPr/>
        </p:nvSpPr>
        <p:spPr>
          <a:xfrm flipV="1">
            <a:off x="10331777" y="4826524"/>
            <a:ext cx="1" cy="1263191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25">
            <a:extLst>
              <a:ext uri="{FF2B5EF4-FFF2-40B4-BE49-F238E27FC236}">
                <a16:creationId xmlns:a16="http://schemas.microsoft.com/office/drawing/2014/main" id="{DB7600A0-03F4-F4DA-DB38-27A921052B11}"/>
              </a:ext>
            </a:extLst>
          </p:cNvPr>
          <p:cNvSpPr/>
          <p:nvPr/>
        </p:nvSpPr>
        <p:spPr>
          <a:xfrm flipH="1" flipV="1">
            <a:off x="1508288" y="3261673"/>
            <a:ext cx="9425" cy="118777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69">
            <a:extLst>
              <a:ext uri="{FF2B5EF4-FFF2-40B4-BE49-F238E27FC236}">
                <a16:creationId xmlns:a16="http://schemas.microsoft.com/office/drawing/2014/main" id="{64AC2E42-F2A5-6B39-A16F-EBC26AAB0A61}"/>
              </a:ext>
            </a:extLst>
          </p:cNvPr>
          <p:cNvSpPr/>
          <p:nvPr/>
        </p:nvSpPr>
        <p:spPr>
          <a:xfrm flipH="1">
            <a:off x="5148606" y="2773051"/>
            <a:ext cx="1282045" cy="942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9" name="AutoShape 69">
            <a:extLst>
              <a:ext uri="{FF2B5EF4-FFF2-40B4-BE49-F238E27FC236}">
                <a16:creationId xmlns:a16="http://schemas.microsoft.com/office/drawing/2014/main" id="{0F2F11A2-5CFE-F10E-B438-24BEB787B54A}"/>
              </a:ext>
            </a:extLst>
          </p:cNvPr>
          <p:cNvSpPr/>
          <p:nvPr/>
        </p:nvSpPr>
        <p:spPr>
          <a:xfrm flipH="1">
            <a:off x="2169735" y="2790334"/>
            <a:ext cx="1101365" cy="10998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0" name="AutoShape 25">
            <a:extLst>
              <a:ext uri="{FF2B5EF4-FFF2-40B4-BE49-F238E27FC236}">
                <a16:creationId xmlns:a16="http://schemas.microsoft.com/office/drawing/2014/main" id="{04A47ECB-D0F2-B85F-6A02-4B8E61FDCE5F}"/>
              </a:ext>
            </a:extLst>
          </p:cNvPr>
          <p:cNvSpPr/>
          <p:nvPr/>
        </p:nvSpPr>
        <p:spPr>
          <a:xfrm flipV="1">
            <a:off x="10077255" y="2395979"/>
            <a:ext cx="10998" cy="403781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68">
            <a:extLst>
              <a:ext uri="{FF2B5EF4-FFF2-40B4-BE49-F238E27FC236}">
                <a16:creationId xmlns:a16="http://schemas.microsoft.com/office/drawing/2014/main" id="{837672D8-CEEA-FA66-9A18-4F9792675CD9}"/>
              </a:ext>
            </a:extLst>
          </p:cNvPr>
          <p:cNvSpPr/>
          <p:nvPr/>
        </p:nvSpPr>
        <p:spPr>
          <a:xfrm flipH="1">
            <a:off x="8325438" y="2790334"/>
            <a:ext cx="1742388" cy="1571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61FFF7-872B-010B-8808-C11947009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459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39F69-F375-EC74-2CFC-4CB204BE5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0BF7BAAA-1A8A-0B5E-945A-6B1FC3C64A98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FF118051-92B5-4514-81BF-98BF287EBA09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86589AEA-29DB-B9D8-7355-77D8DCF50D4D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C38B6EDB-78C3-A166-3A6A-838581EB5596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3A0F43B1-409B-2EA6-BE4E-DF55CB86D35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E1768BF0-F6BE-EA2A-6C2E-B8C13AB8DFCD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DF30853-7B8B-62D4-64F7-F3663B31CBB8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  <a:sym typeface="Times New Roman Bold"/>
              </a:rPr>
              <a:t>Methodology</a:t>
            </a:r>
            <a:endParaRPr lang="en-IN" sz="44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82EA94-192D-B373-5139-4A0A9E9B6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6CED1FB-BEC9-1270-50A2-BBB5A7A07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00556"/>
            <a:ext cx="9879291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hand rehabilitation literature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predefined hand exercises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 and organize exercise data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 and preprocess hand landmarks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and evaluate ML model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real-time recognition with feedback</a:t>
            </a:r>
          </a:p>
        </p:txBody>
      </p:sp>
    </p:spTree>
    <p:extLst>
      <p:ext uri="{BB962C8B-B14F-4D97-AF65-F5344CB8AC3E}">
        <p14:creationId xmlns:p14="http://schemas.microsoft.com/office/powerpoint/2010/main" val="180126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EA2EF-0CCF-1DD6-E7E9-0B131B6EC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616BA6E6-89E3-CD21-ADD4-16B97A6B19C9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9E0047D4-1F9B-A720-45DD-7351DC628DE1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E7126EBA-CE7D-7E33-B5BD-9B3EB2C86F26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B7570628-6B2B-A2C2-9CD6-CB4974A20E9F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CA037391-A277-A9F1-20CC-C3D6A2DA265C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3DF23DDF-55C2-6684-6F52-A08ACAC12CB3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35C7ADC-ED14-80C1-792C-91FFAB2422F6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anose="020B0A04020102020204" pitchFamily="34" charset="0"/>
              </a:rPr>
              <a:t>Exercise Selected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30DA4546-0625-5725-F0B9-2E05D3422B56}"/>
              </a:ext>
            </a:extLst>
          </p:cNvPr>
          <p:cNvSpPr txBox="1"/>
          <p:nvPr/>
        </p:nvSpPr>
        <p:spPr>
          <a:xfrm>
            <a:off x="0" y="1069421"/>
            <a:ext cx="11592560" cy="556947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lvl="1" algn="just"/>
            <a:endParaRPr lang="en-US" sz="24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Grip power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Finger flexion   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Flexion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Bending of knuckle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Abduction and adduction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Opposition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Thumb movement</a:t>
            </a:r>
          </a:p>
          <a:p>
            <a:pPr marL="1041400" lvl="1" indent="-571500" algn="just">
              <a:spcBef>
                <a:spcPts val="130"/>
              </a:spcBef>
              <a:buFont typeface="+mj-lt"/>
              <a:buAutoNum type="romanUcPeriod"/>
              <a:tabLst>
                <a:tab pos="469900" algn="l"/>
              </a:tabLs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00F424-781B-B5EA-F1A7-F71D99357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355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C5311-B2D8-506A-49E1-BED1A2C19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6B398E5E-41D4-0389-DE5F-2150783B77ED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2093134D-4540-D914-7F9C-9D91E0556D4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67523065-ACBD-2C04-5B6B-E82325C45144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71C98C0E-1CC9-DC60-6151-45842899A2B8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876AB80B-B2CB-3339-5892-E7D8D77159F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BFE77B74-32F7-F2C5-357F-57D5BDBB7735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2345A1F-8CE8-F1C5-EB56-B693AEDA9BA0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anose="020B0A04020102020204" pitchFamily="34" charset="0"/>
              </a:rPr>
              <a:t>Data Acquisition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DC4D95-94FC-2B63-5BB8-CC36018B4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D4A2D7-DFEE-F32F-3001-F1678E70CC1D}"/>
              </a:ext>
            </a:extLst>
          </p:cNvPr>
          <p:cNvSpPr txBox="1"/>
          <p:nvPr/>
        </p:nvSpPr>
        <p:spPr>
          <a:xfrm>
            <a:off x="287516" y="1415015"/>
            <a:ext cx="1190448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Data Acquisition &amp; Dataset Preparation</a:t>
            </a:r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Real-Time Capture: Used OpenCV with Python to capture webcam images.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Structured Classes: Defined 14 gesture classes for clear classification.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Balanced Dataset: Collected 100 images per class (1400 total) to avoid bias.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Quality Control: Used manual key capture to ensure clear and correct gestures.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Auto Organization: Script automatically saved images into class folders.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Training Ready: Created a labeled dataset ready for feature extraction and model training.</a:t>
            </a:r>
          </a:p>
        </p:txBody>
      </p:sp>
    </p:spTree>
    <p:extLst>
      <p:ext uri="{BB962C8B-B14F-4D97-AF65-F5344CB8AC3E}">
        <p14:creationId xmlns:p14="http://schemas.microsoft.com/office/powerpoint/2010/main" val="3732210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B1798-E286-E0EB-75FF-D9AEDA9BB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0D97AD0F-1D64-BA8B-F36C-6CAB4E61E693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D2392ECE-450F-72B1-7387-220A515BA5BA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3905E2D2-BA39-4090-C63B-CC301C03C516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18FECA6B-86E5-5AEA-91C0-5266E569E908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9FB37D0F-1887-832E-3CB8-30FB5014BEC4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38BC14B9-5894-AE30-3E21-05445D52B1E4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877F04A-91A6-9B47-3582-0D43C8CF38B2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anose="020B0A04020102020204" pitchFamily="34" charset="0"/>
              </a:rPr>
              <a:t>Data Acquisition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9310C7-A2DA-8E51-562C-4C36F98A6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1E7267-2625-2678-41CD-CE0659CCDBE1}"/>
              </a:ext>
            </a:extLst>
          </p:cNvPr>
          <p:cNvSpPr txBox="1"/>
          <p:nvPr/>
        </p:nvSpPr>
        <p:spPr>
          <a:xfrm>
            <a:off x="2767919" y="6011996"/>
            <a:ext cx="6793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Capturing hand gesture images using a webcam for dataset creation.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422C3F-1D8E-DFDD-1C18-1D82DF2DF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860" y="1414021"/>
            <a:ext cx="7431522" cy="450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97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6FEB2-1A21-BBB4-E60F-CD2D4C6AA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9889EA0F-1799-3BB5-E222-831E11BB1165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CB8DA04A-8A52-BEE2-71DE-CC1D0C626574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E3654AA1-02A9-E923-A063-77737F75671E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5AF433AC-4FC2-8555-8767-7B8862BBE9A6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8B4A453B-0B40-01F2-CABD-F1D9AD203C5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9695435E-8959-DDE9-6634-D8D28DC9B4A2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1DE03E2-7B09-DAA9-8773-DD24E7E514C4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anose="020B0A04020102020204" pitchFamily="34" charset="0"/>
              </a:rPr>
              <a:t>Data Acquisition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EDA3C070-75D9-3490-7793-42286DE5F1B1}"/>
              </a:ext>
            </a:extLst>
          </p:cNvPr>
          <p:cNvSpPr txBox="1"/>
          <p:nvPr/>
        </p:nvSpPr>
        <p:spPr>
          <a:xfrm>
            <a:off x="155723" y="1425020"/>
            <a:ext cx="11732262" cy="73738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69900" algn="l"/>
              </a:tabLst>
            </a:pPr>
            <a:r>
              <a:rPr lang="en-US" altLang="en-US" sz="2000" b="1" dirty="0">
                <a:latin typeface="Arial" panose="020B0604020202020204" pitchFamily="34" charset="0"/>
              </a:rPr>
              <a:t>Real time Data Acquisition:</a:t>
            </a:r>
            <a:endParaRPr lang="en-US" sz="2000" dirty="0">
              <a:latin typeface="Arial MT"/>
              <a:cs typeface="Arial MT"/>
            </a:endParaRPr>
          </a:p>
          <a:p>
            <a:pPr marL="12700">
              <a:spcBef>
                <a:spcPts val="130"/>
              </a:spcBef>
              <a:tabLst>
                <a:tab pos="469900" algn="l"/>
              </a:tabLst>
            </a:pPr>
            <a:endParaRPr lang="en-US" altLang="en-US" sz="260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D9B296-DDDD-24DC-37FB-8BEEF6F62C5A}"/>
              </a:ext>
            </a:extLst>
          </p:cNvPr>
          <p:cNvSpPr txBox="1"/>
          <p:nvPr/>
        </p:nvSpPr>
        <p:spPr>
          <a:xfrm>
            <a:off x="477520" y="3718560"/>
            <a:ext cx="236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Abduction &amp; adduction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7E6A54-0927-BB3A-EC36-1892B2EB8B5F}"/>
              </a:ext>
            </a:extLst>
          </p:cNvPr>
          <p:cNvSpPr txBox="1"/>
          <p:nvPr/>
        </p:nvSpPr>
        <p:spPr>
          <a:xfrm>
            <a:off x="497840" y="6180574"/>
            <a:ext cx="245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Bending of Knuckle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3BE534-E09D-1EE8-52A7-BDA57CDCCAE2}"/>
              </a:ext>
            </a:extLst>
          </p:cNvPr>
          <p:cNvSpPr txBox="1"/>
          <p:nvPr/>
        </p:nvSpPr>
        <p:spPr>
          <a:xfrm>
            <a:off x="4165600" y="3718560"/>
            <a:ext cx="1487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Finger Flexion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1387DA-D5E4-B01B-C442-121A2781F5C4}"/>
              </a:ext>
            </a:extLst>
          </p:cNvPr>
          <p:cNvSpPr txBox="1"/>
          <p:nvPr/>
        </p:nvSpPr>
        <p:spPr>
          <a:xfrm>
            <a:off x="4450080" y="6217920"/>
            <a:ext cx="85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Flexion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B00E7C-02B9-D433-2D7B-E8F8E8FB12AE}"/>
              </a:ext>
            </a:extLst>
          </p:cNvPr>
          <p:cNvSpPr txBox="1"/>
          <p:nvPr/>
        </p:nvSpPr>
        <p:spPr>
          <a:xfrm>
            <a:off x="7223760" y="3728720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Opposition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7E8ADC-8E67-D607-A0AA-F508C7F336E2}"/>
              </a:ext>
            </a:extLst>
          </p:cNvPr>
          <p:cNvSpPr txBox="1"/>
          <p:nvPr/>
        </p:nvSpPr>
        <p:spPr>
          <a:xfrm>
            <a:off x="7175500" y="6231989"/>
            <a:ext cx="2273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Thumb Movement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20093C-8434-E256-81A4-AEA411C6875C}"/>
              </a:ext>
            </a:extLst>
          </p:cNvPr>
          <p:cNvSpPr txBox="1"/>
          <p:nvPr/>
        </p:nvSpPr>
        <p:spPr>
          <a:xfrm>
            <a:off x="10078720" y="3698240"/>
            <a:ext cx="1231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Grip Power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850BAE-AF87-A69B-7886-A918BFB3A4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329"/>
            <a:ext cx="3827282" cy="102559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88B81EC-C838-DF65-0EC6-C7280FCF05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713" y="1812576"/>
            <a:ext cx="2666887" cy="185935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ED75186-0F1E-5EB2-D5EA-12DA71488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1414" y="1828800"/>
            <a:ext cx="2854624" cy="188976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A2F418F-217F-687A-5AE7-D6DDB17BD89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6743"/>
          <a:stretch>
            <a:fillRect/>
          </a:stretch>
        </p:blipFill>
        <p:spPr>
          <a:xfrm>
            <a:off x="6360160" y="1808480"/>
            <a:ext cx="2784972" cy="18796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9FD65D2-7660-F98F-7F46-97C767B1F0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522" y="1818640"/>
            <a:ext cx="2774035" cy="190249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920663E-8043-CC08-6F75-70F97C0677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3759" y="4087469"/>
            <a:ext cx="2854961" cy="213029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0413178-DAE3-CB8B-80A0-40A5825005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296" y="4257040"/>
            <a:ext cx="3031861" cy="188405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DA43252-790C-7642-6AA0-5A94ABCFB9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2720" y="4151255"/>
            <a:ext cx="3028518" cy="202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080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4824F-E20C-520C-52EB-FD68A1DC0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713FB6CE-4B43-51DD-EF0D-4CBB80472882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33D4FE94-C2BB-F260-DD17-1C3B5A41B2AE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351CDAE1-4CF1-21A0-4253-30273D2707E9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FE32D49E-75F0-839F-BC1D-CEA40CF5A619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5EC4F622-A30F-E79E-ABFE-55D9B92AC802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22470D46-D092-6E1E-103E-DE322E871A40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FE9C59E-8ABB-55F2-92C0-2425D08A6D80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anose="020B0A04020102020204" pitchFamily="34" charset="0"/>
              </a:rPr>
              <a:t>Data Acquisition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D3BD47-4F80-93E9-18CC-81987A6A51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F2E6BC-DB25-761D-C733-DC0EC33F1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08" y="1862808"/>
            <a:ext cx="5737520" cy="319687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A3158C2-3B0B-C78B-278C-3965AFC50BCB}"/>
              </a:ext>
            </a:extLst>
          </p:cNvPr>
          <p:cNvSpPr txBox="1"/>
          <p:nvPr/>
        </p:nvSpPr>
        <p:spPr>
          <a:xfrm>
            <a:off x="2869728" y="5585556"/>
            <a:ext cx="7046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Capturing 100 hand gesture images per exercise in separate folders</a:t>
            </a:r>
            <a:endParaRPr lang="en-IN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7025905-55E9-A187-12C2-ADD0479DD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520" y="1858524"/>
            <a:ext cx="5225370" cy="333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829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B530B-E3F2-8F8E-AD6D-FEAEA00A3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BE4E6167-735A-BA7D-C37E-2206855A1202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87FF5306-17FF-6461-BE10-B3FACE8B0F24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87EEE246-960A-DEAE-B68C-94A32FE54BC3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6A20E521-6076-993D-F6FC-52D3706863F4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0DDB961F-72BD-BCD9-B1CF-0AB1C40711CF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9A22ECE7-3C39-0024-A437-396CC6B71286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59029AD-1030-F4AE-4C75-9BF4307C8485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anose="020B0A04020102020204" pitchFamily="34" charset="0"/>
              </a:rPr>
              <a:t>Data Acquisition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FE707F-9B97-A3B0-0857-F919D835A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1B1B5C-4D03-CEA7-E08C-5D10CBC78DA8}"/>
              </a:ext>
            </a:extLst>
          </p:cNvPr>
          <p:cNvSpPr txBox="1"/>
          <p:nvPr/>
        </p:nvSpPr>
        <p:spPr>
          <a:xfrm>
            <a:off x="127262" y="1465024"/>
            <a:ext cx="11920194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Ethical Considerations &amp; Standards: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The system is non-invasive and does not require wearable sensors, ensuring user comfort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No personal or sensitive user data is stored or shared, it is used to train the model, once it is done, the data is erased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All processing is done locally or securely, ensuring data privacy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Designed for assistive rehabilitation only, not as a replacement for medical professionals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Ensures safe usage without causing strain or incorrect exercise enforcement </a:t>
            </a:r>
          </a:p>
          <a:p>
            <a:endParaRPr lang="en-IN" sz="2400" b="1" dirty="0"/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109961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5193F-483E-510B-BA15-F3A63AE5C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8722C59F-F667-240F-F911-491B13509DAD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58D39494-F3C0-1E3B-4175-21AB34D251A1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1B4B83B0-1187-F3E3-CA2D-E2312F4B8691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73188B6C-23CA-337D-C06E-FAA7BA32E53B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FBA67575-0E25-E7FD-28CE-7FC99F367B81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F8888FFB-21EE-B031-D8BC-21C486CA283E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A4B92E5-280E-B137-29BF-EFDC6C13F711}"/>
              </a:ext>
            </a:extLst>
          </p:cNvPr>
          <p:cNvSpPr txBox="1"/>
          <p:nvPr/>
        </p:nvSpPr>
        <p:spPr>
          <a:xfrm>
            <a:off x="4501296" y="273377"/>
            <a:ext cx="76907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Arial Black" panose="020B0A04020102020204" pitchFamily="34" charset="0"/>
              </a:rPr>
              <a:t>Feature Normalization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E70D03-6AD5-3CA2-95DA-1899246E3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5D6FDE-E2EF-E7E2-D51C-D1A6FDFE1F56}"/>
              </a:ext>
            </a:extLst>
          </p:cNvPr>
          <p:cNvSpPr txBox="1"/>
          <p:nvPr/>
        </p:nvSpPr>
        <p:spPr>
          <a:xfrm>
            <a:off x="348792" y="1470582"/>
            <a:ext cx="1067114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Feature Extraction &amp; Data Processing</a:t>
            </a:r>
          </a:p>
          <a:p>
            <a:pPr>
              <a:buNone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Structured Dataset: Images stored in labeled folders for supervised learning.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Hand Landmark Detection: Used </a:t>
            </a:r>
            <a:r>
              <a:rPr lang="en-US" sz="2400" dirty="0" err="1"/>
              <a:t>MediaPipe</a:t>
            </a:r>
            <a:r>
              <a:rPr lang="en-US" sz="2400" dirty="0"/>
              <a:t> Hands to detect 21 hand landmarks.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Feature Creation: Extracted 42 features (x, y coordinates) to represent hand shape.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Data Cleaning: Removed images where no hand landmarks were detected.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Efficient Storage: Saved processed data in a Pickle file for faster training.</a:t>
            </a:r>
          </a:p>
        </p:txBody>
      </p:sp>
    </p:spTree>
    <p:extLst>
      <p:ext uri="{BB962C8B-B14F-4D97-AF65-F5344CB8AC3E}">
        <p14:creationId xmlns:p14="http://schemas.microsoft.com/office/powerpoint/2010/main" val="1217401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FA44D-9A15-AE40-4C3B-5FAD5B05A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2D92860B-83CD-B89E-4EF7-3FE782445C8C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7590088A-FB9B-86AA-2D9A-0F854F40EDFB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E2930E16-ABE4-1F9B-64E2-9E600932B2DC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A791AD03-5E48-E78E-9CDE-34D6BF4D5C24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644202C4-C780-CA5B-11EC-81825E96F9A6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0CA2E490-CCD1-46B2-D303-57289CFC38E9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66D2809-5C15-A374-A101-375C8BB8ED9B}"/>
              </a:ext>
            </a:extLst>
          </p:cNvPr>
          <p:cNvSpPr txBox="1"/>
          <p:nvPr/>
        </p:nvSpPr>
        <p:spPr>
          <a:xfrm>
            <a:off x="4501296" y="273377"/>
            <a:ext cx="76907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>
                <a:latin typeface="Arial Black" panose="020B0A04020102020204" pitchFamily="34" charset="0"/>
              </a:rPr>
              <a:t>Evaluation Metrics</a:t>
            </a:r>
            <a:endParaRPr lang="en-IN" sz="40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FA2062-E1BA-1B75-3AEA-B3165A43B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3E1CFE-F9A4-FEE9-7F33-5E420B652E2C}"/>
              </a:ext>
            </a:extLst>
          </p:cNvPr>
          <p:cNvSpPr txBox="1"/>
          <p:nvPr/>
        </p:nvSpPr>
        <p:spPr>
          <a:xfrm>
            <a:off x="287517" y="1579611"/>
            <a:ext cx="11430002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We evaluate and select the most suitable machine learning model based on the following performance metrics.</a:t>
            </a:r>
          </a:p>
          <a:p>
            <a:endParaRPr lang="en-IN" sz="2000" b="1" dirty="0"/>
          </a:p>
          <a:p>
            <a:r>
              <a:rPr lang="en-IN" sz="2000" dirty="0"/>
              <a:t>Performance metrics and formulas:</a:t>
            </a:r>
          </a:p>
          <a:p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Accuracy = (TP + TN) / (TP + TN + FP + FN)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Precision = TP / (TP + FP)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Recall = TP / (TP + FN)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F1 Score = 2 × (Precision × Recall) / (Precision + Recall)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sz="2000" dirty="0"/>
              <a:t>Abbreviation: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TP → Correct prediction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FP → Wrong positive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FN → Missed detection</a:t>
            </a:r>
          </a:p>
        </p:txBody>
      </p:sp>
    </p:spTree>
    <p:extLst>
      <p:ext uri="{BB962C8B-B14F-4D97-AF65-F5344CB8AC3E}">
        <p14:creationId xmlns:p14="http://schemas.microsoft.com/office/powerpoint/2010/main" val="2347473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B2544-CDB8-8630-1A33-C78851535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2E8868F9-8337-4DA3-7871-F847EA9CEF81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84EED6C8-8117-1D83-DA47-BD7147F304A6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8C89AD92-D4D2-1B22-68C8-40BDB0AEF3E7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49636854-8724-8FED-0897-10385F8F1F5E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A194982A-3557-3077-3778-E0CF2471EA29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9421B3D3-3D4D-E29B-82D6-73CAF4760FEE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1063586-1FE7-2669-B9DF-81A48C9C3EC8}"/>
              </a:ext>
            </a:extLst>
          </p:cNvPr>
          <p:cNvSpPr txBox="1"/>
          <p:nvPr/>
        </p:nvSpPr>
        <p:spPr>
          <a:xfrm>
            <a:off x="4501296" y="273377"/>
            <a:ext cx="76907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>
                <a:latin typeface="Arial Black" panose="020B0A04020102020204" pitchFamily="34" charset="0"/>
              </a:rPr>
              <a:t>Evaluation Metrics</a:t>
            </a:r>
            <a:endParaRPr lang="en-IN" sz="40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504E0E-D97F-3AD5-569F-945E56D9B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051A4D-E788-7D8A-BC1E-65C76C3AF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597" y="1556101"/>
            <a:ext cx="3878034" cy="33646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D4F02B-E797-459E-7B07-703E1E846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501" y="1517716"/>
            <a:ext cx="3899864" cy="33842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362016-81AF-FE73-7757-C62781390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6259" y="1536569"/>
            <a:ext cx="3568223" cy="3374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473B22-9DD3-0589-1932-E904F62905FC}"/>
              </a:ext>
            </a:extLst>
          </p:cNvPr>
          <p:cNvSpPr txBox="1"/>
          <p:nvPr/>
        </p:nvSpPr>
        <p:spPr>
          <a:xfrm>
            <a:off x="339365" y="5222450"/>
            <a:ext cx="3769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Classification report of Random Forest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B34476-4367-FF5D-40B1-B7414437BF0C}"/>
              </a:ext>
            </a:extLst>
          </p:cNvPr>
          <p:cNvSpPr txBox="1"/>
          <p:nvPr/>
        </p:nvSpPr>
        <p:spPr>
          <a:xfrm>
            <a:off x="4743254" y="5167461"/>
            <a:ext cx="2768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Classification report of KNN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AD9ED2-9AFB-2D54-45A5-A6597828D9E9}"/>
              </a:ext>
            </a:extLst>
          </p:cNvPr>
          <p:cNvSpPr txBox="1"/>
          <p:nvPr/>
        </p:nvSpPr>
        <p:spPr>
          <a:xfrm>
            <a:off x="8733848" y="5131324"/>
            <a:ext cx="3147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Classification report of </a:t>
            </a:r>
            <a:r>
              <a:rPr lang="en-US" dirty="0" err="1"/>
              <a:t>XGBoost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37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384B2-7E6A-0F7F-295E-A80A76CE1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4AC70DAB-D86F-6A9F-7B12-B20AC18D5F35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6E01F3B5-138A-A352-D628-B9C67078D2E7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3092F4CD-6285-6DF7-FD55-548CF4BFD3FB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D1DF86FB-6262-23EF-89B5-A890D6251E19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6710A5AD-DA6D-F8DA-ECC8-D00ACAC0509F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6A2969EF-D1D8-B216-0DCC-7CF21E9C63A7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1D287B2-1FC9-0135-1AA5-A91A94F3EB5E}"/>
              </a:ext>
            </a:extLst>
          </p:cNvPr>
          <p:cNvSpPr txBox="1"/>
          <p:nvPr/>
        </p:nvSpPr>
        <p:spPr>
          <a:xfrm>
            <a:off x="4501296" y="273377"/>
            <a:ext cx="76907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>
                <a:latin typeface="Arial Black" panose="020B0A04020102020204" pitchFamily="34" charset="0"/>
              </a:rPr>
              <a:t>Evaluation Metrics</a:t>
            </a:r>
            <a:endParaRPr lang="en-IN" sz="40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E74FB4-EBC0-E5FA-7220-26CBF1D88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0DBB85-F878-DD29-5A84-BECDE8607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722" y="1502235"/>
            <a:ext cx="6531951" cy="12880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102EC3-F445-8A6F-43AC-DEB6CCB91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255" y="3182256"/>
            <a:ext cx="6561055" cy="12599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C28A86-F9FD-DB38-A170-B94663B374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121" y="4866859"/>
            <a:ext cx="6812862" cy="14084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7F4EEDB-8E8F-5721-C02F-CAF3F0659CFD}"/>
              </a:ext>
            </a:extLst>
          </p:cNvPr>
          <p:cNvSpPr txBox="1"/>
          <p:nvPr/>
        </p:nvSpPr>
        <p:spPr>
          <a:xfrm>
            <a:off x="3789575" y="4411745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KNN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8D8971-7328-20AC-5156-AA8C73D38E4C}"/>
              </a:ext>
            </a:extLst>
          </p:cNvPr>
          <p:cNvSpPr txBox="1"/>
          <p:nvPr/>
        </p:nvSpPr>
        <p:spPr>
          <a:xfrm>
            <a:off x="3404647" y="2754198"/>
            <a:ext cx="1567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Random forest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A0AA1D-B508-53DC-C1CA-AD8E5C1B6C0C}"/>
              </a:ext>
            </a:extLst>
          </p:cNvPr>
          <p:cNvSpPr txBox="1"/>
          <p:nvPr/>
        </p:nvSpPr>
        <p:spPr>
          <a:xfrm>
            <a:off x="3783291" y="6290821"/>
            <a:ext cx="976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XGBoost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50855E-8418-5B34-55A6-77553032465C}"/>
              </a:ext>
            </a:extLst>
          </p:cNvPr>
          <p:cNvSpPr txBox="1"/>
          <p:nvPr/>
        </p:nvSpPr>
        <p:spPr>
          <a:xfrm>
            <a:off x="8111766" y="2955303"/>
            <a:ext cx="38979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Based on the TP(Correct positive), FP(Wrong positive) and FN(Missed Detection), the evaluation metrics has been calculated and the Machine Learning model is decided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4043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7C1A0-1F17-886B-363F-2F921A6FD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3A67F6C5-4214-763E-09F3-F1E981CC4C6F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B2ED7F8B-AEEA-2D22-04AA-556FF8F84933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654F7EE1-ADED-90AF-FE3F-C35F18E9512C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F74F4270-031B-AD29-9167-E2DB6F5EF886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E2112E72-49CA-5370-1824-C4746D133274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3923C659-08D8-CDF1-3E85-9A78F73249BA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439305D-088C-B3F7-6E82-1DB3F97ED30A}"/>
              </a:ext>
            </a:extLst>
          </p:cNvPr>
          <p:cNvSpPr txBox="1"/>
          <p:nvPr/>
        </p:nvSpPr>
        <p:spPr>
          <a:xfrm>
            <a:off x="4501296" y="273377"/>
            <a:ext cx="76907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Arial Black" panose="020B0A04020102020204" pitchFamily="34" charset="0"/>
              </a:rPr>
              <a:t>Model Training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6B01C9-D94F-70A0-C5B5-63CDB6430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E769E744-F63E-A06B-606A-320339D37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20050"/>
            <a:ext cx="11972041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/>
              <a:t>Final comparison table:</a:t>
            </a:r>
            <a:endParaRPr lang="en-IN" sz="2400" dirty="0"/>
          </a:p>
          <a:p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AE040C-F54C-6201-916B-7AA9A8F3D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875430"/>
              </p:ext>
            </p:extLst>
          </p:nvPr>
        </p:nvGraphicFramePr>
        <p:xfrm>
          <a:off x="174920" y="1926297"/>
          <a:ext cx="11787695" cy="369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7539">
                  <a:extLst>
                    <a:ext uri="{9D8B030D-6E8A-4147-A177-3AD203B41FA5}">
                      <a16:colId xmlns:a16="http://schemas.microsoft.com/office/drawing/2014/main" val="666121220"/>
                    </a:ext>
                  </a:extLst>
                </a:gridCol>
                <a:gridCol w="2357539">
                  <a:extLst>
                    <a:ext uri="{9D8B030D-6E8A-4147-A177-3AD203B41FA5}">
                      <a16:colId xmlns:a16="http://schemas.microsoft.com/office/drawing/2014/main" val="1465935375"/>
                    </a:ext>
                  </a:extLst>
                </a:gridCol>
                <a:gridCol w="2357539">
                  <a:extLst>
                    <a:ext uri="{9D8B030D-6E8A-4147-A177-3AD203B41FA5}">
                      <a16:colId xmlns:a16="http://schemas.microsoft.com/office/drawing/2014/main" val="2766968494"/>
                    </a:ext>
                  </a:extLst>
                </a:gridCol>
                <a:gridCol w="2357539">
                  <a:extLst>
                    <a:ext uri="{9D8B030D-6E8A-4147-A177-3AD203B41FA5}">
                      <a16:colId xmlns:a16="http://schemas.microsoft.com/office/drawing/2014/main" val="421850352"/>
                    </a:ext>
                  </a:extLst>
                </a:gridCol>
                <a:gridCol w="2357539">
                  <a:extLst>
                    <a:ext uri="{9D8B030D-6E8A-4147-A177-3AD203B41FA5}">
                      <a16:colId xmlns:a16="http://schemas.microsoft.com/office/drawing/2014/main" val="3042635251"/>
                    </a:ext>
                  </a:extLst>
                </a:gridCol>
              </a:tblGrid>
              <a:tr h="92302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Final Accuracy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Training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Testing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F1-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074521"/>
                  </a:ext>
                </a:extLst>
              </a:tr>
              <a:tr h="923020">
                <a:tc>
                  <a:txBody>
                    <a:bodyPr/>
                    <a:lstStyle/>
                    <a:p>
                      <a:r>
                        <a:rPr lang="en-IN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99.831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0.9988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41624"/>
                  </a:ext>
                </a:extLst>
              </a:tr>
              <a:tr h="923020">
                <a:tc>
                  <a:txBody>
                    <a:bodyPr/>
                    <a:lstStyle/>
                    <a:p>
                      <a:r>
                        <a:rPr lang="en-IN" dirty="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99.031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1.599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0.9698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976667"/>
                  </a:ext>
                </a:extLst>
              </a:tr>
              <a:tr h="923020">
                <a:tc>
                  <a:txBody>
                    <a:bodyPr/>
                    <a:lstStyle/>
                    <a:p>
                      <a:r>
                        <a:rPr lang="en-IN" dirty="0" err="1"/>
                        <a:t>XGBoost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99.001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0.9898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320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6E54D1B-0D37-ADED-9EC6-0B460228930B}"/>
              </a:ext>
            </a:extLst>
          </p:cNvPr>
          <p:cNvSpPr txBox="1"/>
          <p:nvPr/>
        </p:nvSpPr>
        <p:spPr>
          <a:xfrm>
            <a:off x="3789575" y="5797484"/>
            <a:ext cx="4369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Comparison table between three ML models</a:t>
            </a:r>
          </a:p>
        </p:txBody>
      </p:sp>
    </p:spTree>
    <p:extLst>
      <p:ext uri="{BB962C8B-B14F-4D97-AF65-F5344CB8AC3E}">
        <p14:creationId xmlns:p14="http://schemas.microsoft.com/office/powerpoint/2010/main" val="3561046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A398B-4384-1B48-DCCC-207107A38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AD963983-C741-9DB6-9D21-0EB937A4E856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8A7F6A2C-81D3-B140-1AB4-3362DBF2BE7B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E661DE0E-0ED3-47B2-36FA-D3491F7D66BE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B7F35EFB-B5FF-929E-38F9-6A77722BB5B8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A7019498-A467-79C4-3FA9-9087CC69251A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5BDDC776-5D88-1FB7-2828-FDC1203DBC77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9CFC15F-9B33-BB3F-EC32-063222F83484}"/>
              </a:ext>
            </a:extLst>
          </p:cNvPr>
          <p:cNvSpPr txBox="1"/>
          <p:nvPr/>
        </p:nvSpPr>
        <p:spPr>
          <a:xfrm>
            <a:off x="4501296" y="273377"/>
            <a:ext cx="76907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Arial Black" panose="020B0A04020102020204" pitchFamily="34" charset="0"/>
              </a:rPr>
              <a:t>Results</a:t>
            </a:r>
            <a:endParaRPr lang="en-IN" sz="40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7A2196-A980-49CF-63D3-81A4E1198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57407B-F996-191A-2459-20EEA9797D55}"/>
              </a:ext>
            </a:extLst>
          </p:cNvPr>
          <p:cNvSpPr txBox="1"/>
          <p:nvPr/>
        </p:nvSpPr>
        <p:spPr>
          <a:xfrm>
            <a:off x="202676" y="1390356"/>
            <a:ext cx="1048732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Result - Model Selection:</a:t>
            </a:r>
          </a:p>
          <a:p>
            <a:pPr>
              <a:buNone/>
            </a:pP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High Accuracy: Random Forest achieved the highest accuracy of 99.831 and highest F1 score of 0.9988.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Gesture Detection: Learns patterns between hand landmarks (42 features) and detects 14 exercises phase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Ensemble Method: Uses many decision trees and combines their results.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Robust Model: Handles noise better than K-Nearest Neighbors and </a:t>
            </a:r>
            <a:r>
              <a:rPr lang="en-US" sz="2400" dirty="0" err="1"/>
              <a:t>XGBoost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Good Speed: Real-Time latency is less than 1 second </a:t>
            </a:r>
          </a:p>
        </p:txBody>
      </p:sp>
    </p:spTree>
    <p:extLst>
      <p:ext uri="{BB962C8B-B14F-4D97-AF65-F5344CB8AC3E}">
        <p14:creationId xmlns:p14="http://schemas.microsoft.com/office/powerpoint/2010/main" val="37898759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51234-F87D-DE5C-FCD4-2C96B836B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80C4595F-53F8-AC17-7D6C-950E84F6BA0C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1C55FE0D-84C7-B756-5E79-15E6D0313F1B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03F4D87A-83E0-FFBC-33CD-463A4F13E1AC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54AB4F32-6DFA-6F4A-D2A4-FBBBE5F966AB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5655EB38-2877-E123-B70D-92C4C45917B3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CD249E57-0378-1129-91FE-E07F9E17D529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B77914A-512F-CBCE-D6A5-312BD2C62DA5}"/>
              </a:ext>
            </a:extLst>
          </p:cNvPr>
          <p:cNvSpPr txBox="1"/>
          <p:nvPr/>
        </p:nvSpPr>
        <p:spPr>
          <a:xfrm>
            <a:off x="4501296" y="273377"/>
            <a:ext cx="76907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Arial Black" panose="020B0A04020102020204" pitchFamily="34" charset="0"/>
              </a:rPr>
              <a:t>Performance Evaluation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EE187C-66D6-73C5-D213-F2300AC1F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8296D6-6860-EF5D-75AE-9A7B832071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71" t="292" r="471" b="20272"/>
          <a:stretch>
            <a:fillRect/>
          </a:stretch>
        </p:blipFill>
        <p:spPr>
          <a:xfrm>
            <a:off x="4369788" y="1967129"/>
            <a:ext cx="3897519" cy="25671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516153A-E24F-CE89-743E-C921C8888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191" y="1978792"/>
            <a:ext cx="3482838" cy="263562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0401FC9-F993-4048-23E3-C942153FEE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067" y="2078692"/>
            <a:ext cx="3883032" cy="2465026"/>
          </a:xfrm>
          <a:prstGeom prst="rect">
            <a:avLst/>
          </a:prstGeom>
        </p:spPr>
      </p:pic>
      <p:sp>
        <p:nvSpPr>
          <p:cNvPr id="27" name="Rectangle 1">
            <a:extLst>
              <a:ext uri="{FF2B5EF4-FFF2-40B4-BE49-F238E27FC236}">
                <a16:creationId xmlns:a16="http://schemas.microsoft.com/office/drawing/2014/main" id="{BF5E9885-EADB-4C9A-7671-CF6FFC046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422" y="4949322"/>
            <a:ext cx="916285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identifies different hand movements and displays the corresponding exercise name.</a:t>
            </a:r>
          </a:p>
        </p:txBody>
      </p:sp>
    </p:spTree>
    <p:extLst>
      <p:ext uri="{BB962C8B-B14F-4D97-AF65-F5344CB8AC3E}">
        <p14:creationId xmlns:p14="http://schemas.microsoft.com/office/powerpoint/2010/main" val="5114883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32058-FAE9-F5A9-332C-1D85D5B8F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09AF047B-B8CF-64A3-348E-9E4735105303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FBB8BD0C-2271-C2F8-1241-4DFD890F64C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3F1B4F9D-64BB-3F7A-CCA1-B31F5F5C2405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E57B205A-7D2F-4CAE-5364-A1B2D1E8463C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426AE3F2-D152-6948-7088-FBEA8BDEF69C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5A5D5B44-470A-47F3-C642-EB090320D50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C8A0B41-9044-2835-8D61-0DE7284F099A}"/>
              </a:ext>
            </a:extLst>
          </p:cNvPr>
          <p:cNvSpPr txBox="1"/>
          <p:nvPr/>
        </p:nvSpPr>
        <p:spPr>
          <a:xfrm>
            <a:off x="4501296" y="273377"/>
            <a:ext cx="76907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Arial Black" panose="020B0A04020102020204" pitchFamily="34" charset="0"/>
              </a:rPr>
              <a:t>Performance Evaluation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1B3434-4D49-D3B2-EB64-83520ACD2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031608-9945-E5AA-F595-1D73635EF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3018" y="2196446"/>
            <a:ext cx="3627981" cy="2875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6EAA17-B317-E91C-618D-D4A364F9B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908" y="2187019"/>
            <a:ext cx="3583217" cy="28592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B7D0AE-03E0-E57A-AC92-B6CC43BA49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000" y="2176159"/>
            <a:ext cx="3516116" cy="28483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5E7BDC-C6AF-88B5-9DC8-14D3A17596CD}"/>
              </a:ext>
            </a:extLst>
          </p:cNvPr>
          <p:cNvSpPr txBox="1"/>
          <p:nvPr/>
        </p:nvSpPr>
        <p:spPr>
          <a:xfrm>
            <a:off x="2182303" y="5323489"/>
            <a:ext cx="8592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Real-time exercise recognition using the trained ML model and hand landmark detection.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71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A2626-7D97-5985-3353-1BEA92BC3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FBB0B396-22A2-EC13-AD6D-F45E5FC1C577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C2EDB0BE-B3A8-3BC3-3966-F59D934DC2ED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D2E9E95F-A422-ABEF-E0B5-DC172BCB5073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93DEFAF6-3AB7-8EE3-6CC9-A6E7B311062C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1A52C09F-61FB-06C1-2852-A25E51BEE46A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106606D2-8529-89B2-4B55-49D23B4E00C9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FB37211-9EA5-0B30-25F9-229BA543CAE5}"/>
              </a:ext>
            </a:extLst>
          </p:cNvPr>
          <p:cNvSpPr txBox="1"/>
          <p:nvPr/>
        </p:nvSpPr>
        <p:spPr>
          <a:xfrm>
            <a:off x="4501296" y="273377"/>
            <a:ext cx="76907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Arial Black" panose="020B0A04020102020204" pitchFamily="34" charset="0"/>
              </a:rPr>
              <a:t>Performance Evaluation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6B69C5-AE5D-8A28-BD3A-1678A5607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893010-AF5B-097E-080E-E31C82078025}"/>
              </a:ext>
            </a:extLst>
          </p:cNvPr>
          <p:cNvSpPr txBox="1"/>
          <p:nvPr/>
        </p:nvSpPr>
        <p:spPr>
          <a:xfrm>
            <a:off x="278091" y="1481002"/>
            <a:ext cx="1234440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System Performance Analysis</a:t>
            </a:r>
          </a:p>
          <a:p>
            <a:pPr>
              <a:buNone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Accurate Detection: The system correctly detects hand landmarks in real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Exercise Classification: Different hand exercises are recognized by the trained ML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Real-Time Processing: The system processes video frames instantly without delay.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Reliable Performance: The system works consistently for different hand movements.</a:t>
            </a:r>
          </a:p>
        </p:txBody>
      </p:sp>
    </p:spTree>
    <p:extLst>
      <p:ext uri="{BB962C8B-B14F-4D97-AF65-F5344CB8AC3E}">
        <p14:creationId xmlns:p14="http://schemas.microsoft.com/office/powerpoint/2010/main" val="1725175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74A14-B385-AA6F-385E-54CAE3B5A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4A7010D7-3835-2759-235F-DEE050A431D8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F16F1B0C-8799-A1D5-C0BF-55CD5659AB7E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68C27FB6-4551-1A29-C79A-E7324CBF6DC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6ABD3487-6C92-A43F-FDC7-A966D2A83DD8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B102B1AD-E8BA-EC4E-F23F-B9DE01C9995E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CAF85899-6EBC-2B18-8008-CA2E46B69A5F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E5EC6F7-8CD5-EDC6-16E6-0A6A150DFF23}"/>
              </a:ext>
            </a:extLst>
          </p:cNvPr>
          <p:cNvSpPr txBox="1"/>
          <p:nvPr/>
        </p:nvSpPr>
        <p:spPr>
          <a:xfrm>
            <a:off x="4501296" y="273377"/>
            <a:ext cx="76907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Arial Black" panose="020B0A04020102020204" pitchFamily="34" charset="0"/>
              </a:rPr>
              <a:t>Interpretation</a:t>
            </a:r>
            <a:endParaRPr lang="en-IN" sz="40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778108-A4B1-C112-0061-13C00B31C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8BBE1A-FF1F-8ED1-C936-E57275F31528}"/>
              </a:ext>
            </a:extLst>
          </p:cNvPr>
          <p:cNvSpPr txBox="1"/>
          <p:nvPr/>
        </p:nvSpPr>
        <p:spPr>
          <a:xfrm>
            <a:off x="202676" y="1390356"/>
            <a:ext cx="1184478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Performance Interpretation</a:t>
            </a:r>
            <a:r>
              <a:rPr lang="en-US" sz="2400" b="1" dirty="0"/>
              <a:t>: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Random Forest achieved the best performance due to its ability to handle high-dimensional landmark data (42 features)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Ensemble learning improves robustness and reduces overfitting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The model effectively captures spatial relationships of hand landmarks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Real-time prediction is possible due to efficient feature representation </a:t>
            </a: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IN" sz="2400" b="1" dirty="0"/>
              <a:t>Insights &amp; Observations</a:t>
            </a:r>
            <a:r>
              <a:rPr lang="en-US" sz="2400" b="1" dirty="0"/>
              <a:t>: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System performs consistently across predefined gestures with minimal delay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Accuracy depends on lighting conditions and hand visibility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Misclassification may occur for similar gestures (e.g., flexion vs finger flexion)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Model generalizes well due to balanced dataset (100 images per class) </a:t>
            </a:r>
          </a:p>
          <a:p>
            <a:pPr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8936629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86AD-224E-627D-2626-9E63C8956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0F9D3B04-DECB-7BAF-99F8-3DDCC09F714F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10F7BD4D-6603-EB1E-4463-601AF13C7F31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65AE9FA7-3CEA-BE59-B10B-8AA93509B9C2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9842511B-F1B8-A583-A133-F71A68B81A64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3141C092-414A-7E9A-C13F-EB104D27A66B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7904A71F-97A3-617B-FC19-8721CA23E5FB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3081B1F-F9BE-80D0-4BBE-CACFCD2EE2B8}"/>
              </a:ext>
            </a:extLst>
          </p:cNvPr>
          <p:cNvSpPr txBox="1"/>
          <p:nvPr/>
        </p:nvSpPr>
        <p:spPr>
          <a:xfrm>
            <a:off x="4501296" y="273377"/>
            <a:ext cx="76907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Arial Black" panose="020B0A04020102020204" pitchFamily="34" charset="0"/>
              </a:rPr>
              <a:t>Hardware Implementation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E48344-62FD-95AC-57AF-02F24F00F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E14C46-E32F-80BF-6612-54D13D1C7F91}"/>
              </a:ext>
            </a:extLst>
          </p:cNvPr>
          <p:cNvSpPr txBox="1"/>
          <p:nvPr/>
        </p:nvSpPr>
        <p:spPr>
          <a:xfrm>
            <a:off x="186180" y="1436743"/>
            <a:ext cx="557359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Components &amp; Uses:</a:t>
            </a:r>
          </a:p>
          <a:p>
            <a:endParaRPr lang="en-IN" sz="2400" dirty="0"/>
          </a:p>
          <a:p>
            <a:r>
              <a:rPr lang="en-US" sz="2000" b="1" dirty="0"/>
              <a:t>1. Arduino Uno: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Acts as the main microcontroller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Controls data flow and connected devices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Interfaces with display and communication modules </a:t>
            </a:r>
          </a:p>
          <a:p>
            <a:endParaRPr lang="en-US" sz="2000" dirty="0"/>
          </a:p>
          <a:p>
            <a:r>
              <a:rPr lang="en-US" sz="2000" b="1" dirty="0"/>
              <a:t>2. ESP8266 Wi-Fi Module: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Enables wireless communication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Sends data to Blynk / external applications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Supports real-time feedback </a:t>
            </a:r>
            <a:br>
              <a:rPr lang="en-US" sz="2000" dirty="0"/>
            </a:br>
            <a:endParaRPr lang="en-US" sz="2000" dirty="0"/>
          </a:p>
          <a:p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58E0F-F6F8-3DEF-9308-8A32906C7004}"/>
              </a:ext>
            </a:extLst>
          </p:cNvPr>
          <p:cNvSpPr txBox="1"/>
          <p:nvPr/>
        </p:nvSpPr>
        <p:spPr>
          <a:xfrm>
            <a:off x="6306532" y="2243579"/>
            <a:ext cx="566551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3. OLED Display (I2C):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Displays detected hand exercises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Provides instant visual feedback to the user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Compact and low power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4. SD Card Module: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Used for storing system data and final reports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Enables offline data logging for later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Provides reliable and portable storage 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674534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B3162-AEA1-B1AC-8C2B-D7707BF74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E0195BAE-E10F-7205-90B4-45CA19094711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D1A9A27A-F20D-3FFF-4386-22FAF1BE8B2D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F2F152FF-0929-9195-3778-C21ABA232B79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06F9828C-7148-AC95-C4D7-1E56082B666C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A2BC1E28-781F-66EB-E3FA-4ADC19E8A2C2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B65C6681-6FFC-69BA-F7E9-702A43A2D5C6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EC0DE92-285D-EBF7-40A6-4C518765A227}"/>
              </a:ext>
            </a:extLst>
          </p:cNvPr>
          <p:cNvSpPr txBox="1"/>
          <p:nvPr/>
        </p:nvSpPr>
        <p:spPr>
          <a:xfrm>
            <a:off x="4501296" y="273377"/>
            <a:ext cx="76907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Arial Black" panose="020B0A04020102020204" pitchFamily="34" charset="0"/>
              </a:rPr>
              <a:t>Hardware Implementation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9B8ECA-D9D3-3F06-D970-9520C9B34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38ED6A-D4C7-A022-F9E8-91CD95742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71" y="1722272"/>
            <a:ext cx="5041960" cy="35309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F8907D-996B-9C9E-E43C-A91EC8C42F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7" t="7864" r="4461" b="647"/>
          <a:stretch>
            <a:fillRect/>
          </a:stretch>
        </p:blipFill>
        <p:spPr>
          <a:xfrm rot="16200000">
            <a:off x="7192203" y="707458"/>
            <a:ext cx="3516201" cy="55703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7A84B70-A4B4-B2AA-7668-8740A95203E4}"/>
              </a:ext>
            </a:extLst>
          </p:cNvPr>
          <p:cNvSpPr txBox="1"/>
          <p:nvPr/>
        </p:nvSpPr>
        <p:spPr>
          <a:xfrm>
            <a:off x="659875" y="5370624"/>
            <a:ext cx="109068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From circuit design simulation to real-time hardware implementation of the rehabilitation feedback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29211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EFD26-5859-A63F-9067-4FD8290C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4C3D6B72-A17D-AB25-0850-E6674AF66296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EF7F5FBC-B084-EA84-10FD-BADEEF3121BE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E9FBFFA4-3389-B7C6-2FAC-EA764099ADBE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0595BD34-693D-10E7-154C-0758EAAC9729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71D6454C-E19C-42F7-D8B6-E1FF01CC2D0C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B08375AD-0A8B-6BEE-D513-214957F33BF6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4012B36-60A6-F65E-83D0-6532463A3190}"/>
              </a:ext>
            </a:extLst>
          </p:cNvPr>
          <p:cNvSpPr txBox="1"/>
          <p:nvPr/>
        </p:nvSpPr>
        <p:spPr>
          <a:xfrm>
            <a:off x="4501296" y="273377"/>
            <a:ext cx="76907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Arial Black" panose="020B0A04020102020204" pitchFamily="34" charset="0"/>
              </a:rPr>
              <a:t>Custom UI Creation </a:t>
            </a:r>
            <a:endParaRPr lang="en-IN" sz="40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DB193D-294B-B579-3AE0-9EDAE605B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0A38BB-68B5-A86E-9D51-6E7B0679E849}"/>
              </a:ext>
            </a:extLst>
          </p:cNvPr>
          <p:cNvSpPr txBox="1"/>
          <p:nvPr/>
        </p:nvSpPr>
        <p:spPr>
          <a:xfrm>
            <a:off x="0" y="1370756"/>
            <a:ext cx="1305612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Custom UI Design:</a:t>
            </a:r>
          </a:p>
          <a:p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Displays live camera feed with hand tracking and current exercise/phase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Includes timer and progress bar for tracking phase duration and workout completion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Shows system status (Idle / Running / Paused / Stopped) clearly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Provides live score and feedback message display for user performance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Offers interactive control buttons: Start, Pause, Resume, and Finish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897212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4A257-8F36-181B-CFF3-42C3E9D4C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91A37AE4-836D-8CF3-E315-CDEDE338E3AD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C2334356-DAFD-0ABC-1848-D88916804980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A657BD4A-1A9C-6B22-76FA-28B2203B08E5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19A7C0BE-1B6E-8D2A-97EA-D84C0AA74F5D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811A1219-CA12-8905-CE28-A4DD5094B689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9C990BBB-0C62-D155-91BB-447AC998EBEF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9BA4622-F339-92BF-6521-B4E9178FA170}"/>
              </a:ext>
            </a:extLst>
          </p:cNvPr>
          <p:cNvSpPr txBox="1"/>
          <p:nvPr/>
        </p:nvSpPr>
        <p:spPr>
          <a:xfrm>
            <a:off x="4501296" y="273377"/>
            <a:ext cx="76907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Arial Black" panose="020B0A04020102020204" pitchFamily="34" charset="0"/>
              </a:rPr>
              <a:t>Custom UI Creation </a:t>
            </a:r>
            <a:endParaRPr lang="en-IN" sz="40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D19EBE-71FC-CA37-7AB0-BA82348DA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54CC68-BDE5-7D0D-9FC4-0C25B5C40C16}"/>
              </a:ext>
            </a:extLst>
          </p:cNvPr>
          <p:cNvSpPr txBox="1"/>
          <p:nvPr/>
        </p:nvSpPr>
        <p:spPr>
          <a:xfrm>
            <a:off x="0" y="1370756"/>
            <a:ext cx="130561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0AE69B-D392-5AF6-6202-68DAAF9BD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094" y="1448749"/>
            <a:ext cx="8776159" cy="45184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EF5A27-1F10-8209-7333-F635A56CA2ED}"/>
              </a:ext>
            </a:extLst>
          </p:cNvPr>
          <p:cNvSpPr txBox="1"/>
          <p:nvPr/>
        </p:nvSpPr>
        <p:spPr>
          <a:xfrm>
            <a:off x="2055043" y="6049354"/>
            <a:ext cx="96506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unified interface that simplifies exercise guidance, monitoring, and user interaction.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74829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14E5A-DEA2-C473-7F1F-29CB175B2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2BF7BCF6-DD2C-5ADA-0BF1-D76F8716350A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B3F0C623-DF8D-175E-40FA-25DEC9FD567A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751D25ED-F94A-B4ED-64B4-78CB5CEA1CB6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2F93ABB4-0BD1-3B25-E6DE-DA9E47014519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B9880A82-10B5-8980-1B36-878993386D75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B471B09B-55D4-9EC7-5C26-F94BDB3C90B4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44C377D-34C5-539D-A20A-1386C3278AD4}"/>
              </a:ext>
            </a:extLst>
          </p:cNvPr>
          <p:cNvSpPr txBox="1"/>
          <p:nvPr/>
        </p:nvSpPr>
        <p:spPr>
          <a:xfrm>
            <a:off x="4407028" y="75414"/>
            <a:ext cx="76907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Arial Black" panose="020B0A04020102020204" pitchFamily="34" charset="0"/>
              </a:rPr>
              <a:t>Real-Time Inference &amp; Feedback</a:t>
            </a:r>
            <a:endParaRPr lang="en-IN" sz="40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D671BB-72EA-6018-526A-4346E7118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8ED22F0-992D-BB7F-5CBE-B5BC0654615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8658" y="1302000"/>
            <a:ext cx="12113342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/>
              <a:t>Real-Time Control, Feedback, and Performance Monitoring: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custom UI integrates workout control logic and gives real-time feedback, displaying live video feed with hand landmark detection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Processes model predictions, evaluates user performance instantly, and provides real-time feedback messages (Perfect Form, Wrong Phase, etc.)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Calculates and displays live accuracy score dynamically while managing workout flow including exercise phases and rest periods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Includes interactive controls (Start, Pause, Resume, Finish) and automatically stops or pauses when no hand is detected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Generates final report with exercise-wise and overall accuracy and sends feedback to hardware (Arduino &amp; SD card module) and IoT platform (Blynk) </a:t>
            </a:r>
          </a:p>
        </p:txBody>
      </p:sp>
    </p:spTree>
    <p:extLst>
      <p:ext uri="{BB962C8B-B14F-4D97-AF65-F5344CB8AC3E}">
        <p14:creationId xmlns:p14="http://schemas.microsoft.com/office/powerpoint/2010/main" val="5228198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08714-5182-95BD-AA78-1CA260B17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CF728FE2-CC12-6ED4-5084-F022B9042543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EA5F11CC-C631-0B27-2039-8C26BFC265EF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C8F6CFD1-8F9A-19AE-18A1-88DD43541B4A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2A0B4657-3A0F-63E0-0B79-5E52B3202864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722381AB-B37D-1800-F499-CEC5C839A75D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2C250A40-D09A-8F9F-E1C1-EB4089C9C00F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84132A8-47C2-9E45-E5FC-C5AAEC38BF88}"/>
              </a:ext>
            </a:extLst>
          </p:cNvPr>
          <p:cNvSpPr txBox="1"/>
          <p:nvPr/>
        </p:nvSpPr>
        <p:spPr>
          <a:xfrm>
            <a:off x="4407028" y="75414"/>
            <a:ext cx="76907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Arial Black" panose="020B0A04020102020204" pitchFamily="34" charset="0"/>
              </a:rPr>
              <a:t>Real-Time Inference &amp; Feedback</a:t>
            </a:r>
            <a:endParaRPr lang="en-IN" sz="40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C783E2-0EA7-E196-D5C9-26A82735E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B0373D-3C48-ECEF-3B94-4B19A9A450E6}"/>
              </a:ext>
            </a:extLst>
          </p:cNvPr>
          <p:cNvSpPr txBox="1"/>
          <p:nvPr/>
        </p:nvSpPr>
        <p:spPr>
          <a:xfrm>
            <a:off x="1112361" y="5314063"/>
            <a:ext cx="5618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Real-time feedback through the UI helps users correct and optimize their movements instantly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700AEB-5467-2892-69DD-E83452049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35" y="1516335"/>
            <a:ext cx="7123565" cy="37343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209A29-ECED-AEE4-4449-82F99A4E3E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79"/>
          <a:stretch>
            <a:fillRect/>
          </a:stretch>
        </p:blipFill>
        <p:spPr>
          <a:xfrm>
            <a:off x="8630714" y="1508288"/>
            <a:ext cx="2292943" cy="38461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08B006-D86A-7DBE-A3E4-2EF037F40382}"/>
              </a:ext>
            </a:extLst>
          </p:cNvPr>
          <p:cNvSpPr txBox="1"/>
          <p:nvPr/>
        </p:nvSpPr>
        <p:spPr>
          <a:xfrm>
            <a:off x="8539113" y="5417759"/>
            <a:ext cx="36528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effectLst/>
              </a:rPr>
              <a:t>Real-time rehabilitation performance, monitored and accessible </a:t>
            </a:r>
            <a:r>
              <a:rPr lang="en-US" dirty="0"/>
              <a:t>on Blynk</a:t>
            </a:r>
            <a:r>
              <a:rPr lang="en-US" i="0" dirty="0">
                <a:effectLst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25331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C079B-A4C2-1940-DD56-9A3328346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2D2076BF-EC97-E8FE-64C5-C33F025E7B43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0D2F4850-321F-485E-3694-C18E42B10C06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EBDFB93B-CB2C-491C-975C-BC61881CCCE6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A5EF810F-1AF7-F11C-33B6-BC4F27E933EF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713AC92A-3D0C-C89A-E1E1-34D1DECC53B5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1E60B5B4-C604-3F2E-E9F1-A61802326CFE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0C61B82-CCA1-587A-4C4F-5165DE99FE2F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rial Black" panose="020B0A04020102020204" pitchFamily="34" charset="0"/>
              </a:rPr>
              <a:t>Conclusion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6EF383-AB34-6F94-A816-6DDAB3297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7727F4A-37F4-9900-014D-CA9572039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363" y="1378278"/>
            <a:ext cx="988243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Successfully developed a vision-based hand rehabilitation system</a:t>
            </a:r>
            <a:endParaRPr lang="en-US" altLang="en-US" sz="20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Achieved accurate recognition of 14 hand exercises phases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Provides real-time instruction and feedback using ML and computer vision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/>
              <a:t>The System stores final report in SD card as offline logging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Eliminates need for wearable devices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System is suitable for low-cost home-based rehabilitation </a:t>
            </a:r>
          </a:p>
        </p:txBody>
      </p:sp>
    </p:spTree>
    <p:extLst>
      <p:ext uri="{BB962C8B-B14F-4D97-AF65-F5344CB8AC3E}">
        <p14:creationId xmlns:p14="http://schemas.microsoft.com/office/powerpoint/2010/main" val="31814958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CDF5E-2811-0A6C-E894-CBB3E5468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C3FB82BD-9978-4C23-407D-53D852280CE5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DBED95E3-B594-9BC5-3DCC-2E4CBC448D2D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A5FCB5A4-F4FD-92EF-EEF7-26AD1F82AEA1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6ADACC57-D551-7D82-EBBB-110E73D056A9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F8A90D04-21D8-A2F7-4461-2B0C72279302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83343FA0-760E-53C2-6C8A-F98585B9AD55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E1A5654-80B3-A882-476A-A7FA4150CB73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anose="020B0A04020102020204" pitchFamily="34" charset="0"/>
              </a:rPr>
              <a:t>References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C961BF6-F2F9-EA01-69A2-67C341CDD10A}"/>
              </a:ext>
            </a:extLst>
          </p:cNvPr>
          <p:cNvSpPr txBox="1"/>
          <p:nvPr/>
        </p:nvSpPr>
        <p:spPr>
          <a:xfrm>
            <a:off x="319405" y="1408925"/>
            <a:ext cx="11286872" cy="2848216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000" dirty="0"/>
              <a:t>D. Pani, G. Barabino, A. </a:t>
            </a:r>
            <a:r>
              <a:rPr lang="en-IN" sz="2000" dirty="0" err="1"/>
              <a:t>Dessì</a:t>
            </a:r>
            <a:r>
              <a:rPr lang="en-IN" sz="2000" dirty="0"/>
              <a:t>, IEEE Journal of Biomedical and Health Informatics, Nov. 2015.</a:t>
            </a:r>
            <a:r>
              <a:rPr lang="it-IT" sz="2000" dirty="0">
                <a:solidFill>
                  <a:schemeClr val="dk1"/>
                </a:solidFill>
              </a:rPr>
              <a:t> </a:t>
            </a:r>
            <a:r>
              <a:rPr lang="en-IN" sz="2000" u="none" strike="noStrike" baseline="0" dirty="0"/>
              <a:t>“</a:t>
            </a:r>
            <a:r>
              <a:rPr lang="en-US" sz="2000" dirty="0">
                <a:solidFill>
                  <a:schemeClr val="dk1"/>
                </a:solidFill>
              </a:rPr>
              <a:t>A Device for Local or Remote Monitoring of Hand </a:t>
            </a:r>
            <a:r>
              <a:rPr lang="en-IN" sz="2000" dirty="0">
                <a:solidFill>
                  <a:schemeClr val="dk1"/>
                </a:solidFill>
              </a:rPr>
              <a:t>Rehabilitation Sessions for Rheumatic Patients</a:t>
            </a:r>
            <a:r>
              <a:rPr lang="en-IN" sz="2000" u="none" strike="noStrike" baseline="0" dirty="0"/>
              <a:t>”. </a:t>
            </a:r>
            <a:r>
              <a:rPr lang="en-IN" sz="2000" dirty="0"/>
              <a:t>DOI: 10.1109/JTEHM.2014.2299274</a:t>
            </a:r>
            <a:endParaRPr lang="en-IN" sz="2000" u="none" strike="noStrike" baseline="0" dirty="0"/>
          </a:p>
          <a:p>
            <a:pPr marL="457200" indent="-457200" algn="l">
              <a:buFont typeface="+mj-lt"/>
              <a:buAutoNum type="arabicPeriod"/>
            </a:pPr>
            <a:endParaRPr lang="en-IN" sz="2000" dirty="0">
              <a:cs typeface="Arial MT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N" sz="2000" u="none" strike="noStrike" baseline="0" dirty="0" err="1"/>
              <a:t>Xiaoshi</a:t>
            </a:r>
            <a:r>
              <a:rPr lang="en-IN" sz="2000" u="none" strike="noStrike" baseline="0" dirty="0"/>
              <a:t> Chen, Li Gong, Liang Wei, Shih-Ching Yeh, Li Da Xu, Lirong Zheng. “A Wearable Hand Rehabilitation System With Soft Gloves”. DOI:10.1109/TII.2020.3010369</a:t>
            </a:r>
          </a:p>
          <a:p>
            <a:pPr marL="457200" indent="-457200" algn="l">
              <a:buFont typeface="+mj-lt"/>
              <a:buAutoNum type="arabicPeriod"/>
            </a:pPr>
            <a:endParaRPr lang="en-IN" sz="2000" dirty="0">
              <a:solidFill>
                <a:srgbClr val="2E062E"/>
              </a:solidFill>
              <a:latin typeface="Helvetica" panose="020B0604020202020204" pitchFamily="34" charset="0"/>
              <a:cs typeface="Arial M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P. Kadiyala, International Research Journal of Engineering and Technology (IRJET),Jul. 2021                        </a:t>
            </a:r>
            <a:r>
              <a:rPr lang="es-ES" sz="2000" i="0" u="none" strike="noStrike" baseline="0" dirty="0"/>
              <a:t>“</a:t>
            </a:r>
            <a:r>
              <a:rPr lang="en-US" sz="2000" dirty="0"/>
              <a:t>Sign language detection</a:t>
            </a:r>
            <a:r>
              <a:rPr lang="en-IN" sz="2000" i="0" u="none" strike="noStrike" baseline="0" dirty="0"/>
              <a:t>”. </a:t>
            </a:r>
            <a:endParaRPr lang="en-IN" sz="2000" dirty="0">
              <a:latin typeface="Arial MT"/>
              <a:cs typeface="Arial M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96335C-A3A5-BADF-F288-B5F3742C9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6368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F9B85-6676-0A73-529B-D1DBD2AA6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9B326F57-A6CB-CAC3-FD79-D808A89A0402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951C09D1-E7E1-E3C1-681F-651F192980EE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0D49D1A0-BB80-0185-F2C5-5BE058B35747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893BFF00-49DC-640E-E255-51E693235EC7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3C012500-A0C0-33D7-DE88-198C1435742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8F3E302D-6A43-C0F1-C93A-0370CBB5788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>
            <a:extLst>
              <a:ext uri="{FF2B5EF4-FFF2-40B4-BE49-F238E27FC236}">
                <a16:creationId xmlns:a16="http://schemas.microsoft.com/office/drawing/2014/main" id="{554F605C-2CEA-C0E0-94A6-9231BBE9BD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63770" y="3065233"/>
            <a:ext cx="362608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Arial Black" panose="020B0A04020102020204" pitchFamily="34" charset="0"/>
              </a:rPr>
              <a:t>Thank</a:t>
            </a:r>
            <a:r>
              <a:rPr b="1" spc="-200" dirty="0">
                <a:latin typeface="Arial Black" panose="020B0A04020102020204" pitchFamily="34" charset="0"/>
              </a:rPr>
              <a:t> </a:t>
            </a:r>
            <a:r>
              <a:rPr b="1" spc="-60" dirty="0">
                <a:latin typeface="Arial Black" panose="020B0A04020102020204" pitchFamily="34" charset="0"/>
              </a:rPr>
              <a:t>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7481A8-1958-B30A-55BB-C82C55954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724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2958</TotalTime>
  <Words>1761</Words>
  <Application>Microsoft Office PowerPoint</Application>
  <PresentationFormat>Widescreen</PresentationFormat>
  <Paragraphs>327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Arial Black</vt:lpstr>
      <vt:lpstr>Arial MT</vt:lpstr>
      <vt:lpstr>Calibri</vt:lpstr>
      <vt:lpstr>Calibri Light</vt:lpstr>
      <vt:lpstr>Garet</vt:lpstr>
      <vt:lpstr>Garet Bold</vt:lpstr>
      <vt:lpstr>Helvetica</vt:lpstr>
      <vt:lpstr>Office Theme</vt:lpstr>
      <vt:lpstr>PowerPoint Presentation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BALAJI MUTHUKUMAR</dc:creator>
  <cp:lastModifiedBy>BALAJI MUTHUKUMAR</cp:lastModifiedBy>
  <cp:revision>42</cp:revision>
  <dcterms:created xsi:type="dcterms:W3CDTF">2025-03-04T17:03:01Z</dcterms:created>
  <dcterms:modified xsi:type="dcterms:W3CDTF">2026-04-27T16:48:33Z</dcterms:modified>
</cp:coreProperties>
</file>