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72" r:id="rId9"/>
    <p:sldId id="27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0" autoAdjust="0"/>
  </p:normalViewPr>
  <p:slideViewPr>
    <p:cSldViewPr snapToGrid="0">
      <p:cViewPr varScale="1">
        <p:scale>
          <a:sx n="50" d="100"/>
          <a:sy n="50" d="100"/>
        </p:scale>
        <p:origin x="922" y="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122667-FDE9-47ED-B124-1706BBD27374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EE7BA8-EC30-4AF1-BDE3-AE80ED968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329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BE0F6-7776-B4CA-13E0-0A69C6247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D40ED-7D56-472F-1805-B3D6A7B11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4CB3C-D984-B5D9-F17E-53769DAEB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5D0D8-7BBD-3F17-A822-D78DB64D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20D75-95E0-AB8F-8DD3-C9A5912A5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979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95A3B-8C5E-3D53-3BDA-53818E794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FD038-433E-1E4F-0D49-2A5ABF1FD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E7E90-1033-797B-DA94-B2E287C9F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F6E0B-7296-73B7-3A34-52B8BA3B1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F7F70-6596-E040-F1AF-FB0425F6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78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F476F-880A-E893-328A-D5D10DB88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1163D-6609-AAD4-F50F-5EFB2DA3F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C9BAA-C93E-968B-7C4C-38B075771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49133-FE48-F485-E9A8-E46385982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EC092-6FEA-914E-A2EE-49CD942AD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158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EFB1-B2FB-8958-B5D3-F57B6095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D860B-A5B6-3276-D8D2-1E214CA60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A2DBC-D358-A5FA-2321-C0C3874DA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5C039-FCF9-CD6C-725C-A880EA66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F3C69-ADC8-92D0-9263-71F40D67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15134-B753-2B10-0DBA-DDA02383B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154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D8C44-AFAD-9FCE-EBBF-B9411F3A7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C4A5E-7FD3-A51A-BE13-20B1CD262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D306E-C16F-4C5C-2DE5-EF66A5B8D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7DEC6-3A7C-9EE1-6F1D-056E813CAF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27A17-C352-48E6-5FE3-23EB058547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F596E4-106F-A2CA-B73D-240AFA7A8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27FD92-416A-699A-71A7-5728E5162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7FA0E-CE43-162D-CFB2-A6B368D93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61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E4B73-C557-DE8D-427C-9A76B628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1F1383-85BA-09A7-2640-88830DC46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18FE2-5AF7-922B-30D6-1EF940D6C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70055-3685-CAEE-AA19-32592FDA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493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5C27F9-49A8-C6EC-8943-2F81BA9A7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0D147-4A2A-67A7-1ACE-7DAC066A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9E682-9055-263F-62D9-BDBD79ED1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116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BEE3D-27DB-7A38-BC7B-D94E951BD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2AC24-C980-6365-BE04-FD2B1D66F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D6465-82E2-B7F6-395C-02932ABBB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64A35-B078-5B26-2EB4-5530F5ED0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8D121-92B6-536A-2315-68EE7FFBB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7BF60-7DAB-9094-79FB-38563DEB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145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54DE1-D608-FCB4-E049-D71CD7379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211727-B8AB-CFFD-3E86-FB540B7EE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21C95-EE24-717F-165D-B3776538B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696EE-D05F-0B8F-ECF1-9F574AFDA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023A6-6B96-12E9-B8D1-A68A3A381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21E5C-4E80-0D0E-F859-BB5D9E9B3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220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69667-275C-3965-2EB1-F75123EC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6F717-79A7-68D0-44D8-646BE11AB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6E270-D539-53E2-642B-0E53A3AAA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604A3-65BB-DF34-3E01-3BA28783D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49ED8-5119-1B11-A441-E183BF1D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877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9CD538-A54F-5ADF-5879-26A232396D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14407C-6CA7-D5BD-5B47-5570AF862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A35CF-A144-E988-6A48-1E95C7B04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6545-D21C-459C-AC30-16BCAE01A88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86F57-2CA7-4D44-0A4B-FABFAF1FF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23D22-53A1-9F5C-7BA2-CA9316FE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160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3505EE-B2D1-92DE-EA00-CFE22C2C4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1B819-4E0E-DADB-DBC7-645778BED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E3CDD-A62D-30BF-E4FC-56BE2D49C5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A6545-D21C-459C-AC30-16BCAE01A88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CB36C-5305-E006-A3BE-B3C93B746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F7CB6-4516-96CA-126C-F2490F1C9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2F03D-ED38-47BB-8FD5-40131C132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17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bject 3">
            <a:extLst>
              <a:ext uri="{FF2B5EF4-FFF2-40B4-BE49-F238E27FC236}">
                <a16:creationId xmlns:a16="http://schemas.microsoft.com/office/drawing/2014/main" id="{14382E05-6842-2243-562D-772C3987FBBB}"/>
              </a:ext>
            </a:extLst>
          </p:cNvPr>
          <p:cNvGrpSpPr/>
          <p:nvPr/>
        </p:nvGrpSpPr>
        <p:grpSpPr>
          <a:xfrm>
            <a:off x="0" y="2252185"/>
            <a:ext cx="12197080" cy="123825"/>
            <a:chOff x="0" y="828738"/>
            <a:chExt cx="12197080" cy="123825"/>
          </a:xfrm>
        </p:grpSpPr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65CF8F5E-4F85-A8ED-984F-D123FED4E967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B30DA8AB-FE78-AE2C-0A12-D61B04D45D2F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4620B63-F098-F9B9-529C-343875E39577}"/>
              </a:ext>
            </a:extLst>
          </p:cNvPr>
          <p:cNvSpPr txBox="1"/>
          <p:nvPr/>
        </p:nvSpPr>
        <p:spPr>
          <a:xfrm>
            <a:off x="207390" y="2476593"/>
            <a:ext cx="118400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Arial Black" panose="020B0A04020102020204" pitchFamily="34" charset="0"/>
              </a:rPr>
              <a:t>Vision-Based Hand Exercise Recognition and Feedback System for Rehabilitation</a:t>
            </a:r>
            <a:endParaRPr lang="en-IN" sz="2800" b="1" dirty="0"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ECB66A-F4A0-6582-62DF-93620173A8D5}"/>
              </a:ext>
            </a:extLst>
          </p:cNvPr>
          <p:cNvSpPr txBox="1"/>
          <p:nvPr/>
        </p:nvSpPr>
        <p:spPr>
          <a:xfrm>
            <a:off x="122549" y="2969443"/>
            <a:ext cx="11887200" cy="3839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2800" dirty="0"/>
          </a:p>
          <a:p>
            <a:pPr algn="ctr"/>
            <a:endParaRPr lang="en-IN" sz="2800" dirty="0"/>
          </a:p>
          <a:p>
            <a:pPr algn="ctr"/>
            <a:r>
              <a:rPr lang="en-IN" sz="2800" dirty="0"/>
              <a:t>Presented by </a:t>
            </a:r>
          </a:p>
          <a:p>
            <a:pPr algn="ctr"/>
            <a:r>
              <a:rPr lang="en-IN" sz="2800" b="1" dirty="0">
                <a:latin typeface="Arial Black" panose="020B0A04020102020204" pitchFamily="34" charset="0"/>
              </a:rPr>
              <a:t>Balaji M(126006058)</a:t>
            </a:r>
          </a:p>
          <a:p>
            <a:pPr algn="ctr"/>
            <a:endParaRPr lang="en-IN" sz="2800" b="1" dirty="0">
              <a:latin typeface="Arial Black" panose="020B0A04020102020204" pitchFamily="34" charset="0"/>
            </a:endParaRPr>
          </a:p>
          <a:p>
            <a:pPr algn="ctr"/>
            <a:r>
              <a:rPr lang="en-IN" sz="2800" dirty="0"/>
              <a:t>Project Guide</a:t>
            </a:r>
          </a:p>
          <a:p>
            <a:pPr marL="13335" algn="ctr">
              <a:lnSpc>
                <a:spcPts val="3000"/>
              </a:lnSpc>
            </a:pPr>
            <a:r>
              <a:rPr lang="en-US" sz="2800" b="1" dirty="0" err="1">
                <a:latin typeface="Arial"/>
                <a:cs typeface="Arial"/>
              </a:rPr>
              <a:t>Dr.</a:t>
            </a:r>
            <a:r>
              <a:rPr lang="en-US" sz="2800" b="1" spc="-20" dirty="0" err="1">
                <a:latin typeface="Arial"/>
                <a:cs typeface="Arial"/>
              </a:rPr>
              <a:t>Nirmala</a:t>
            </a:r>
            <a:r>
              <a:rPr lang="en-US" sz="2800" b="1" spc="-20" dirty="0">
                <a:latin typeface="Arial"/>
                <a:cs typeface="Arial"/>
              </a:rPr>
              <a:t> </a:t>
            </a:r>
            <a:r>
              <a:rPr lang="en-US" sz="2800" b="1" spc="-20" dirty="0" err="1">
                <a:latin typeface="Arial"/>
                <a:cs typeface="Arial"/>
              </a:rPr>
              <a:t>Jegadeesan</a:t>
            </a:r>
            <a:r>
              <a:rPr lang="en-US" sz="2800" b="1" spc="-20" dirty="0">
                <a:latin typeface="Arial"/>
                <a:cs typeface="Arial"/>
              </a:rPr>
              <a:t>, SEEE</a:t>
            </a:r>
            <a:endParaRPr lang="en-US" sz="2800" dirty="0">
              <a:latin typeface="Arial"/>
              <a:cs typeface="Arial"/>
            </a:endParaRPr>
          </a:p>
          <a:p>
            <a:pPr algn="ctr">
              <a:lnSpc>
                <a:spcPts val="2720"/>
              </a:lnSpc>
            </a:pPr>
            <a:r>
              <a:rPr lang="en-US" sz="2800" dirty="0">
                <a:latin typeface="Arial MT"/>
                <a:cs typeface="Arial MT"/>
              </a:rPr>
              <a:t>SASTRA</a:t>
            </a:r>
            <a:r>
              <a:rPr lang="en-US" sz="2800" spc="-8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Deemed</a:t>
            </a:r>
            <a:r>
              <a:rPr lang="en-US" sz="2800" spc="10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9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be</a:t>
            </a:r>
            <a:r>
              <a:rPr lang="en-US" sz="2800" spc="100" dirty="0">
                <a:latin typeface="Arial MT"/>
                <a:cs typeface="Arial MT"/>
              </a:rPr>
              <a:t> </a:t>
            </a:r>
            <a:r>
              <a:rPr lang="en-US" sz="2800" spc="-10" dirty="0">
                <a:latin typeface="Arial MT"/>
                <a:cs typeface="Arial MT"/>
              </a:rPr>
              <a:t>University</a:t>
            </a:r>
            <a:endParaRPr lang="en-US" sz="2800" dirty="0">
              <a:latin typeface="Arial MT"/>
              <a:cs typeface="Arial MT"/>
            </a:endParaRPr>
          </a:p>
          <a:p>
            <a:pPr algn="ctr"/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34F01C-C5FB-D695-2877-F2496741C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545" y="0"/>
            <a:ext cx="8305014" cy="222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85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1B83C-6BED-7382-4413-2DAE9464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636" y="82321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57A08-2C12-83B3-2726-308327924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Problem Statements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  <a:p>
            <a:r>
              <a:rPr lang="en-IN" sz="2800" dirty="0">
                <a:latin typeface="Arial"/>
                <a:cs typeface="Arial"/>
              </a:rPr>
              <a:t>Literature</a:t>
            </a:r>
            <a:r>
              <a:rPr lang="en-IN" sz="2800" b="1" spc="215" dirty="0">
                <a:latin typeface="Arial"/>
                <a:cs typeface="Arial"/>
              </a:rPr>
              <a:t> </a:t>
            </a:r>
            <a:r>
              <a:rPr lang="en-IN" sz="2800" spc="-10" dirty="0">
                <a:latin typeface="Arial"/>
                <a:cs typeface="Arial"/>
              </a:rPr>
              <a:t>Survey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Methodology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Exercise Selection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ea typeface="Times New Roman Bold"/>
              <a:cs typeface="Arial" panose="020B0604020202020204" pitchFamily="34" charset="0"/>
              <a:sym typeface="Times New Roman Bold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Future Work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ea typeface="Times New Roman Bold"/>
              <a:cs typeface="Arial" panose="020B0604020202020204" pitchFamily="34" charset="0"/>
              <a:sym typeface="Times New Roman Bold"/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DB4BCB49-CFF5-F28D-78A2-458E62853C9D}"/>
              </a:ext>
            </a:extLst>
          </p:cNvPr>
          <p:cNvGrpSpPr/>
          <p:nvPr/>
        </p:nvGrpSpPr>
        <p:grpSpPr>
          <a:xfrm>
            <a:off x="-5080" y="0"/>
            <a:ext cx="12197080" cy="123825"/>
            <a:chOff x="0" y="828738"/>
            <a:chExt cx="12197080" cy="123825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C31AACD9-8FE4-E8E5-6C4A-5C318F90138E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D162C2EF-0D70-BBB2-907F-FFC23929EF92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3">
            <a:extLst>
              <a:ext uri="{FF2B5EF4-FFF2-40B4-BE49-F238E27FC236}">
                <a16:creationId xmlns:a16="http://schemas.microsoft.com/office/drawing/2014/main" id="{0E12C6BA-8172-451C-8979-0C38C5D1356F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106729E8-21AF-EC8D-5D14-40805351E29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BDF36638-7933-D33B-D3B9-2C3BE1CB1C5F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C7B5024-7A8F-85D1-68F7-38ACC1C83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099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ED23F4B6-933D-F153-11F1-69CEBE555C84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1E7B41B5-81AA-45CD-0217-3CA0591BAD26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995BEEDF-AB7E-4635-A9C2-1821638B337D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CF1635C2-157F-1531-9653-1F95E7DE7241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1820B751-87AE-5CD4-B44D-00DC8A329695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BDC60279-D44C-69EF-A494-08941B15335A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0B9D1D0-5CBD-254A-9885-E134819E3701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Arial Black" panose="020B0A04020102020204" pitchFamily="34" charset="0"/>
              </a:rPr>
              <a:t>Problem Statements</a:t>
            </a:r>
            <a:endParaRPr lang="en-IN" sz="4400" dirty="0"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CE9C61D3-EFE2-EA53-4A06-D720C9E69E9F}"/>
              </a:ext>
            </a:extLst>
          </p:cNvPr>
          <p:cNvSpPr txBox="1"/>
          <p:nvPr/>
        </p:nvSpPr>
        <p:spPr>
          <a:xfrm>
            <a:off x="155723" y="1425020"/>
            <a:ext cx="11732262" cy="35150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84200" indent="-57150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r>
              <a:rPr lang="en-US" sz="2800" dirty="0"/>
              <a:t>Stroke patients with hand paralysis often lack continuous supervision during rehabilitation, making it difficult to ensure correct exercise performance.</a:t>
            </a:r>
          </a:p>
          <a:p>
            <a:pPr marL="584200" indent="-571500" algn="l" rtl="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endParaRPr lang="en-US" sz="2800" dirty="0"/>
          </a:p>
          <a:p>
            <a:pPr marL="584200" indent="-57150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r>
              <a:rPr lang="en-US" sz="2800" dirty="0"/>
              <a:t>Existing rehabilitation systems commonly rely on wearable sensors, which may be uncomfortable, expensive, or unsuitable for long-term home use.</a:t>
            </a:r>
          </a:p>
          <a:p>
            <a:pPr marL="584200" indent="-571500" algn="l" rtl="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endParaRPr lang="en-US" sz="2800" dirty="0"/>
          </a:p>
          <a:p>
            <a:pPr marL="584200" indent="-57150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r>
              <a:rPr lang="en-US" sz="2800" dirty="0"/>
              <a:t>There is a need for a low-cost, non-invasive system that can automatically recognize hand rehabilitation exercises and provide real-time feedback.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ED000C-CF7D-12FB-4354-63B6A2A2F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192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ED7CC-7B5A-ADED-C733-5BA2F982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062928BA-0B09-0010-0B3D-D631F472E3E5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4424E834-8362-8278-002C-668BC3C09B60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D1E29209-08E7-BC30-BB0F-1AB4C11FF175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467B7D3C-902D-D56C-190B-3C4DA11F77CD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832D33F2-5E02-237F-98C9-84A152E5EFEB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39DAA594-696A-49FD-DC37-830B599E4780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A7D7D77-B7A0-773E-FADB-FA40720CE6B4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Arial Black" panose="020B0A04020102020204" pitchFamily="34" charset="0"/>
              </a:rPr>
              <a:t>Objective</a:t>
            </a:r>
            <a:endParaRPr lang="en-IN" sz="4400" dirty="0"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C0E8A97A-6D04-DEC3-174A-0F06AA5523BB}"/>
              </a:ext>
            </a:extLst>
          </p:cNvPr>
          <p:cNvSpPr txBox="1"/>
          <p:nvPr/>
        </p:nvSpPr>
        <p:spPr>
          <a:xfrm>
            <a:off x="155723" y="1425020"/>
            <a:ext cx="11732262" cy="86049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84200" indent="-57150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endParaRPr lang="en-IN" sz="2800" b="1" dirty="0"/>
          </a:p>
          <a:p>
            <a:pPr marL="584200" indent="-571500" algn="l" rtl="0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5FBAE3-6200-32D4-FFE7-FE524F7A8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A83BB149-4241-4235-7540-D7BE52C26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255" y="1550564"/>
            <a:ext cx="1160439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Literature review – Study existing hand rehab and gesture systems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Exercise selection – Choose predefined hand exercises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capture – Collect hand exercise images using a camera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Recognition – Detect exercises in real time using live video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– Provide real-time hardware feedback </a:t>
            </a:r>
          </a:p>
        </p:txBody>
      </p:sp>
    </p:spTree>
    <p:extLst>
      <p:ext uri="{BB962C8B-B14F-4D97-AF65-F5344CB8AC3E}">
        <p14:creationId xmlns:p14="http://schemas.microsoft.com/office/powerpoint/2010/main" val="585956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83BD6-4995-D69E-8AF5-A591CC8C4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330AF756-BAAC-9C69-2CAF-CA896593B243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646BD34E-7FC5-B6BE-6FC8-1885E71B953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BC65759D-3EA7-E8C9-4B4E-2B9BBAC81703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704E0464-A50E-E78B-2BA2-7B3C58408D9C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E471EE69-00D1-9AEC-3533-6A2BF0CFAB7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90EA71CF-C2A1-6EEA-FE04-BFF763E98237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515B9C1-3AEF-EDBA-06C0-41F52806D9C6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Arial Black" panose="020B0A04020102020204" pitchFamily="34" charset="0"/>
              </a:rPr>
              <a:t>Literature Survey</a:t>
            </a:r>
            <a:endParaRPr lang="en-IN" sz="4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79172F-0C3F-A2D7-5D37-9C75AC59D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149196"/>
              </p:ext>
            </p:extLst>
          </p:nvPr>
        </p:nvGraphicFramePr>
        <p:xfrm>
          <a:off x="540727" y="1450130"/>
          <a:ext cx="11167107" cy="5136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369">
                  <a:extLst>
                    <a:ext uri="{9D8B030D-6E8A-4147-A177-3AD203B41FA5}">
                      <a16:colId xmlns:a16="http://schemas.microsoft.com/office/drawing/2014/main" val="741973221"/>
                    </a:ext>
                  </a:extLst>
                </a:gridCol>
                <a:gridCol w="3722369">
                  <a:extLst>
                    <a:ext uri="{9D8B030D-6E8A-4147-A177-3AD203B41FA5}">
                      <a16:colId xmlns:a16="http://schemas.microsoft.com/office/drawing/2014/main" val="2461659747"/>
                    </a:ext>
                  </a:extLst>
                </a:gridCol>
                <a:gridCol w="3722369">
                  <a:extLst>
                    <a:ext uri="{9D8B030D-6E8A-4147-A177-3AD203B41FA5}">
                      <a16:colId xmlns:a16="http://schemas.microsoft.com/office/drawing/2014/main" val="2994232230"/>
                    </a:ext>
                  </a:extLst>
                </a:gridCol>
              </a:tblGrid>
              <a:tr h="218136">
                <a:tc>
                  <a:txBody>
                    <a:bodyPr/>
                    <a:lstStyle/>
                    <a:p>
                      <a:r>
                        <a:rPr lang="en-IN" sz="2000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Improvements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697499"/>
                  </a:ext>
                </a:extLst>
              </a:tr>
              <a:tr h="2088595"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Device for Local or Remote Monitoring of Hand</a:t>
                      </a:r>
                    </a:p>
                    <a:p>
                      <a:r>
                        <a:rPr lang="en-I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Rehabilitation Sessions for Rheumatic Patients</a:t>
                      </a:r>
                    </a:p>
                    <a:p>
                      <a:r>
                        <a:rPr lang="en-IN" b="0" i="0" dirty="0"/>
                        <a:t>D. Pani, G. Barabino, A. </a:t>
                      </a:r>
                      <a:r>
                        <a:rPr lang="en-IN" b="0" i="0" dirty="0" err="1"/>
                        <a:t>Dessì</a:t>
                      </a:r>
                      <a:r>
                        <a:rPr lang="en-IN" b="0" i="0" dirty="0"/>
                        <a:t>, IEEE Journal of Biomedical and Health Informatics, Nov. 2015.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Focused on static gestures, limited classes, no rehabilitation feedback, and constrained real-time adaptability.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 Extended to dynamic hand exercises with real-time recognition and hardware-based feedback for rehabilitation support.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072323"/>
                  </a:ext>
                </a:extLst>
              </a:tr>
              <a:tr h="1399328">
                <a:tc>
                  <a:txBody>
                    <a:bodyPr/>
                    <a:lstStyle/>
                    <a:p>
                      <a:r>
                        <a:rPr lang="en-IN" sz="1800" b="1" dirty="0"/>
                        <a:t>Wearable Hand Rehabilitation System With Soft Gloves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i="0" dirty="0"/>
                        <a:t>X. Chen, L. Gong, L. Wei, S.-C. Yeh,</a:t>
                      </a:r>
                      <a:br>
                        <a:rPr lang="en-IN" b="0" i="0" dirty="0"/>
                      </a:br>
                      <a:r>
                        <a:rPr lang="en-IN" b="0" i="0" dirty="0"/>
                        <a:t>IEEE Transactions on Industrial Informatics, Feb. 2021.</a:t>
                      </a:r>
                      <a:endParaRPr lang="en-US" sz="18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The glove doesn’t support many rehab tasks, and we don’t know if it works well long-term. Adding more therapy features and better real-time changes can help more patients.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Adding more exercises to help with different hand movements and recovery. Testing the glove for a longer time to see how well it works.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446779"/>
                  </a:ext>
                </a:extLst>
              </a:tr>
              <a:tr h="904249">
                <a:tc>
                  <a:txBody>
                    <a:bodyPr/>
                    <a:lstStyle/>
                    <a:p>
                      <a:r>
                        <a:rPr lang="en-US" b="1" dirty="0"/>
                        <a:t>Sign language detection</a:t>
                      </a:r>
                    </a:p>
                    <a:p>
                      <a:r>
                        <a:rPr lang="en-US" dirty="0"/>
                        <a:t>P</a:t>
                      </a:r>
                      <a:r>
                        <a:rPr lang="en-US" i="0" dirty="0"/>
                        <a:t>. Kadiyala, International Research Journal of Engineering and Technology (IRJET),</a:t>
                      </a:r>
                      <a:r>
                        <a:rPr lang="en-US" b="0" i="0" dirty="0"/>
                        <a:t>Jul. 2021.</a:t>
                      </a:r>
                      <a:endParaRPr lang="en-IN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Limited to static sign recognition for communication, lacks real-time monitoring, rehabilitation focus, exercise evaluation, and hardware-based feedback.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Supports real-time hand rehabilitation exercise recognition, continuous monitoring, and integrates hardware-based visual or auditory feedback for effective therapy.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0865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85CF207-FE7D-24AA-3FEE-B6271225D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96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7E4B6-01CE-2C9E-0477-53A140997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246A967B-4A6C-B71C-84F1-52918CF115FD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0D107270-6E47-99B4-95DB-3051DA64E115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B33943C9-DBCA-2F9B-0CE4-3B868A7E9192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97DDDA6B-4974-CA19-0211-2660D42E932F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00797473-E15B-048E-FBA1-BAFC9984E960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AC360F44-1F18-3182-898D-2AB81E2695B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054C501-2A59-D585-2C8D-DF9D906ED513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ea typeface="Times New Roman Bold"/>
                <a:cs typeface="Arial" panose="020B0604020202020204" pitchFamily="34" charset="0"/>
                <a:sym typeface="Times New Roman Bold"/>
              </a:rPr>
              <a:t>Methodology</a:t>
            </a:r>
            <a:endParaRPr lang="en-IN" sz="4400" b="1" dirty="0">
              <a:latin typeface="Arial Black" panose="020B0A04020102020204" pitchFamily="34" charset="0"/>
            </a:endParaRPr>
          </a:p>
        </p:txBody>
      </p:sp>
      <p:grpSp>
        <p:nvGrpSpPr>
          <p:cNvPr id="187" name="Group 10">
            <a:extLst>
              <a:ext uri="{FF2B5EF4-FFF2-40B4-BE49-F238E27FC236}">
                <a16:creationId xmlns:a16="http://schemas.microsoft.com/office/drawing/2014/main" id="{9C60596C-C55D-F068-8874-77829A1E5424}"/>
              </a:ext>
            </a:extLst>
          </p:cNvPr>
          <p:cNvGrpSpPr/>
          <p:nvPr/>
        </p:nvGrpSpPr>
        <p:grpSpPr>
          <a:xfrm>
            <a:off x="9159998" y="1476077"/>
            <a:ext cx="1917117" cy="933179"/>
            <a:chOff x="0" y="0"/>
            <a:chExt cx="812800" cy="441477"/>
          </a:xfrm>
        </p:grpSpPr>
        <p:sp>
          <p:nvSpPr>
            <p:cNvPr id="188" name="Freeform 11">
              <a:extLst>
                <a:ext uri="{FF2B5EF4-FFF2-40B4-BE49-F238E27FC236}">
                  <a16:creationId xmlns:a16="http://schemas.microsoft.com/office/drawing/2014/main" id="{1E6AF394-5A12-DB11-1A99-AD8010BE968B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2D3546"/>
            </a:solidFill>
            <a:ln cap="sq">
              <a:noFill/>
              <a:prstDash val="solid"/>
              <a:miter/>
            </a:ln>
          </p:spPr>
        </p:sp>
        <p:sp>
          <p:nvSpPr>
            <p:cNvPr id="189" name="TextBox 12">
              <a:extLst>
                <a:ext uri="{FF2B5EF4-FFF2-40B4-BE49-F238E27FC236}">
                  <a16:creationId xmlns:a16="http://schemas.microsoft.com/office/drawing/2014/main" id="{B6C50CDE-3DE0-C7EB-3C09-432AF3F377FE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grpSp>
        <p:nvGrpSpPr>
          <p:cNvPr id="190" name="Group 13">
            <a:extLst>
              <a:ext uri="{FF2B5EF4-FFF2-40B4-BE49-F238E27FC236}">
                <a16:creationId xmlns:a16="http://schemas.microsoft.com/office/drawing/2014/main" id="{902A7327-948D-01DC-00CE-D7E252672A5A}"/>
              </a:ext>
            </a:extLst>
          </p:cNvPr>
          <p:cNvGrpSpPr/>
          <p:nvPr/>
        </p:nvGrpSpPr>
        <p:grpSpPr>
          <a:xfrm>
            <a:off x="10040547" y="1291544"/>
            <a:ext cx="323455" cy="289872"/>
            <a:chOff x="0" y="0"/>
            <a:chExt cx="812800" cy="812800"/>
          </a:xfrm>
        </p:grpSpPr>
        <p:sp>
          <p:nvSpPr>
            <p:cNvPr id="191" name="Freeform 14">
              <a:extLst>
                <a:ext uri="{FF2B5EF4-FFF2-40B4-BE49-F238E27FC236}">
                  <a16:creationId xmlns:a16="http://schemas.microsoft.com/office/drawing/2014/main" id="{7C0E2E18-000F-7D47-CE0E-EDF901F392A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593F"/>
            </a:solidFill>
            <a:ln cap="sq">
              <a:noFill/>
              <a:prstDash val="solid"/>
              <a:miter/>
            </a:ln>
          </p:spPr>
        </p:sp>
        <p:sp>
          <p:nvSpPr>
            <p:cNvPr id="192" name="TextBox 15">
              <a:extLst>
                <a:ext uri="{FF2B5EF4-FFF2-40B4-BE49-F238E27FC236}">
                  <a16:creationId xmlns:a16="http://schemas.microsoft.com/office/drawing/2014/main" id="{BD97FAAE-4AFD-E543-0090-FBAC5C25BFCB}"/>
                </a:ext>
              </a:extLst>
            </p:cNvPr>
            <p:cNvSpPr txBox="1"/>
            <p:nvPr/>
          </p:nvSpPr>
          <p:spPr>
            <a:xfrm>
              <a:off x="76200" y="47626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</a:t>
              </a:r>
            </a:p>
          </p:txBody>
        </p:sp>
      </p:grpSp>
      <p:sp>
        <p:nvSpPr>
          <p:cNvPr id="193" name="TextBox 16">
            <a:extLst>
              <a:ext uri="{FF2B5EF4-FFF2-40B4-BE49-F238E27FC236}">
                <a16:creationId xmlns:a16="http://schemas.microsoft.com/office/drawing/2014/main" id="{B412E37A-3AEF-538E-2373-119CB862B684}"/>
              </a:ext>
            </a:extLst>
          </p:cNvPr>
          <p:cNvSpPr txBox="1"/>
          <p:nvPr/>
        </p:nvSpPr>
        <p:spPr>
          <a:xfrm>
            <a:off x="9480361" y="1757832"/>
            <a:ext cx="1321453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EAEAEC"/>
                </a:solidFill>
                <a:ea typeface="Garet"/>
                <a:cs typeface="Garet"/>
                <a:sym typeface="Garet"/>
              </a:rPr>
              <a:t>Literature Review</a:t>
            </a:r>
          </a:p>
        </p:txBody>
      </p:sp>
      <p:grpSp>
        <p:nvGrpSpPr>
          <p:cNvPr id="194" name="Group 17">
            <a:extLst>
              <a:ext uri="{FF2B5EF4-FFF2-40B4-BE49-F238E27FC236}">
                <a16:creationId xmlns:a16="http://schemas.microsoft.com/office/drawing/2014/main" id="{CB74373B-5F2B-7180-C681-78574D373D40}"/>
              </a:ext>
            </a:extLst>
          </p:cNvPr>
          <p:cNvGrpSpPr/>
          <p:nvPr/>
        </p:nvGrpSpPr>
        <p:grpSpPr>
          <a:xfrm>
            <a:off x="6428707" y="2374887"/>
            <a:ext cx="1917117" cy="933179"/>
            <a:chOff x="0" y="0"/>
            <a:chExt cx="812800" cy="441477"/>
          </a:xfrm>
        </p:grpSpPr>
        <p:sp>
          <p:nvSpPr>
            <p:cNvPr id="195" name="Freeform 18">
              <a:extLst>
                <a:ext uri="{FF2B5EF4-FFF2-40B4-BE49-F238E27FC236}">
                  <a16:creationId xmlns:a16="http://schemas.microsoft.com/office/drawing/2014/main" id="{45B83CAE-2CA3-1506-F037-C69F51DF9034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196" name="TextBox 19">
              <a:extLst>
                <a:ext uri="{FF2B5EF4-FFF2-40B4-BE49-F238E27FC236}">
                  <a16:creationId xmlns:a16="http://schemas.microsoft.com/office/drawing/2014/main" id="{03122B95-6535-2471-B483-AFAD1AA90ED2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00" name="TextBox 23">
            <a:extLst>
              <a:ext uri="{FF2B5EF4-FFF2-40B4-BE49-F238E27FC236}">
                <a16:creationId xmlns:a16="http://schemas.microsoft.com/office/drawing/2014/main" id="{13B1D844-479B-B345-C0B8-C5697C980326}"/>
              </a:ext>
            </a:extLst>
          </p:cNvPr>
          <p:cNvSpPr txBox="1"/>
          <p:nvPr/>
        </p:nvSpPr>
        <p:spPr>
          <a:xfrm>
            <a:off x="6693021" y="2566682"/>
            <a:ext cx="1321453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Exercise Selection</a:t>
            </a:r>
          </a:p>
        </p:txBody>
      </p:sp>
      <p:grpSp>
        <p:nvGrpSpPr>
          <p:cNvPr id="203" name="Group 26">
            <a:extLst>
              <a:ext uri="{FF2B5EF4-FFF2-40B4-BE49-F238E27FC236}">
                <a16:creationId xmlns:a16="http://schemas.microsoft.com/office/drawing/2014/main" id="{58EB053E-4793-51F3-9A21-1289EF23C4EC}"/>
              </a:ext>
            </a:extLst>
          </p:cNvPr>
          <p:cNvGrpSpPr/>
          <p:nvPr/>
        </p:nvGrpSpPr>
        <p:grpSpPr>
          <a:xfrm>
            <a:off x="3261169" y="2306699"/>
            <a:ext cx="1917117" cy="933179"/>
            <a:chOff x="0" y="0"/>
            <a:chExt cx="812800" cy="441477"/>
          </a:xfrm>
        </p:grpSpPr>
        <p:sp>
          <p:nvSpPr>
            <p:cNvPr id="204" name="Freeform 27">
              <a:extLst>
                <a:ext uri="{FF2B5EF4-FFF2-40B4-BE49-F238E27FC236}">
                  <a16:creationId xmlns:a16="http://schemas.microsoft.com/office/drawing/2014/main" id="{ACCB8EB9-FE4B-35B3-78FC-3872558B655E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05" name="TextBox 28">
              <a:extLst>
                <a:ext uri="{FF2B5EF4-FFF2-40B4-BE49-F238E27FC236}">
                  <a16:creationId xmlns:a16="http://schemas.microsoft.com/office/drawing/2014/main" id="{DB72860E-3034-392A-DDE6-ABABA02A8AEB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09" name="TextBox 32">
            <a:extLst>
              <a:ext uri="{FF2B5EF4-FFF2-40B4-BE49-F238E27FC236}">
                <a16:creationId xmlns:a16="http://schemas.microsoft.com/office/drawing/2014/main" id="{4839A923-AE6A-CB0D-C18E-607744B9FA12}"/>
              </a:ext>
            </a:extLst>
          </p:cNvPr>
          <p:cNvSpPr txBox="1"/>
          <p:nvPr/>
        </p:nvSpPr>
        <p:spPr>
          <a:xfrm>
            <a:off x="3431719" y="2566681"/>
            <a:ext cx="1593575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Data Acquisition</a:t>
            </a:r>
          </a:p>
        </p:txBody>
      </p:sp>
      <p:sp>
        <p:nvSpPr>
          <p:cNvPr id="210" name="AutoShape 33">
            <a:extLst>
              <a:ext uri="{FF2B5EF4-FFF2-40B4-BE49-F238E27FC236}">
                <a16:creationId xmlns:a16="http://schemas.microsoft.com/office/drawing/2014/main" id="{654CEA4F-B5DC-43B7-D4E1-7CE53009C9AC}"/>
              </a:ext>
            </a:extLst>
          </p:cNvPr>
          <p:cNvSpPr/>
          <p:nvPr/>
        </p:nvSpPr>
        <p:spPr>
          <a:xfrm flipV="1">
            <a:off x="1517715" y="4440023"/>
            <a:ext cx="1734531" cy="18854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211" name="Group 34">
            <a:extLst>
              <a:ext uri="{FF2B5EF4-FFF2-40B4-BE49-F238E27FC236}">
                <a16:creationId xmlns:a16="http://schemas.microsoft.com/office/drawing/2014/main" id="{BBE8DAA3-128A-7CF9-85D6-BC8C308007A8}"/>
              </a:ext>
            </a:extLst>
          </p:cNvPr>
          <p:cNvGrpSpPr/>
          <p:nvPr/>
        </p:nvGrpSpPr>
        <p:grpSpPr>
          <a:xfrm>
            <a:off x="9417601" y="3887412"/>
            <a:ext cx="1917117" cy="933179"/>
            <a:chOff x="0" y="0"/>
            <a:chExt cx="812800" cy="441477"/>
          </a:xfrm>
        </p:grpSpPr>
        <p:sp>
          <p:nvSpPr>
            <p:cNvPr id="212" name="Freeform 35">
              <a:extLst>
                <a:ext uri="{FF2B5EF4-FFF2-40B4-BE49-F238E27FC236}">
                  <a16:creationId xmlns:a16="http://schemas.microsoft.com/office/drawing/2014/main" id="{937867FF-997D-C110-B214-7E923934CBCB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13" name="TextBox 36">
              <a:extLst>
                <a:ext uri="{FF2B5EF4-FFF2-40B4-BE49-F238E27FC236}">
                  <a16:creationId xmlns:a16="http://schemas.microsoft.com/office/drawing/2014/main" id="{2CAE75E5-1C37-8FDC-C816-24625E6A90BB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grpSp>
        <p:nvGrpSpPr>
          <p:cNvPr id="220" name="Group 43">
            <a:extLst>
              <a:ext uri="{FF2B5EF4-FFF2-40B4-BE49-F238E27FC236}">
                <a16:creationId xmlns:a16="http://schemas.microsoft.com/office/drawing/2014/main" id="{3C8A8978-8D1B-6614-01CD-9FB756B8C656}"/>
              </a:ext>
            </a:extLst>
          </p:cNvPr>
          <p:cNvGrpSpPr/>
          <p:nvPr/>
        </p:nvGrpSpPr>
        <p:grpSpPr>
          <a:xfrm>
            <a:off x="6299793" y="3922185"/>
            <a:ext cx="1917117" cy="933179"/>
            <a:chOff x="0" y="0"/>
            <a:chExt cx="812800" cy="441477"/>
          </a:xfrm>
        </p:grpSpPr>
        <p:sp>
          <p:nvSpPr>
            <p:cNvPr id="221" name="Freeform 44">
              <a:extLst>
                <a:ext uri="{FF2B5EF4-FFF2-40B4-BE49-F238E27FC236}">
                  <a16:creationId xmlns:a16="http://schemas.microsoft.com/office/drawing/2014/main" id="{5D050BB5-E41E-A26C-A08E-BB1D84BD4599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22" name="TextBox 45">
              <a:extLst>
                <a:ext uri="{FF2B5EF4-FFF2-40B4-BE49-F238E27FC236}">
                  <a16:creationId xmlns:a16="http://schemas.microsoft.com/office/drawing/2014/main" id="{7F1FE8F4-0370-0686-92DF-7528AB99642C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grpSp>
        <p:nvGrpSpPr>
          <p:cNvPr id="227" name="Group 50">
            <a:extLst>
              <a:ext uri="{FF2B5EF4-FFF2-40B4-BE49-F238E27FC236}">
                <a16:creationId xmlns:a16="http://schemas.microsoft.com/office/drawing/2014/main" id="{6F9B0E50-66FD-BEAF-3C2C-3F5A0D1CFF54}"/>
              </a:ext>
            </a:extLst>
          </p:cNvPr>
          <p:cNvGrpSpPr/>
          <p:nvPr/>
        </p:nvGrpSpPr>
        <p:grpSpPr>
          <a:xfrm>
            <a:off x="285726" y="2316126"/>
            <a:ext cx="1917117" cy="933179"/>
            <a:chOff x="0" y="0"/>
            <a:chExt cx="812800" cy="441477"/>
          </a:xfrm>
        </p:grpSpPr>
        <p:sp>
          <p:nvSpPr>
            <p:cNvPr id="228" name="Freeform 51">
              <a:extLst>
                <a:ext uri="{FF2B5EF4-FFF2-40B4-BE49-F238E27FC236}">
                  <a16:creationId xmlns:a16="http://schemas.microsoft.com/office/drawing/2014/main" id="{B42287DD-15DE-2706-E822-CD09301B41C2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29" name="TextBox 52">
              <a:extLst>
                <a:ext uri="{FF2B5EF4-FFF2-40B4-BE49-F238E27FC236}">
                  <a16:creationId xmlns:a16="http://schemas.microsoft.com/office/drawing/2014/main" id="{E7928DC3-B444-DC70-BC29-22ADCAA7FF6D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33" name="TextBox 56">
            <a:extLst>
              <a:ext uri="{FF2B5EF4-FFF2-40B4-BE49-F238E27FC236}">
                <a16:creationId xmlns:a16="http://schemas.microsoft.com/office/drawing/2014/main" id="{A5AB84D6-694C-C9B0-4C28-C11D3C971B56}"/>
              </a:ext>
            </a:extLst>
          </p:cNvPr>
          <p:cNvSpPr txBox="1"/>
          <p:nvPr/>
        </p:nvSpPr>
        <p:spPr>
          <a:xfrm>
            <a:off x="6641238" y="4125183"/>
            <a:ext cx="1135877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Model Training</a:t>
            </a:r>
          </a:p>
        </p:txBody>
      </p:sp>
      <p:grpSp>
        <p:nvGrpSpPr>
          <p:cNvPr id="235" name="Group 58">
            <a:extLst>
              <a:ext uri="{FF2B5EF4-FFF2-40B4-BE49-F238E27FC236}">
                <a16:creationId xmlns:a16="http://schemas.microsoft.com/office/drawing/2014/main" id="{7C430413-3015-9466-E747-C99D12181131}"/>
              </a:ext>
            </a:extLst>
          </p:cNvPr>
          <p:cNvGrpSpPr/>
          <p:nvPr/>
        </p:nvGrpSpPr>
        <p:grpSpPr>
          <a:xfrm>
            <a:off x="3230571" y="3916322"/>
            <a:ext cx="1917117" cy="933179"/>
            <a:chOff x="0" y="0"/>
            <a:chExt cx="812800" cy="441477"/>
          </a:xfrm>
        </p:grpSpPr>
        <p:sp>
          <p:nvSpPr>
            <p:cNvPr id="236" name="Freeform 59">
              <a:extLst>
                <a:ext uri="{FF2B5EF4-FFF2-40B4-BE49-F238E27FC236}">
                  <a16:creationId xmlns:a16="http://schemas.microsoft.com/office/drawing/2014/main" id="{3DF6908F-DACF-95B5-DC7C-7CF8EFA951E7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37" name="TextBox 60">
              <a:extLst>
                <a:ext uri="{FF2B5EF4-FFF2-40B4-BE49-F238E27FC236}">
                  <a16:creationId xmlns:a16="http://schemas.microsoft.com/office/drawing/2014/main" id="{E4FAAC35-7879-E3E7-27DA-A32CC4844115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45" name="AutoShape 68">
            <a:extLst>
              <a:ext uri="{FF2B5EF4-FFF2-40B4-BE49-F238E27FC236}">
                <a16:creationId xmlns:a16="http://schemas.microsoft.com/office/drawing/2014/main" id="{1E816F33-DBE3-4993-B21C-47EC53B4870D}"/>
              </a:ext>
            </a:extLst>
          </p:cNvPr>
          <p:cNvSpPr/>
          <p:nvPr/>
        </p:nvSpPr>
        <p:spPr>
          <a:xfrm flipH="1">
            <a:off x="8851769" y="6099142"/>
            <a:ext cx="1470581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46" name="AutoShape 69">
            <a:extLst>
              <a:ext uri="{FF2B5EF4-FFF2-40B4-BE49-F238E27FC236}">
                <a16:creationId xmlns:a16="http://schemas.microsoft.com/office/drawing/2014/main" id="{543DD604-1176-27CF-9EE6-BB86303C111E}"/>
              </a:ext>
            </a:extLst>
          </p:cNvPr>
          <p:cNvSpPr/>
          <p:nvPr/>
        </p:nvSpPr>
        <p:spPr>
          <a:xfrm flipH="1">
            <a:off x="5637229" y="6070861"/>
            <a:ext cx="1282045" cy="942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56" name="Group 79">
            <a:extLst>
              <a:ext uri="{FF2B5EF4-FFF2-40B4-BE49-F238E27FC236}">
                <a16:creationId xmlns:a16="http://schemas.microsoft.com/office/drawing/2014/main" id="{BCD04BFD-E98D-CF69-5F0A-7DE4FD880BD7}"/>
              </a:ext>
            </a:extLst>
          </p:cNvPr>
          <p:cNvGrpSpPr/>
          <p:nvPr/>
        </p:nvGrpSpPr>
        <p:grpSpPr>
          <a:xfrm>
            <a:off x="3725854" y="5625904"/>
            <a:ext cx="1917117" cy="933179"/>
            <a:chOff x="0" y="0"/>
            <a:chExt cx="812800" cy="441477"/>
          </a:xfrm>
        </p:grpSpPr>
        <p:sp>
          <p:nvSpPr>
            <p:cNvPr id="257" name="Freeform 80">
              <a:extLst>
                <a:ext uri="{FF2B5EF4-FFF2-40B4-BE49-F238E27FC236}">
                  <a16:creationId xmlns:a16="http://schemas.microsoft.com/office/drawing/2014/main" id="{C46E1C80-86AC-999A-EB1C-81FFBC46CD10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2D3546"/>
            </a:solidFill>
            <a:ln cap="sq">
              <a:noFill/>
              <a:prstDash val="solid"/>
              <a:miter/>
            </a:ln>
          </p:spPr>
        </p:sp>
        <p:sp>
          <p:nvSpPr>
            <p:cNvPr id="258" name="TextBox 81">
              <a:extLst>
                <a:ext uri="{FF2B5EF4-FFF2-40B4-BE49-F238E27FC236}">
                  <a16:creationId xmlns:a16="http://schemas.microsoft.com/office/drawing/2014/main" id="{521550DC-8859-98B3-5BBF-22824B09E64B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62" name="TextBox 85">
            <a:extLst>
              <a:ext uri="{FF2B5EF4-FFF2-40B4-BE49-F238E27FC236}">
                <a16:creationId xmlns:a16="http://schemas.microsoft.com/office/drawing/2014/main" id="{1CFC31D1-725D-2718-2732-D95F4F2F08E1}"/>
              </a:ext>
            </a:extLst>
          </p:cNvPr>
          <p:cNvSpPr txBox="1"/>
          <p:nvPr/>
        </p:nvSpPr>
        <p:spPr>
          <a:xfrm>
            <a:off x="6316190" y="4882990"/>
            <a:ext cx="397461" cy="37160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9</a:t>
            </a:r>
          </a:p>
        </p:txBody>
      </p:sp>
      <p:grpSp>
        <p:nvGrpSpPr>
          <p:cNvPr id="267" name="Group 13">
            <a:extLst>
              <a:ext uri="{FF2B5EF4-FFF2-40B4-BE49-F238E27FC236}">
                <a16:creationId xmlns:a16="http://schemas.microsoft.com/office/drawing/2014/main" id="{8251DF8B-8BB4-B412-A985-565D83C63294}"/>
              </a:ext>
            </a:extLst>
          </p:cNvPr>
          <p:cNvGrpSpPr/>
          <p:nvPr/>
        </p:nvGrpSpPr>
        <p:grpSpPr>
          <a:xfrm>
            <a:off x="7239634" y="2176932"/>
            <a:ext cx="323455" cy="289872"/>
            <a:chOff x="0" y="0"/>
            <a:chExt cx="812800" cy="812800"/>
          </a:xfrm>
        </p:grpSpPr>
        <p:sp>
          <p:nvSpPr>
            <p:cNvPr id="268" name="Freeform 14">
              <a:extLst>
                <a:ext uri="{FF2B5EF4-FFF2-40B4-BE49-F238E27FC236}">
                  <a16:creationId xmlns:a16="http://schemas.microsoft.com/office/drawing/2014/main" id="{ECE79B12-1033-9B34-1C16-073E2E2ACDF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593F"/>
            </a:solidFill>
            <a:ln cap="sq">
              <a:noFill/>
              <a:prstDash val="solid"/>
              <a:miter/>
            </a:ln>
          </p:spPr>
        </p:sp>
        <p:sp>
          <p:nvSpPr>
            <p:cNvPr id="269" name="TextBox 15">
              <a:extLst>
                <a:ext uri="{FF2B5EF4-FFF2-40B4-BE49-F238E27FC236}">
                  <a16:creationId xmlns:a16="http://schemas.microsoft.com/office/drawing/2014/main" id="{EEF891A1-75FA-E439-9713-E1CD0C3E983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</a:t>
              </a:r>
            </a:p>
          </p:txBody>
        </p:sp>
      </p:grpSp>
      <p:grpSp>
        <p:nvGrpSpPr>
          <p:cNvPr id="270" name="Group 13">
            <a:extLst>
              <a:ext uri="{FF2B5EF4-FFF2-40B4-BE49-F238E27FC236}">
                <a16:creationId xmlns:a16="http://schemas.microsoft.com/office/drawing/2014/main" id="{13BF66E2-82C4-35A1-AB82-4A977B85D31D}"/>
              </a:ext>
            </a:extLst>
          </p:cNvPr>
          <p:cNvGrpSpPr/>
          <p:nvPr/>
        </p:nvGrpSpPr>
        <p:grpSpPr>
          <a:xfrm>
            <a:off x="4094225" y="2109478"/>
            <a:ext cx="323455" cy="289872"/>
            <a:chOff x="0" y="0"/>
            <a:chExt cx="812800" cy="812800"/>
          </a:xfrm>
        </p:grpSpPr>
        <p:sp>
          <p:nvSpPr>
            <p:cNvPr id="271" name="Freeform 14">
              <a:extLst>
                <a:ext uri="{FF2B5EF4-FFF2-40B4-BE49-F238E27FC236}">
                  <a16:creationId xmlns:a16="http://schemas.microsoft.com/office/drawing/2014/main" id="{58312829-8E57-435B-8765-93ECEBE3304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593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72" name="TextBox 15">
              <a:extLst>
                <a:ext uri="{FF2B5EF4-FFF2-40B4-BE49-F238E27FC236}">
                  <a16:creationId xmlns:a16="http://schemas.microsoft.com/office/drawing/2014/main" id="{3CBE3C92-EC6E-E79E-F081-07B520F8B20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</a:t>
              </a:r>
            </a:p>
          </p:txBody>
        </p:sp>
      </p:grpSp>
      <p:sp>
        <p:nvSpPr>
          <p:cNvPr id="285" name="Freeform 14">
            <a:extLst>
              <a:ext uri="{FF2B5EF4-FFF2-40B4-BE49-F238E27FC236}">
                <a16:creationId xmlns:a16="http://schemas.microsoft.com/office/drawing/2014/main" id="{91095752-4F20-CD34-1762-5323FEAB70E0}"/>
              </a:ext>
            </a:extLst>
          </p:cNvPr>
          <p:cNvSpPr/>
          <p:nvPr/>
        </p:nvSpPr>
        <p:spPr>
          <a:xfrm>
            <a:off x="1090843" y="2139225"/>
            <a:ext cx="323455" cy="289872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2593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4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FD6890BD-B2C0-7892-80E7-B052230AABCA}"/>
              </a:ext>
            </a:extLst>
          </p:cNvPr>
          <p:cNvSpPr txBox="1"/>
          <p:nvPr/>
        </p:nvSpPr>
        <p:spPr>
          <a:xfrm>
            <a:off x="384848" y="2519115"/>
            <a:ext cx="1755036" cy="406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Data Organization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489495E5-6F52-F47E-257E-83950A275CF3}"/>
              </a:ext>
            </a:extLst>
          </p:cNvPr>
          <p:cNvSpPr txBox="1"/>
          <p:nvPr/>
        </p:nvSpPr>
        <p:spPr>
          <a:xfrm>
            <a:off x="3125955" y="4098524"/>
            <a:ext cx="2011654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Feature Normalization</a:t>
            </a:r>
          </a:p>
        </p:txBody>
      </p:sp>
      <p:grpSp>
        <p:nvGrpSpPr>
          <p:cNvPr id="292" name="Group 53">
            <a:extLst>
              <a:ext uri="{FF2B5EF4-FFF2-40B4-BE49-F238E27FC236}">
                <a16:creationId xmlns:a16="http://schemas.microsoft.com/office/drawing/2014/main" id="{2E8AD037-2D17-A7AC-8AB6-901ED2B3B425}"/>
              </a:ext>
            </a:extLst>
          </p:cNvPr>
          <p:cNvGrpSpPr/>
          <p:nvPr/>
        </p:nvGrpSpPr>
        <p:grpSpPr>
          <a:xfrm>
            <a:off x="4046682" y="3772512"/>
            <a:ext cx="356893" cy="292537"/>
            <a:chOff x="0" y="0"/>
            <a:chExt cx="812800" cy="812800"/>
          </a:xfrm>
        </p:grpSpPr>
        <p:sp>
          <p:nvSpPr>
            <p:cNvPr id="293" name="Freeform 54">
              <a:extLst>
                <a:ext uri="{FF2B5EF4-FFF2-40B4-BE49-F238E27FC236}">
                  <a16:creationId xmlns:a16="http://schemas.microsoft.com/office/drawing/2014/main" id="{218FEE69-E3F8-86A6-DF52-DE97AE611C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593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4" name="TextBox 55">
              <a:extLst>
                <a:ext uri="{FF2B5EF4-FFF2-40B4-BE49-F238E27FC236}">
                  <a16:creationId xmlns:a16="http://schemas.microsoft.com/office/drawing/2014/main" id="{6D7C1131-5ED4-6F9C-2B51-ED537BF6013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5</a:t>
              </a:r>
            </a:p>
          </p:txBody>
        </p:sp>
      </p:grpSp>
      <p:sp>
        <p:nvSpPr>
          <p:cNvPr id="295" name="AutoShape 68">
            <a:extLst>
              <a:ext uri="{FF2B5EF4-FFF2-40B4-BE49-F238E27FC236}">
                <a16:creationId xmlns:a16="http://schemas.microsoft.com/office/drawing/2014/main" id="{E0BE2A08-EA20-EBE5-E8A1-87AD67C4F66B}"/>
              </a:ext>
            </a:extLst>
          </p:cNvPr>
          <p:cNvSpPr/>
          <p:nvPr/>
        </p:nvSpPr>
        <p:spPr>
          <a:xfrm flipV="1">
            <a:off x="8220171" y="4355183"/>
            <a:ext cx="1216059" cy="18853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99" name="Freeform 54">
            <a:extLst>
              <a:ext uri="{FF2B5EF4-FFF2-40B4-BE49-F238E27FC236}">
                <a16:creationId xmlns:a16="http://schemas.microsoft.com/office/drawing/2014/main" id="{188DBEC5-54C4-510D-E6F3-6DDA5AD7B456}"/>
              </a:ext>
            </a:extLst>
          </p:cNvPr>
          <p:cNvSpPr/>
          <p:nvPr/>
        </p:nvSpPr>
        <p:spPr>
          <a:xfrm>
            <a:off x="7023143" y="3737735"/>
            <a:ext cx="356893" cy="29253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2593F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300" name="TextBox 15">
            <a:extLst>
              <a:ext uri="{FF2B5EF4-FFF2-40B4-BE49-F238E27FC236}">
                <a16:creationId xmlns:a16="http://schemas.microsoft.com/office/drawing/2014/main" id="{FEFE6DAE-6EB0-A3F1-D860-8EF19912F016}"/>
              </a:ext>
            </a:extLst>
          </p:cNvPr>
          <p:cNvSpPr txBox="1"/>
          <p:nvPr/>
        </p:nvSpPr>
        <p:spPr>
          <a:xfrm>
            <a:off x="7061312" y="3739283"/>
            <a:ext cx="262807" cy="24571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6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D7F6604-C91D-60C6-3A11-02E5D6FA32AE}"/>
              </a:ext>
            </a:extLst>
          </p:cNvPr>
          <p:cNvSpPr txBox="1"/>
          <p:nvPr/>
        </p:nvSpPr>
        <p:spPr>
          <a:xfrm>
            <a:off x="9390170" y="4107322"/>
            <a:ext cx="1968500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Performance Evaluation</a:t>
            </a:r>
          </a:p>
        </p:txBody>
      </p:sp>
      <p:sp>
        <p:nvSpPr>
          <p:cNvPr id="306" name="Freeform 14">
            <a:extLst>
              <a:ext uri="{FF2B5EF4-FFF2-40B4-BE49-F238E27FC236}">
                <a16:creationId xmlns:a16="http://schemas.microsoft.com/office/drawing/2014/main" id="{F938DB89-6FAE-F598-9FC8-37EEEFD11245}"/>
              </a:ext>
            </a:extLst>
          </p:cNvPr>
          <p:cNvSpPr/>
          <p:nvPr/>
        </p:nvSpPr>
        <p:spPr>
          <a:xfrm>
            <a:off x="10204049" y="3687525"/>
            <a:ext cx="323455" cy="289872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2593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</a:p>
        </p:txBody>
      </p:sp>
      <p:grpSp>
        <p:nvGrpSpPr>
          <p:cNvPr id="307" name="Group 34">
            <a:extLst>
              <a:ext uri="{FF2B5EF4-FFF2-40B4-BE49-F238E27FC236}">
                <a16:creationId xmlns:a16="http://schemas.microsoft.com/office/drawing/2014/main" id="{4D3B4282-602F-0FDD-9254-CEFEF6CF439E}"/>
              </a:ext>
            </a:extLst>
          </p:cNvPr>
          <p:cNvGrpSpPr/>
          <p:nvPr/>
        </p:nvGrpSpPr>
        <p:grpSpPr>
          <a:xfrm>
            <a:off x="6935838" y="5640797"/>
            <a:ext cx="1917117" cy="933179"/>
            <a:chOff x="0" y="0"/>
            <a:chExt cx="812800" cy="441477"/>
          </a:xfrm>
        </p:grpSpPr>
        <p:sp>
          <p:nvSpPr>
            <p:cNvPr id="308" name="Freeform 35">
              <a:extLst>
                <a:ext uri="{FF2B5EF4-FFF2-40B4-BE49-F238E27FC236}">
                  <a16:creationId xmlns:a16="http://schemas.microsoft.com/office/drawing/2014/main" id="{8EE78F98-1A56-BBE2-875F-7805E09CEE98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09" name="TextBox 36">
              <a:extLst>
                <a:ext uri="{FF2B5EF4-FFF2-40B4-BE49-F238E27FC236}">
                  <a16:creationId xmlns:a16="http://schemas.microsoft.com/office/drawing/2014/main" id="{B11E177C-B995-893E-D2A8-82B406620B22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310" name="AutoShape 68">
            <a:extLst>
              <a:ext uri="{FF2B5EF4-FFF2-40B4-BE49-F238E27FC236}">
                <a16:creationId xmlns:a16="http://schemas.microsoft.com/office/drawing/2014/main" id="{6E19DC40-0B03-AF1E-9343-4F7AD73D6CBB}"/>
              </a:ext>
            </a:extLst>
          </p:cNvPr>
          <p:cNvSpPr/>
          <p:nvPr/>
        </p:nvSpPr>
        <p:spPr>
          <a:xfrm>
            <a:off x="5128180" y="4355184"/>
            <a:ext cx="1206632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15" name="Freeform 54">
            <a:extLst>
              <a:ext uri="{FF2B5EF4-FFF2-40B4-BE49-F238E27FC236}">
                <a16:creationId xmlns:a16="http://schemas.microsoft.com/office/drawing/2014/main" id="{A7AC4685-04BA-7196-9E5F-3BB175E571C8}"/>
              </a:ext>
            </a:extLst>
          </p:cNvPr>
          <p:cNvSpPr/>
          <p:nvPr/>
        </p:nvSpPr>
        <p:spPr>
          <a:xfrm>
            <a:off x="7643321" y="5486827"/>
            <a:ext cx="377213" cy="31285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2593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8</a:t>
            </a:r>
          </a:p>
        </p:txBody>
      </p:sp>
      <p:sp>
        <p:nvSpPr>
          <p:cNvPr id="339" name="Freeform 54">
            <a:extLst>
              <a:ext uri="{FF2B5EF4-FFF2-40B4-BE49-F238E27FC236}">
                <a16:creationId xmlns:a16="http://schemas.microsoft.com/office/drawing/2014/main" id="{84ECCDBA-072F-280A-122B-17D8605086B2}"/>
              </a:ext>
            </a:extLst>
          </p:cNvPr>
          <p:cNvSpPr/>
          <p:nvPr/>
        </p:nvSpPr>
        <p:spPr>
          <a:xfrm>
            <a:off x="4496340" y="5441264"/>
            <a:ext cx="377213" cy="31285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2593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B0D57F-47F2-08EC-B201-0E3D14BE4C07}"/>
              </a:ext>
            </a:extLst>
          </p:cNvPr>
          <p:cNvSpPr txBox="1"/>
          <p:nvPr/>
        </p:nvSpPr>
        <p:spPr>
          <a:xfrm>
            <a:off x="6893637" y="5796292"/>
            <a:ext cx="1939277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Real-Time Inference</a:t>
            </a:r>
          </a:p>
        </p:txBody>
      </p:sp>
      <p:sp>
        <p:nvSpPr>
          <p:cNvPr id="4" name="TextBox 82">
            <a:extLst>
              <a:ext uri="{FF2B5EF4-FFF2-40B4-BE49-F238E27FC236}">
                <a16:creationId xmlns:a16="http://schemas.microsoft.com/office/drawing/2014/main" id="{0465D387-E213-21DA-F5DC-6745B4BDD7D1}"/>
              </a:ext>
            </a:extLst>
          </p:cNvPr>
          <p:cNvSpPr txBox="1"/>
          <p:nvPr/>
        </p:nvSpPr>
        <p:spPr>
          <a:xfrm>
            <a:off x="3729371" y="5869222"/>
            <a:ext cx="1814122" cy="307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ea typeface="Garet"/>
                <a:cs typeface="Garet"/>
                <a:sym typeface="Garet"/>
              </a:rPr>
              <a:t>Final Prototype</a:t>
            </a:r>
          </a:p>
        </p:txBody>
      </p:sp>
      <p:sp>
        <p:nvSpPr>
          <p:cNvPr id="5" name="AutoShape 25">
            <a:extLst>
              <a:ext uri="{FF2B5EF4-FFF2-40B4-BE49-F238E27FC236}">
                <a16:creationId xmlns:a16="http://schemas.microsoft.com/office/drawing/2014/main" id="{601A04B9-EA09-6D21-C65B-8C47E678392D}"/>
              </a:ext>
            </a:extLst>
          </p:cNvPr>
          <p:cNvSpPr/>
          <p:nvPr/>
        </p:nvSpPr>
        <p:spPr>
          <a:xfrm flipV="1">
            <a:off x="10331777" y="4826524"/>
            <a:ext cx="1" cy="1263191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25">
            <a:extLst>
              <a:ext uri="{FF2B5EF4-FFF2-40B4-BE49-F238E27FC236}">
                <a16:creationId xmlns:a16="http://schemas.microsoft.com/office/drawing/2014/main" id="{DB7600A0-03F4-F4DA-DB38-27A921052B11}"/>
              </a:ext>
            </a:extLst>
          </p:cNvPr>
          <p:cNvSpPr/>
          <p:nvPr/>
        </p:nvSpPr>
        <p:spPr>
          <a:xfrm flipH="1" flipV="1">
            <a:off x="1508288" y="3261673"/>
            <a:ext cx="9425" cy="118777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69">
            <a:extLst>
              <a:ext uri="{FF2B5EF4-FFF2-40B4-BE49-F238E27FC236}">
                <a16:creationId xmlns:a16="http://schemas.microsoft.com/office/drawing/2014/main" id="{64AC2E42-F2A5-6B39-A16F-EBC26AAB0A61}"/>
              </a:ext>
            </a:extLst>
          </p:cNvPr>
          <p:cNvSpPr/>
          <p:nvPr/>
        </p:nvSpPr>
        <p:spPr>
          <a:xfrm flipH="1">
            <a:off x="5148606" y="2773051"/>
            <a:ext cx="1282045" cy="942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9" name="AutoShape 69">
            <a:extLst>
              <a:ext uri="{FF2B5EF4-FFF2-40B4-BE49-F238E27FC236}">
                <a16:creationId xmlns:a16="http://schemas.microsoft.com/office/drawing/2014/main" id="{0F2F11A2-5CFE-F10E-B438-24BEB787B54A}"/>
              </a:ext>
            </a:extLst>
          </p:cNvPr>
          <p:cNvSpPr/>
          <p:nvPr/>
        </p:nvSpPr>
        <p:spPr>
          <a:xfrm flipH="1">
            <a:off x="2169735" y="2790334"/>
            <a:ext cx="1101365" cy="1099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0" name="AutoShape 25">
            <a:extLst>
              <a:ext uri="{FF2B5EF4-FFF2-40B4-BE49-F238E27FC236}">
                <a16:creationId xmlns:a16="http://schemas.microsoft.com/office/drawing/2014/main" id="{04A47ECB-D0F2-B85F-6A02-4B8E61FDCE5F}"/>
              </a:ext>
            </a:extLst>
          </p:cNvPr>
          <p:cNvSpPr/>
          <p:nvPr/>
        </p:nvSpPr>
        <p:spPr>
          <a:xfrm flipV="1">
            <a:off x="10077255" y="2395979"/>
            <a:ext cx="10998" cy="403781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68">
            <a:extLst>
              <a:ext uri="{FF2B5EF4-FFF2-40B4-BE49-F238E27FC236}">
                <a16:creationId xmlns:a16="http://schemas.microsoft.com/office/drawing/2014/main" id="{837672D8-CEEA-FA66-9A18-4F9792675CD9}"/>
              </a:ext>
            </a:extLst>
          </p:cNvPr>
          <p:cNvSpPr/>
          <p:nvPr/>
        </p:nvSpPr>
        <p:spPr>
          <a:xfrm flipH="1">
            <a:off x="8325438" y="2790334"/>
            <a:ext cx="1742388" cy="1571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61FFF7-872B-010B-8808-C11947009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459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39F69-F375-EC74-2CFC-4CB204BE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0BF7BAAA-1A8A-0B5E-945A-6B1FC3C64A98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FF118051-92B5-4514-81BF-98BF287EBA09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86589AEA-29DB-B9D8-7355-77D8DCF50D4D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C38B6EDB-78C3-A166-3A6A-838581EB5596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3A0F43B1-409B-2EA6-BE4E-DF55CB86D35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E1768BF0-F6BE-EA2A-6C2E-B8C13AB8DFCD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DF30853-7B8B-62D4-64F7-F3663B31CBB8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  <a:sym typeface="Times New Roman Bold"/>
              </a:rPr>
              <a:t>Methodology</a:t>
            </a:r>
            <a:endParaRPr lang="en-IN" sz="44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82EA94-192D-B373-5139-4A0A9E9B6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CED1FB-BEC9-1270-50A2-BBB5A7A07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00556"/>
            <a:ext cx="9879291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hand rehabilitation literature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predefined hand exercises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and organize exercise data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 and preprocess hand landmarks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and evaluate ML model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real-time recognition with feedback</a:t>
            </a:r>
          </a:p>
        </p:txBody>
      </p:sp>
    </p:spTree>
    <p:extLst>
      <p:ext uri="{BB962C8B-B14F-4D97-AF65-F5344CB8AC3E}">
        <p14:creationId xmlns:p14="http://schemas.microsoft.com/office/powerpoint/2010/main" val="180126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C5311-B2D8-506A-49E1-BED1A2C19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6B398E5E-41D4-0389-DE5F-2150783B77ED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2093134D-4540-D914-7F9C-9D91E0556D4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67523065-ACBD-2C04-5B6B-E82325C45144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71C98C0E-1CC9-DC60-6151-45842899A2B8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876AB80B-B2CB-3339-5892-E7D8D77159F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BFE77B74-32F7-F2C5-357F-57D5BDBB7735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2345A1F-8CE8-F1C5-EB56-B693AEDA9BA0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anose="020B0A04020102020204" pitchFamily="34" charset="0"/>
              </a:rPr>
              <a:t>Exercise Selected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6855C67-28EC-EC97-F328-B8E0D4BBCEEF}"/>
              </a:ext>
            </a:extLst>
          </p:cNvPr>
          <p:cNvSpPr txBox="1"/>
          <p:nvPr/>
        </p:nvSpPr>
        <p:spPr>
          <a:xfrm>
            <a:off x="155723" y="1425020"/>
            <a:ext cx="11732262" cy="50154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lvl="1" algn="just"/>
            <a:endParaRPr lang="en-U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Grip power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Extending the wrist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Turning a bottle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Finger flexion   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Flexion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Bending of knuckle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Abduction and adduction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Finger flexion with ball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Opposition compress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Thumb movement</a:t>
            </a:r>
          </a:p>
          <a:p>
            <a:pPr marL="1041400" lvl="1" indent="-571500" algn="just">
              <a:spcBef>
                <a:spcPts val="130"/>
              </a:spcBef>
              <a:buFont typeface="+mj-lt"/>
              <a:buAutoNum type="romanUcPeriod"/>
              <a:tabLst>
                <a:tab pos="469900" algn="l"/>
              </a:tabLst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DC4D95-94FC-2B63-5BB8-CC36018B4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210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2CECE-B11A-0D8B-E2F7-149F26A90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E0D3A66B-E815-FFAD-A75C-4E58E59336F9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709A31D0-E39C-18E4-6B1B-7D60B6786890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EBB2C399-0957-B9AF-30F3-1C00FE80FE32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8234AAAF-B1A7-8470-5B40-5DE9036D2FCF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C35EF577-55FC-36D4-E517-0EB33760F9AC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70400363-A2FE-A303-333B-EE63E9802BF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D81389C-F8BB-430D-6599-B5E4906AE53A}"/>
              </a:ext>
            </a:extLst>
          </p:cNvPr>
          <p:cNvSpPr txBox="1"/>
          <p:nvPr/>
        </p:nvSpPr>
        <p:spPr>
          <a:xfrm>
            <a:off x="4652126" y="258393"/>
            <a:ext cx="7159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  <a:sym typeface="Times New Roman Bold"/>
              </a:rPr>
              <a:t>Future Work</a:t>
            </a:r>
            <a:endParaRPr lang="en-IN" sz="4400" b="1" dirty="0">
              <a:latin typeface="Arial Black" panose="020B0A04020102020204" pitchFamily="34" charset="0"/>
            </a:endParaRPr>
          </a:p>
        </p:txBody>
      </p:sp>
      <p:grpSp>
        <p:nvGrpSpPr>
          <p:cNvPr id="187" name="Group 10">
            <a:extLst>
              <a:ext uri="{FF2B5EF4-FFF2-40B4-BE49-F238E27FC236}">
                <a16:creationId xmlns:a16="http://schemas.microsoft.com/office/drawing/2014/main" id="{7EF270C1-0690-B18D-0358-1BF0CF65D271}"/>
              </a:ext>
            </a:extLst>
          </p:cNvPr>
          <p:cNvGrpSpPr/>
          <p:nvPr/>
        </p:nvGrpSpPr>
        <p:grpSpPr>
          <a:xfrm>
            <a:off x="279948" y="1485503"/>
            <a:ext cx="1917117" cy="933179"/>
            <a:chOff x="0" y="0"/>
            <a:chExt cx="812800" cy="441477"/>
          </a:xfrm>
        </p:grpSpPr>
        <p:sp>
          <p:nvSpPr>
            <p:cNvPr id="188" name="Freeform 11">
              <a:extLst>
                <a:ext uri="{FF2B5EF4-FFF2-40B4-BE49-F238E27FC236}">
                  <a16:creationId xmlns:a16="http://schemas.microsoft.com/office/drawing/2014/main" id="{5122C35C-D376-C3EF-0191-2D85C59D543D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2D3546"/>
            </a:solidFill>
            <a:ln cap="sq">
              <a:noFill/>
              <a:prstDash val="solid"/>
              <a:miter/>
            </a:ln>
          </p:spPr>
        </p:sp>
        <p:sp>
          <p:nvSpPr>
            <p:cNvPr id="189" name="TextBox 12">
              <a:extLst>
                <a:ext uri="{FF2B5EF4-FFF2-40B4-BE49-F238E27FC236}">
                  <a16:creationId xmlns:a16="http://schemas.microsoft.com/office/drawing/2014/main" id="{240A6ECF-39C9-1022-4881-EBB7A01C2248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193" name="TextBox 16">
            <a:extLst>
              <a:ext uri="{FF2B5EF4-FFF2-40B4-BE49-F238E27FC236}">
                <a16:creationId xmlns:a16="http://schemas.microsoft.com/office/drawing/2014/main" id="{CD10234E-5C1E-1B9D-0571-88AD4FC758DA}"/>
              </a:ext>
            </a:extLst>
          </p:cNvPr>
          <p:cNvSpPr txBox="1"/>
          <p:nvPr/>
        </p:nvSpPr>
        <p:spPr>
          <a:xfrm>
            <a:off x="600311" y="1767258"/>
            <a:ext cx="1321453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EAEAEC"/>
                </a:solidFill>
                <a:ea typeface="Garet"/>
                <a:cs typeface="Garet"/>
                <a:sym typeface="Garet"/>
              </a:rPr>
              <a:t>Phase 1</a:t>
            </a:r>
          </a:p>
        </p:txBody>
      </p:sp>
      <p:grpSp>
        <p:nvGrpSpPr>
          <p:cNvPr id="194" name="Group 17">
            <a:extLst>
              <a:ext uri="{FF2B5EF4-FFF2-40B4-BE49-F238E27FC236}">
                <a16:creationId xmlns:a16="http://schemas.microsoft.com/office/drawing/2014/main" id="{15029ED8-19D7-9AE8-1139-253AEC27A7FD}"/>
              </a:ext>
            </a:extLst>
          </p:cNvPr>
          <p:cNvGrpSpPr/>
          <p:nvPr/>
        </p:nvGrpSpPr>
        <p:grpSpPr>
          <a:xfrm>
            <a:off x="2733400" y="1517047"/>
            <a:ext cx="1917117" cy="933179"/>
            <a:chOff x="0" y="0"/>
            <a:chExt cx="812800" cy="441477"/>
          </a:xfrm>
        </p:grpSpPr>
        <p:sp>
          <p:nvSpPr>
            <p:cNvPr id="195" name="Freeform 18">
              <a:extLst>
                <a:ext uri="{FF2B5EF4-FFF2-40B4-BE49-F238E27FC236}">
                  <a16:creationId xmlns:a16="http://schemas.microsoft.com/office/drawing/2014/main" id="{9051ED0E-EF9E-C86A-5F4C-EAB0CC21B7D7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196" name="TextBox 19">
              <a:extLst>
                <a:ext uri="{FF2B5EF4-FFF2-40B4-BE49-F238E27FC236}">
                  <a16:creationId xmlns:a16="http://schemas.microsoft.com/office/drawing/2014/main" id="{27CADCF1-6D04-D7D4-6856-39992D424F03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00" name="TextBox 23">
            <a:extLst>
              <a:ext uri="{FF2B5EF4-FFF2-40B4-BE49-F238E27FC236}">
                <a16:creationId xmlns:a16="http://schemas.microsoft.com/office/drawing/2014/main" id="{64D81AC0-DD26-E445-D87A-F3FB87E3173E}"/>
              </a:ext>
            </a:extLst>
          </p:cNvPr>
          <p:cNvSpPr txBox="1"/>
          <p:nvPr/>
        </p:nvSpPr>
        <p:spPr>
          <a:xfrm>
            <a:off x="2997714" y="1708842"/>
            <a:ext cx="1321453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IN" sz="1400" dirty="0"/>
              <a:t>Literature Review</a:t>
            </a:r>
            <a:endParaRPr lang="en-US" sz="1400" dirty="0">
              <a:solidFill>
                <a:srgbClr val="000000"/>
              </a:solidFill>
              <a:ea typeface="Garet"/>
              <a:cs typeface="Garet"/>
              <a:sym typeface="Garet"/>
            </a:endParaRPr>
          </a:p>
        </p:txBody>
      </p:sp>
      <p:grpSp>
        <p:nvGrpSpPr>
          <p:cNvPr id="203" name="Group 26">
            <a:extLst>
              <a:ext uri="{FF2B5EF4-FFF2-40B4-BE49-F238E27FC236}">
                <a16:creationId xmlns:a16="http://schemas.microsoft.com/office/drawing/2014/main" id="{4DA700AD-1977-2D89-92F1-B666A0FCB936}"/>
              </a:ext>
            </a:extLst>
          </p:cNvPr>
          <p:cNvGrpSpPr/>
          <p:nvPr/>
        </p:nvGrpSpPr>
        <p:grpSpPr>
          <a:xfrm>
            <a:off x="5193664" y="1505421"/>
            <a:ext cx="1917117" cy="933179"/>
            <a:chOff x="0" y="0"/>
            <a:chExt cx="812800" cy="441477"/>
          </a:xfrm>
        </p:grpSpPr>
        <p:sp>
          <p:nvSpPr>
            <p:cNvPr id="204" name="Freeform 27">
              <a:extLst>
                <a:ext uri="{FF2B5EF4-FFF2-40B4-BE49-F238E27FC236}">
                  <a16:creationId xmlns:a16="http://schemas.microsoft.com/office/drawing/2014/main" id="{541BBEA6-91CE-0F8E-13B6-7599FF9E5AA3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05" name="TextBox 28">
              <a:extLst>
                <a:ext uri="{FF2B5EF4-FFF2-40B4-BE49-F238E27FC236}">
                  <a16:creationId xmlns:a16="http://schemas.microsoft.com/office/drawing/2014/main" id="{796BAE9B-860C-3D40-6EEB-B395505CC7CC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09" name="TextBox 32">
            <a:extLst>
              <a:ext uri="{FF2B5EF4-FFF2-40B4-BE49-F238E27FC236}">
                <a16:creationId xmlns:a16="http://schemas.microsoft.com/office/drawing/2014/main" id="{1A04DAAC-FEE4-DEDC-622B-8678AE0E2E51}"/>
              </a:ext>
            </a:extLst>
          </p:cNvPr>
          <p:cNvSpPr txBox="1"/>
          <p:nvPr/>
        </p:nvSpPr>
        <p:spPr>
          <a:xfrm>
            <a:off x="5364214" y="1765403"/>
            <a:ext cx="1593575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Exercise Selection</a:t>
            </a:r>
          </a:p>
        </p:txBody>
      </p:sp>
      <p:grpSp>
        <p:nvGrpSpPr>
          <p:cNvPr id="211" name="Group 34">
            <a:extLst>
              <a:ext uri="{FF2B5EF4-FFF2-40B4-BE49-F238E27FC236}">
                <a16:creationId xmlns:a16="http://schemas.microsoft.com/office/drawing/2014/main" id="{72CEFCAE-9C87-AA6C-848A-5CE15AFC4C2D}"/>
              </a:ext>
            </a:extLst>
          </p:cNvPr>
          <p:cNvGrpSpPr/>
          <p:nvPr/>
        </p:nvGrpSpPr>
        <p:grpSpPr>
          <a:xfrm>
            <a:off x="7664216" y="4226776"/>
            <a:ext cx="1917117" cy="933179"/>
            <a:chOff x="0" y="0"/>
            <a:chExt cx="812800" cy="441477"/>
          </a:xfrm>
        </p:grpSpPr>
        <p:sp>
          <p:nvSpPr>
            <p:cNvPr id="212" name="Freeform 35">
              <a:extLst>
                <a:ext uri="{FF2B5EF4-FFF2-40B4-BE49-F238E27FC236}">
                  <a16:creationId xmlns:a16="http://schemas.microsoft.com/office/drawing/2014/main" id="{7F763255-0EDB-2569-A29B-13B7A25C2693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13" name="TextBox 36">
              <a:extLst>
                <a:ext uri="{FF2B5EF4-FFF2-40B4-BE49-F238E27FC236}">
                  <a16:creationId xmlns:a16="http://schemas.microsoft.com/office/drawing/2014/main" id="{01E5976E-9BD0-95EB-38B1-71BC7B0828E8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grpSp>
        <p:nvGrpSpPr>
          <p:cNvPr id="220" name="Group 43">
            <a:extLst>
              <a:ext uri="{FF2B5EF4-FFF2-40B4-BE49-F238E27FC236}">
                <a16:creationId xmlns:a16="http://schemas.microsoft.com/office/drawing/2014/main" id="{672CDAA4-9779-3285-40D5-5BCBEB502044}"/>
              </a:ext>
            </a:extLst>
          </p:cNvPr>
          <p:cNvGrpSpPr/>
          <p:nvPr/>
        </p:nvGrpSpPr>
        <p:grpSpPr>
          <a:xfrm>
            <a:off x="5225138" y="4204988"/>
            <a:ext cx="1917117" cy="933179"/>
            <a:chOff x="0" y="0"/>
            <a:chExt cx="812800" cy="441477"/>
          </a:xfrm>
        </p:grpSpPr>
        <p:sp>
          <p:nvSpPr>
            <p:cNvPr id="221" name="Freeform 44">
              <a:extLst>
                <a:ext uri="{FF2B5EF4-FFF2-40B4-BE49-F238E27FC236}">
                  <a16:creationId xmlns:a16="http://schemas.microsoft.com/office/drawing/2014/main" id="{1B31C87F-729E-C378-A14E-A4B5BE3558F5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22" name="TextBox 45">
              <a:extLst>
                <a:ext uri="{FF2B5EF4-FFF2-40B4-BE49-F238E27FC236}">
                  <a16:creationId xmlns:a16="http://schemas.microsoft.com/office/drawing/2014/main" id="{5FDB87E6-9EF3-4B8C-A850-CBC095E2A884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33" name="TextBox 56">
            <a:extLst>
              <a:ext uri="{FF2B5EF4-FFF2-40B4-BE49-F238E27FC236}">
                <a16:creationId xmlns:a16="http://schemas.microsoft.com/office/drawing/2014/main" id="{CE01EAAD-B88A-DB6B-B194-887D1F1B6BA1}"/>
              </a:ext>
            </a:extLst>
          </p:cNvPr>
          <p:cNvSpPr txBox="1"/>
          <p:nvPr/>
        </p:nvSpPr>
        <p:spPr>
          <a:xfrm>
            <a:off x="5194169" y="4426839"/>
            <a:ext cx="1951349" cy="653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Performance Evaluation</a:t>
            </a:r>
          </a:p>
          <a:p>
            <a:pPr algn="ctr">
              <a:lnSpc>
                <a:spcPts val="2682"/>
              </a:lnSpc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ea typeface="Garet"/>
              <a:cs typeface="Garet"/>
              <a:sym typeface="Garet"/>
            </a:endParaRPr>
          </a:p>
        </p:txBody>
      </p:sp>
      <p:grpSp>
        <p:nvGrpSpPr>
          <p:cNvPr id="235" name="Group 58">
            <a:extLst>
              <a:ext uri="{FF2B5EF4-FFF2-40B4-BE49-F238E27FC236}">
                <a16:creationId xmlns:a16="http://schemas.microsoft.com/office/drawing/2014/main" id="{EAA840DA-5114-52EB-1823-ECA0CC03DFE9}"/>
              </a:ext>
            </a:extLst>
          </p:cNvPr>
          <p:cNvGrpSpPr/>
          <p:nvPr/>
        </p:nvGrpSpPr>
        <p:grpSpPr>
          <a:xfrm>
            <a:off x="5200774" y="2869947"/>
            <a:ext cx="1917117" cy="933179"/>
            <a:chOff x="0" y="0"/>
            <a:chExt cx="812800" cy="441477"/>
          </a:xfrm>
        </p:grpSpPr>
        <p:sp>
          <p:nvSpPr>
            <p:cNvPr id="236" name="Freeform 59">
              <a:extLst>
                <a:ext uri="{FF2B5EF4-FFF2-40B4-BE49-F238E27FC236}">
                  <a16:creationId xmlns:a16="http://schemas.microsoft.com/office/drawing/2014/main" id="{3E77B418-A6AC-692C-C038-FD77957D27C3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237" name="TextBox 60">
              <a:extLst>
                <a:ext uri="{FF2B5EF4-FFF2-40B4-BE49-F238E27FC236}">
                  <a16:creationId xmlns:a16="http://schemas.microsoft.com/office/drawing/2014/main" id="{4B7A27B0-C195-09DC-1EA1-78E9C5995EEA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62" name="TextBox 85">
            <a:extLst>
              <a:ext uri="{FF2B5EF4-FFF2-40B4-BE49-F238E27FC236}">
                <a16:creationId xmlns:a16="http://schemas.microsoft.com/office/drawing/2014/main" id="{1BB7F950-F252-FA86-03BA-179238099D02}"/>
              </a:ext>
            </a:extLst>
          </p:cNvPr>
          <p:cNvSpPr txBox="1"/>
          <p:nvPr/>
        </p:nvSpPr>
        <p:spPr>
          <a:xfrm>
            <a:off x="8889708" y="4996111"/>
            <a:ext cx="397461" cy="37160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9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C173A45C-8D81-5733-6B57-64A74456A017}"/>
              </a:ext>
            </a:extLst>
          </p:cNvPr>
          <p:cNvSpPr txBox="1"/>
          <p:nvPr/>
        </p:nvSpPr>
        <p:spPr>
          <a:xfrm>
            <a:off x="5115012" y="2929601"/>
            <a:ext cx="2011654" cy="1091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IN" sz="1400" dirty="0"/>
              <a:t>Data Organization</a:t>
            </a:r>
          </a:p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IN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&amp; </a:t>
            </a:r>
            <a:r>
              <a:rPr lang="en-IN" sz="1400" dirty="0"/>
              <a:t>Landmark Extraction</a:t>
            </a:r>
            <a:endParaRPr lang="en-US" sz="1400" dirty="0">
              <a:solidFill>
                <a:srgbClr val="000000"/>
              </a:solidFill>
              <a:ea typeface="Garet"/>
              <a:cs typeface="Garet"/>
              <a:sym typeface="Garet"/>
            </a:endParaRPr>
          </a:p>
          <a:p>
            <a:pPr algn="ctr">
              <a:lnSpc>
                <a:spcPts val="2682"/>
              </a:lnSpc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ea typeface="Garet"/>
              <a:cs typeface="Garet"/>
              <a:sym typeface="Garet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DBC3DEB6-F21A-2761-2633-273E5966F7BB}"/>
              </a:ext>
            </a:extLst>
          </p:cNvPr>
          <p:cNvSpPr txBox="1"/>
          <p:nvPr/>
        </p:nvSpPr>
        <p:spPr>
          <a:xfrm>
            <a:off x="7636785" y="4258150"/>
            <a:ext cx="1968500" cy="745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Hardware Implementation</a:t>
            </a:r>
          </a:p>
        </p:txBody>
      </p:sp>
      <p:grpSp>
        <p:nvGrpSpPr>
          <p:cNvPr id="307" name="Group 34">
            <a:extLst>
              <a:ext uri="{FF2B5EF4-FFF2-40B4-BE49-F238E27FC236}">
                <a16:creationId xmlns:a16="http://schemas.microsoft.com/office/drawing/2014/main" id="{489320C7-B2D2-4D7B-EBE5-5D5B47630C7A}"/>
              </a:ext>
            </a:extLst>
          </p:cNvPr>
          <p:cNvGrpSpPr/>
          <p:nvPr/>
        </p:nvGrpSpPr>
        <p:grpSpPr>
          <a:xfrm>
            <a:off x="2750337" y="5527676"/>
            <a:ext cx="1917117" cy="933179"/>
            <a:chOff x="0" y="0"/>
            <a:chExt cx="812800" cy="441477"/>
          </a:xfrm>
        </p:grpSpPr>
        <p:sp>
          <p:nvSpPr>
            <p:cNvPr id="308" name="Freeform 35">
              <a:extLst>
                <a:ext uri="{FF2B5EF4-FFF2-40B4-BE49-F238E27FC236}">
                  <a16:creationId xmlns:a16="http://schemas.microsoft.com/office/drawing/2014/main" id="{C24F328B-79D8-4EEC-2143-A7170C13FB3A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09" name="TextBox 36">
              <a:extLst>
                <a:ext uri="{FF2B5EF4-FFF2-40B4-BE49-F238E27FC236}">
                  <a16:creationId xmlns:a16="http://schemas.microsoft.com/office/drawing/2014/main" id="{6F481963-D66B-8C0B-DF62-5AB663FC2C38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1D62ED-0B56-ECD6-0BFC-39F5DF2CD031}"/>
              </a:ext>
            </a:extLst>
          </p:cNvPr>
          <p:cNvSpPr txBox="1"/>
          <p:nvPr/>
        </p:nvSpPr>
        <p:spPr>
          <a:xfrm>
            <a:off x="2774124" y="5626611"/>
            <a:ext cx="1939277" cy="745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Real-Time Inference</a:t>
            </a:r>
          </a:p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&amp; Feedback</a:t>
            </a:r>
          </a:p>
        </p:txBody>
      </p:sp>
      <p:sp>
        <p:nvSpPr>
          <p:cNvPr id="9" name="AutoShape 69">
            <a:extLst>
              <a:ext uri="{FF2B5EF4-FFF2-40B4-BE49-F238E27FC236}">
                <a16:creationId xmlns:a16="http://schemas.microsoft.com/office/drawing/2014/main" id="{86825D00-39B7-2D6C-A970-DBE669DD4789}"/>
              </a:ext>
            </a:extLst>
          </p:cNvPr>
          <p:cNvSpPr/>
          <p:nvPr/>
        </p:nvSpPr>
        <p:spPr>
          <a:xfrm flipV="1">
            <a:off x="2196444" y="2036186"/>
            <a:ext cx="546755" cy="943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9B86BB-3E87-02B8-A33D-4CF158B66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  <p:grpSp>
        <p:nvGrpSpPr>
          <p:cNvPr id="7" name="Group 10">
            <a:extLst>
              <a:ext uri="{FF2B5EF4-FFF2-40B4-BE49-F238E27FC236}">
                <a16:creationId xmlns:a16="http://schemas.microsoft.com/office/drawing/2014/main" id="{E7A32219-8D9F-2CC1-7DEA-59403D97C5A6}"/>
              </a:ext>
            </a:extLst>
          </p:cNvPr>
          <p:cNvGrpSpPr/>
          <p:nvPr/>
        </p:nvGrpSpPr>
        <p:grpSpPr>
          <a:xfrm>
            <a:off x="309798" y="2797399"/>
            <a:ext cx="1917117" cy="933179"/>
            <a:chOff x="0" y="0"/>
            <a:chExt cx="812800" cy="441477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BDC8033-ED02-83B3-6AA2-079C6EE875B3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2D3546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2">
              <a:extLst>
                <a:ext uri="{FF2B5EF4-FFF2-40B4-BE49-F238E27FC236}">
                  <a16:creationId xmlns:a16="http://schemas.microsoft.com/office/drawing/2014/main" id="{62EFA332-8D4F-9A1C-532C-80CE9A694890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24" name="TextBox 16">
            <a:extLst>
              <a:ext uri="{FF2B5EF4-FFF2-40B4-BE49-F238E27FC236}">
                <a16:creationId xmlns:a16="http://schemas.microsoft.com/office/drawing/2014/main" id="{8CCEF8CE-796C-1953-2008-F1733EEC5503}"/>
              </a:ext>
            </a:extLst>
          </p:cNvPr>
          <p:cNvSpPr txBox="1"/>
          <p:nvPr/>
        </p:nvSpPr>
        <p:spPr>
          <a:xfrm>
            <a:off x="630161" y="3079154"/>
            <a:ext cx="1321453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EAEAEC"/>
                </a:solidFill>
                <a:ea typeface="Garet"/>
                <a:cs typeface="Garet"/>
                <a:sym typeface="Garet"/>
              </a:rPr>
              <a:t>Phase 2</a:t>
            </a:r>
          </a:p>
        </p:txBody>
      </p:sp>
      <p:grpSp>
        <p:nvGrpSpPr>
          <p:cNvPr id="32" name="Group 10">
            <a:extLst>
              <a:ext uri="{FF2B5EF4-FFF2-40B4-BE49-F238E27FC236}">
                <a16:creationId xmlns:a16="http://schemas.microsoft.com/office/drawing/2014/main" id="{777FC1F2-2239-4121-394F-4CE6201D7435}"/>
              </a:ext>
            </a:extLst>
          </p:cNvPr>
          <p:cNvGrpSpPr/>
          <p:nvPr/>
        </p:nvGrpSpPr>
        <p:grpSpPr>
          <a:xfrm>
            <a:off x="319227" y="4126578"/>
            <a:ext cx="1917117" cy="933179"/>
            <a:chOff x="0" y="0"/>
            <a:chExt cx="812800" cy="441477"/>
          </a:xfrm>
        </p:grpSpPr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9AA7CC42-487F-06DB-63ED-68C9CE9B74D0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2D3546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12">
              <a:extLst>
                <a:ext uri="{FF2B5EF4-FFF2-40B4-BE49-F238E27FC236}">
                  <a16:creationId xmlns:a16="http://schemas.microsoft.com/office/drawing/2014/main" id="{FED12AF5-6CCC-6D71-ED59-7FBC74ADC0F6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38" name="TextBox 16">
            <a:extLst>
              <a:ext uri="{FF2B5EF4-FFF2-40B4-BE49-F238E27FC236}">
                <a16:creationId xmlns:a16="http://schemas.microsoft.com/office/drawing/2014/main" id="{1804B5E4-9E93-4195-0620-A0D4AA1C13DD}"/>
              </a:ext>
            </a:extLst>
          </p:cNvPr>
          <p:cNvSpPr txBox="1"/>
          <p:nvPr/>
        </p:nvSpPr>
        <p:spPr>
          <a:xfrm>
            <a:off x="639590" y="4408333"/>
            <a:ext cx="1321453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EAEAEC"/>
                </a:solidFill>
                <a:ea typeface="Garet"/>
                <a:cs typeface="Garet"/>
                <a:sym typeface="Garet"/>
              </a:rPr>
              <a:t>Phase 3</a:t>
            </a:r>
          </a:p>
        </p:txBody>
      </p:sp>
      <p:grpSp>
        <p:nvGrpSpPr>
          <p:cNvPr id="39" name="Group 10">
            <a:extLst>
              <a:ext uri="{FF2B5EF4-FFF2-40B4-BE49-F238E27FC236}">
                <a16:creationId xmlns:a16="http://schemas.microsoft.com/office/drawing/2014/main" id="{F6EBBE64-AA4D-09AD-21BA-DA33E575F4F1}"/>
              </a:ext>
            </a:extLst>
          </p:cNvPr>
          <p:cNvGrpSpPr/>
          <p:nvPr/>
        </p:nvGrpSpPr>
        <p:grpSpPr>
          <a:xfrm>
            <a:off x="338079" y="5493466"/>
            <a:ext cx="1917117" cy="933179"/>
            <a:chOff x="0" y="0"/>
            <a:chExt cx="812800" cy="441477"/>
          </a:xfrm>
        </p:grpSpPr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CAF32B03-A6FA-D39A-4A7F-C4628E673469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2D3546"/>
            </a:solidFill>
            <a:ln cap="sq">
              <a:noFill/>
              <a:prstDash val="solid"/>
              <a:miter/>
            </a:ln>
          </p:spPr>
        </p:sp>
        <p:sp>
          <p:nvSpPr>
            <p:cNvPr id="41" name="TextBox 12">
              <a:extLst>
                <a:ext uri="{FF2B5EF4-FFF2-40B4-BE49-F238E27FC236}">
                  <a16:creationId xmlns:a16="http://schemas.microsoft.com/office/drawing/2014/main" id="{245D19F9-6732-235B-F07C-E6D86B41A784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45" name="TextBox 16">
            <a:extLst>
              <a:ext uri="{FF2B5EF4-FFF2-40B4-BE49-F238E27FC236}">
                <a16:creationId xmlns:a16="http://schemas.microsoft.com/office/drawing/2014/main" id="{E269881B-F39B-0E83-8583-3DD993312284}"/>
              </a:ext>
            </a:extLst>
          </p:cNvPr>
          <p:cNvSpPr txBox="1"/>
          <p:nvPr/>
        </p:nvSpPr>
        <p:spPr>
          <a:xfrm>
            <a:off x="658442" y="5775221"/>
            <a:ext cx="1321453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EAEAEC"/>
                </a:solidFill>
                <a:ea typeface="Garet"/>
                <a:cs typeface="Garet"/>
                <a:sym typeface="Garet"/>
              </a:rPr>
              <a:t>Phase 4</a:t>
            </a:r>
          </a:p>
        </p:txBody>
      </p:sp>
      <p:sp>
        <p:nvSpPr>
          <p:cNvPr id="47" name="AutoShape 69">
            <a:extLst>
              <a:ext uri="{FF2B5EF4-FFF2-40B4-BE49-F238E27FC236}">
                <a16:creationId xmlns:a16="http://schemas.microsoft.com/office/drawing/2014/main" id="{38432843-29EC-F561-3B2F-76E0C40721E4}"/>
              </a:ext>
            </a:extLst>
          </p:cNvPr>
          <p:cNvSpPr/>
          <p:nvPr/>
        </p:nvSpPr>
        <p:spPr>
          <a:xfrm flipV="1">
            <a:off x="4639557" y="1989055"/>
            <a:ext cx="573466" cy="1569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8" name="AutoShape 69">
            <a:extLst>
              <a:ext uri="{FF2B5EF4-FFF2-40B4-BE49-F238E27FC236}">
                <a16:creationId xmlns:a16="http://schemas.microsoft.com/office/drawing/2014/main" id="{299AD518-4254-3625-F3BB-EDD975678600}"/>
              </a:ext>
            </a:extLst>
          </p:cNvPr>
          <p:cNvSpPr/>
          <p:nvPr/>
        </p:nvSpPr>
        <p:spPr>
          <a:xfrm flipV="1">
            <a:off x="2235721" y="3282094"/>
            <a:ext cx="546755" cy="943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9" name="Group 34">
            <a:extLst>
              <a:ext uri="{FF2B5EF4-FFF2-40B4-BE49-F238E27FC236}">
                <a16:creationId xmlns:a16="http://schemas.microsoft.com/office/drawing/2014/main" id="{DBA063A8-280C-5BE0-F2CB-995BBB3B7222}"/>
              </a:ext>
            </a:extLst>
          </p:cNvPr>
          <p:cNvGrpSpPr/>
          <p:nvPr/>
        </p:nvGrpSpPr>
        <p:grpSpPr>
          <a:xfrm>
            <a:off x="5146316" y="5500967"/>
            <a:ext cx="1917117" cy="933179"/>
            <a:chOff x="0" y="0"/>
            <a:chExt cx="812800" cy="441477"/>
          </a:xfrm>
        </p:grpSpPr>
        <p:sp>
          <p:nvSpPr>
            <p:cNvPr id="50" name="Freeform 35">
              <a:extLst>
                <a:ext uri="{FF2B5EF4-FFF2-40B4-BE49-F238E27FC236}">
                  <a16:creationId xmlns:a16="http://schemas.microsoft.com/office/drawing/2014/main" id="{C2BBECAD-827B-2366-2759-7F251EE498AE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1" name="TextBox 36">
              <a:extLst>
                <a:ext uri="{FF2B5EF4-FFF2-40B4-BE49-F238E27FC236}">
                  <a16:creationId xmlns:a16="http://schemas.microsoft.com/office/drawing/2014/main" id="{C5A3DA3F-1355-C8CE-6FB8-33F4E453213F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096E0E71-FE44-691B-3B3E-3884E607E4D2}"/>
              </a:ext>
            </a:extLst>
          </p:cNvPr>
          <p:cNvSpPr txBox="1"/>
          <p:nvPr/>
        </p:nvSpPr>
        <p:spPr>
          <a:xfrm>
            <a:off x="5104115" y="5656462"/>
            <a:ext cx="1939277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Final Prototype</a:t>
            </a:r>
          </a:p>
        </p:txBody>
      </p:sp>
      <p:grpSp>
        <p:nvGrpSpPr>
          <p:cNvPr id="54" name="Group 58">
            <a:extLst>
              <a:ext uri="{FF2B5EF4-FFF2-40B4-BE49-F238E27FC236}">
                <a16:creationId xmlns:a16="http://schemas.microsoft.com/office/drawing/2014/main" id="{6FDBE508-5ACC-F249-6B42-198386F469EB}"/>
              </a:ext>
            </a:extLst>
          </p:cNvPr>
          <p:cNvGrpSpPr/>
          <p:nvPr/>
        </p:nvGrpSpPr>
        <p:grpSpPr>
          <a:xfrm>
            <a:off x="2770230" y="2852664"/>
            <a:ext cx="1917117" cy="933179"/>
            <a:chOff x="0" y="0"/>
            <a:chExt cx="812800" cy="441477"/>
          </a:xfrm>
        </p:grpSpPr>
        <p:sp>
          <p:nvSpPr>
            <p:cNvPr id="55" name="Freeform 59">
              <a:extLst>
                <a:ext uri="{FF2B5EF4-FFF2-40B4-BE49-F238E27FC236}">
                  <a16:creationId xmlns:a16="http://schemas.microsoft.com/office/drawing/2014/main" id="{701205E6-C1FA-F081-4F1E-6FD099E8155A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56" name="TextBox 60">
              <a:extLst>
                <a:ext uri="{FF2B5EF4-FFF2-40B4-BE49-F238E27FC236}">
                  <a16:creationId xmlns:a16="http://schemas.microsoft.com/office/drawing/2014/main" id="{80AB9190-1B7A-92AF-8F2D-F053F1C2D0A2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E79D48A7-7F35-5AEC-9BED-A034ECFFECED}"/>
              </a:ext>
            </a:extLst>
          </p:cNvPr>
          <p:cNvSpPr txBox="1"/>
          <p:nvPr/>
        </p:nvSpPr>
        <p:spPr>
          <a:xfrm>
            <a:off x="2665614" y="3034866"/>
            <a:ext cx="2011654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IN" sz="1400" dirty="0"/>
              <a:t>Data Acquisition</a:t>
            </a:r>
            <a:endParaRPr lang="en-US" sz="1400" dirty="0">
              <a:solidFill>
                <a:srgbClr val="000000"/>
              </a:solidFill>
              <a:ea typeface="Garet"/>
              <a:cs typeface="Garet"/>
              <a:sym typeface="Garet"/>
            </a:endParaRPr>
          </a:p>
        </p:txBody>
      </p:sp>
      <p:grpSp>
        <p:nvGrpSpPr>
          <p:cNvPr id="58" name="Group 58">
            <a:extLst>
              <a:ext uri="{FF2B5EF4-FFF2-40B4-BE49-F238E27FC236}">
                <a16:creationId xmlns:a16="http://schemas.microsoft.com/office/drawing/2014/main" id="{B5002E7D-B2A5-631A-398E-5AFCC6FA06D4}"/>
              </a:ext>
            </a:extLst>
          </p:cNvPr>
          <p:cNvGrpSpPr/>
          <p:nvPr/>
        </p:nvGrpSpPr>
        <p:grpSpPr>
          <a:xfrm>
            <a:off x="7642317" y="2879373"/>
            <a:ext cx="1917117" cy="933179"/>
            <a:chOff x="0" y="0"/>
            <a:chExt cx="812800" cy="441477"/>
          </a:xfrm>
        </p:grpSpPr>
        <p:sp>
          <p:nvSpPr>
            <p:cNvPr id="59" name="Freeform 59">
              <a:extLst>
                <a:ext uri="{FF2B5EF4-FFF2-40B4-BE49-F238E27FC236}">
                  <a16:creationId xmlns:a16="http://schemas.microsoft.com/office/drawing/2014/main" id="{A7BA99F2-4943-760E-8492-9CCEE43C3213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60" name="TextBox 60">
              <a:extLst>
                <a:ext uri="{FF2B5EF4-FFF2-40B4-BE49-F238E27FC236}">
                  <a16:creationId xmlns:a16="http://schemas.microsoft.com/office/drawing/2014/main" id="{C3CAC6AF-2FA1-4C53-3A36-AF8715FFD90B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7D1A07D5-ADBC-62A5-275A-B40E901BE0EA}"/>
              </a:ext>
            </a:extLst>
          </p:cNvPr>
          <p:cNvSpPr txBox="1"/>
          <p:nvPr/>
        </p:nvSpPr>
        <p:spPr>
          <a:xfrm>
            <a:off x="7537701" y="3061575"/>
            <a:ext cx="2011654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Feature Normalization</a:t>
            </a:r>
          </a:p>
        </p:txBody>
      </p:sp>
      <p:grpSp>
        <p:nvGrpSpPr>
          <p:cNvPr id="62" name="Group 58">
            <a:extLst>
              <a:ext uri="{FF2B5EF4-FFF2-40B4-BE49-F238E27FC236}">
                <a16:creationId xmlns:a16="http://schemas.microsoft.com/office/drawing/2014/main" id="{D9E47C01-DDB3-D3CB-DDAC-35B67EE96E4B}"/>
              </a:ext>
            </a:extLst>
          </p:cNvPr>
          <p:cNvGrpSpPr/>
          <p:nvPr/>
        </p:nvGrpSpPr>
        <p:grpSpPr>
          <a:xfrm>
            <a:off x="2778086" y="4189699"/>
            <a:ext cx="1917117" cy="933179"/>
            <a:chOff x="0" y="0"/>
            <a:chExt cx="812800" cy="441477"/>
          </a:xfrm>
        </p:grpSpPr>
        <p:sp>
          <p:nvSpPr>
            <p:cNvPr id="63" name="Freeform 59">
              <a:extLst>
                <a:ext uri="{FF2B5EF4-FFF2-40B4-BE49-F238E27FC236}">
                  <a16:creationId xmlns:a16="http://schemas.microsoft.com/office/drawing/2014/main" id="{8159F99A-6A65-CAD8-A714-31F00E300DA4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128" name="TextBox 60">
              <a:extLst>
                <a:ext uri="{FF2B5EF4-FFF2-40B4-BE49-F238E27FC236}">
                  <a16:creationId xmlns:a16="http://schemas.microsoft.com/office/drawing/2014/main" id="{23B5D44B-099F-C63A-3964-39ABB136A202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D1F9E53E-28AA-0D77-A758-72D171614AB4}"/>
              </a:ext>
            </a:extLst>
          </p:cNvPr>
          <p:cNvSpPr txBox="1"/>
          <p:nvPr/>
        </p:nvSpPr>
        <p:spPr>
          <a:xfrm>
            <a:off x="2673470" y="4371901"/>
            <a:ext cx="2011654" cy="745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Model Training</a:t>
            </a:r>
          </a:p>
          <a:p>
            <a:pPr algn="ctr">
              <a:lnSpc>
                <a:spcPts val="2682"/>
              </a:lnSpc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ea typeface="Garet"/>
              <a:cs typeface="Garet"/>
              <a:sym typeface="Garet"/>
            </a:endParaRPr>
          </a:p>
        </p:txBody>
      </p:sp>
      <p:sp>
        <p:nvSpPr>
          <p:cNvPr id="130" name="AutoShape 69">
            <a:extLst>
              <a:ext uri="{FF2B5EF4-FFF2-40B4-BE49-F238E27FC236}">
                <a16:creationId xmlns:a16="http://schemas.microsoft.com/office/drawing/2014/main" id="{DFD3E218-28E3-B90E-CB12-F08CBA22C620}"/>
              </a:ext>
            </a:extLst>
          </p:cNvPr>
          <p:cNvSpPr/>
          <p:nvPr/>
        </p:nvSpPr>
        <p:spPr>
          <a:xfrm flipV="1">
            <a:off x="4667838" y="3291522"/>
            <a:ext cx="546755" cy="943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1" name="AutoShape 69">
            <a:extLst>
              <a:ext uri="{FF2B5EF4-FFF2-40B4-BE49-F238E27FC236}">
                <a16:creationId xmlns:a16="http://schemas.microsoft.com/office/drawing/2014/main" id="{F2480EC3-4C74-D14B-11EA-23D4D5FD1A07}"/>
              </a:ext>
            </a:extLst>
          </p:cNvPr>
          <p:cNvSpPr/>
          <p:nvPr/>
        </p:nvSpPr>
        <p:spPr>
          <a:xfrm flipV="1">
            <a:off x="7118808" y="3319802"/>
            <a:ext cx="546755" cy="943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2" name="AutoShape 69">
            <a:extLst>
              <a:ext uri="{FF2B5EF4-FFF2-40B4-BE49-F238E27FC236}">
                <a16:creationId xmlns:a16="http://schemas.microsoft.com/office/drawing/2014/main" id="{5CF34382-90D8-79C7-2EBD-0AD5E3621C4F}"/>
              </a:ext>
            </a:extLst>
          </p:cNvPr>
          <p:cNvSpPr/>
          <p:nvPr/>
        </p:nvSpPr>
        <p:spPr>
          <a:xfrm flipV="1">
            <a:off x="2235723" y="4620701"/>
            <a:ext cx="546755" cy="943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3" name="AutoShape 69">
            <a:extLst>
              <a:ext uri="{FF2B5EF4-FFF2-40B4-BE49-F238E27FC236}">
                <a16:creationId xmlns:a16="http://schemas.microsoft.com/office/drawing/2014/main" id="{9B4B04A5-F2A6-A580-94DE-EB2E1C7F8545}"/>
              </a:ext>
            </a:extLst>
          </p:cNvPr>
          <p:cNvSpPr/>
          <p:nvPr/>
        </p:nvSpPr>
        <p:spPr>
          <a:xfrm flipV="1">
            <a:off x="4705545" y="4601848"/>
            <a:ext cx="546755" cy="943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4" name="AutoShape 69">
            <a:extLst>
              <a:ext uri="{FF2B5EF4-FFF2-40B4-BE49-F238E27FC236}">
                <a16:creationId xmlns:a16="http://schemas.microsoft.com/office/drawing/2014/main" id="{5041D78E-563C-387E-822E-9B8FFF799F5C}"/>
              </a:ext>
            </a:extLst>
          </p:cNvPr>
          <p:cNvSpPr/>
          <p:nvPr/>
        </p:nvSpPr>
        <p:spPr>
          <a:xfrm flipV="1">
            <a:off x="7118807" y="4639555"/>
            <a:ext cx="546755" cy="943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5" name="AutoShape 69">
            <a:extLst>
              <a:ext uri="{FF2B5EF4-FFF2-40B4-BE49-F238E27FC236}">
                <a16:creationId xmlns:a16="http://schemas.microsoft.com/office/drawing/2014/main" id="{7063A727-0615-5789-71B8-2E625337E546}"/>
              </a:ext>
            </a:extLst>
          </p:cNvPr>
          <p:cNvSpPr/>
          <p:nvPr/>
        </p:nvSpPr>
        <p:spPr>
          <a:xfrm flipV="1">
            <a:off x="2254576" y="5940454"/>
            <a:ext cx="546755" cy="943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6" name="AutoShape 69">
            <a:extLst>
              <a:ext uri="{FF2B5EF4-FFF2-40B4-BE49-F238E27FC236}">
                <a16:creationId xmlns:a16="http://schemas.microsoft.com/office/drawing/2014/main" id="{5EB65B8A-8356-62B8-0D3E-51CEF9387160}"/>
              </a:ext>
            </a:extLst>
          </p:cNvPr>
          <p:cNvSpPr/>
          <p:nvPr/>
        </p:nvSpPr>
        <p:spPr>
          <a:xfrm flipV="1">
            <a:off x="4667838" y="5931027"/>
            <a:ext cx="546755" cy="943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37" name="Group 26">
            <a:extLst>
              <a:ext uri="{FF2B5EF4-FFF2-40B4-BE49-F238E27FC236}">
                <a16:creationId xmlns:a16="http://schemas.microsoft.com/office/drawing/2014/main" id="{0DB0E38D-099C-D58D-3539-1A013FC25C7A}"/>
              </a:ext>
            </a:extLst>
          </p:cNvPr>
          <p:cNvGrpSpPr/>
          <p:nvPr/>
        </p:nvGrpSpPr>
        <p:grpSpPr>
          <a:xfrm>
            <a:off x="7655631" y="1441004"/>
            <a:ext cx="1917117" cy="933179"/>
            <a:chOff x="0" y="0"/>
            <a:chExt cx="812800" cy="441477"/>
          </a:xfrm>
        </p:grpSpPr>
        <p:sp>
          <p:nvSpPr>
            <p:cNvPr id="138" name="Freeform 27">
              <a:extLst>
                <a:ext uri="{FF2B5EF4-FFF2-40B4-BE49-F238E27FC236}">
                  <a16:creationId xmlns:a16="http://schemas.microsoft.com/office/drawing/2014/main" id="{0F4CBB0F-A80A-AB9A-29D7-6C1942532876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139" name="TextBox 28">
              <a:extLst>
                <a:ext uri="{FF2B5EF4-FFF2-40B4-BE49-F238E27FC236}">
                  <a16:creationId xmlns:a16="http://schemas.microsoft.com/office/drawing/2014/main" id="{07FEA772-4212-AD44-EFBE-361AC94FF861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140" name="TextBox 32">
            <a:extLst>
              <a:ext uri="{FF2B5EF4-FFF2-40B4-BE49-F238E27FC236}">
                <a16:creationId xmlns:a16="http://schemas.microsoft.com/office/drawing/2014/main" id="{969112A9-3F40-F536-17CB-A67469A2FBDB}"/>
              </a:ext>
            </a:extLst>
          </p:cNvPr>
          <p:cNvSpPr txBox="1"/>
          <p:nvPr/>
        </p:nvSpPr>
        <p:spPr>
          <a:xfrm>
            <a:off x="7826181" y="1700986"/>
            <a:ext cx="1593575" cy="307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ea typeface="Garet"/>
                <a:cs typeface="Garet"/>
                <a:sym typeface="Garet"/>
              </a:rPr>
              <a:t> ✅ </a:t>
            </a:r>
          </a:p>
        </p:txBody>
      </p:sp>
      <p:sp>
        <p:nvSpPr>
          <p:cNvPr id="141" name="AutoShape 69">
            <a:extLst>
              <a:ext uri="{FF2B5EF4-FFF2-40B4-BE49-F238E27FC236}">
                <a16:creationId xmlns:a16="http://schemas.microsoft.com/office/drawing/2014/main" id="{A3BBFBE8-24C2-4A56-3B1E-561177049600}"/>
              </a:ext>
            </a:extLst>
          </p:cNvPr>
          <p:cNvSpPr/>
          <p:nvPr/>
        </p:nvSpPr>
        <p:spPr>
          <a:xfrm flipV="1">
            <a:off x="7101524" y="1924638"/>
            <a:ext cx="573466" cy="1569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46" name="Group 26">
            <a:extLst>
              <a:ext uri="{FF2B5EF4-FFF2-40B4-BE49-F238E27FC236}">
                <a16:creationId xmlns:a16="http://schemas.microsoft.com/office/drawing/2014/main" id="{802FB54D-96F6-73C6-DB89-57AC00632148}"/>
              </a:ext>
            </a:extLst>
          </p:cNvPr>
          <p:cNvGrpSpPr/>
          <p:nvPr/>
        </p:nvGrpSpPr>
        <p:grpSpPr>
          <a:xfrm>
            <a:off x="10089318" y="2847169"/>
            <a:ext cx="1917117" cy="933179"/>
            <a:chOff x="0" y="0"/>
            <a:chExt cx="812800" cy="441477"/>
          </a:xfrm>
        </p:grpSpPr>
        <p:sp>
          <p:nvSpPr>
            <p:cNvPr id="147" name="Freeform 27">
              <a:extLst>
                <a:ext uri="{FF2B5EF4-FFF2-40B4-BE49-F238E27FC236}">
                  <a16:creationId xmlns:a16="http://schemas.microsoft.com/office/drawing/2014/main" id="{FC3C7B43-0420-7754-20B4-86D21EB6E22A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148" name="TextBox 28">
              <a:extLst>
                <a:ext uri="{FF2B5EF4-FFF2-40B4-BE49-F238E27FC236}">
                  <a16:creationId xmlns:a16="http://schemas.microsoft.com/office/drawing/2014/main" id="{14575FC5-052D-C093-77A8-D172A10CC000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149" name="TextBox 32">
            <a:extLst>
              <a:ext uri="{FF2B5EF4-FFF2-40B4-BE49-F238E27FC236}">
                <a16:creationId xmlns:a16="http://schemas.microsoft.com/office/drawing/2014/main" id="{A31A7890-A5D8-C6AC-57E4-465C3C00BB4D}"/>
              </a:ext>
            </a:extLst>
          </p:cNvPr>
          <p:cNvSpPr txBox="1"/>
          <p:nvPr/>
        </p:nvSpPr>
        <p:spPr>
          <a:xfrm>
            <a:off x="10259868" y="3107151"/>
            <a:ext cx="1593575" cy="318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IN" dirty="0"/>
              <a:t>❌ </a:t>
            </a:r>
            <a:endParaRPr lang="en-US" sz="1400" dirty="0">
              <a:solidFill>
                <a:srgbClr val="000000"/>
              </a:solidFill>
              <a:ea typeface="Garet"/>
              <a:cs typeface="Garet"/>
              <a:sym typeface="Garet"/>
            </a:endParaRPr>
          </a:p>
        </p:txBody>
      </p:sp>
      <p:sp>
        <p:nvSpPr>
          <p:cNvPr id="150" name="AutoShape 69">
            <a:extLst>
              <a:ext uri="{FF2B5EF4-FFF2-40B4-BE49-F238E27FC236}">
                <a16:creationId xmlns:a16="http://schemas.microsoft.com/office/drawing/2014/main" id="{C785B430-F894-7E60-B090-E0FB4835636F}"/>
              </a:ext>
            </a:extLst>
          </p:cNvPr>
          <p:cNvSpPr/>
          <p:nvPr/>
        </p:nvSpPr>
        <p:spPr>
          <a:xfrm flipV="1">
            <a:off x="9535211" y="3330803"/>
            <a:ext cx="573466" cy="1569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51" name="Group 26">
            <a:extLst>
              <a:ext uri="{FF2B5EF4-FFF2-40B4-BE49-F238E27FC236}">
                <a16:creationId xmlns:a16="http://schemas.microsoft.com/office/drawing/2014/main" id="{646E5583-1BFB-B6B1-A796-77D30EAEA63D}"/>
              </a:ext>
            </a:extLst>
          </p:cNvPr>
          <p:cNvGrpSpPr/>
          <p:nvPr/>
        </p:nvGrpSpPr>
        <p:grpSpPr>
          <a:xfrm>
            <a:off x="10070464" y="4176349"/>
            <a:ext cx="1917117" cy="933179"/>
            <a:chOff x="0" y="0"/>
            <a:chExt cx="812800" cy="441477"/>
          </a:xfrm>
        </p:grpSpPr>
        <p:sp>
          <p:nvSpPr>
            <p:cNvPr id="152" name="Freeform 27">
              <a:extLst>
                <a:ext uri="{FF2B5EF4-FFF2-40B4-BE49-F238E27FC236}">
                  <a16:creationId xmlns:a16="http://schemas.microsoft.com/office/drawing/2014/main" id="{D208D546-E167-BC04-70DB-7F6B95674AA4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153" name="TextBox 28">
              <a:extLst>
                <a:ext uri="{FF2B5EF4-FFF2-40B4-BE49-F238E27FC236}">
                  <a16:creationId xmlns:a16="http://schemas.microsoft.com/office/drawing/2014/main" id="{CA3E0C4F-FBBE-76EC-F642-3E5242ED13C7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154" name="TextBox 32">
            <a:extLst>
              <a:ext uri="{FF2B5EF4-FFF2-40B4-BE49-F238E27FC236}">
                <a16:creationId xmlns:a16="http://schemas.microsoft.com/office/drawing/2014/main" id="{12F56685-229B-89F6-412F-213604451110}"/>
              </a:ext>
            </a:extLst>
          </p:cNvPr>
          <p:cNvSpPr txBox="1"/>
          <p:nvPr/>
        </p:nvSpPr>
        <p:spPr>
          <a:xfrm>
            <a:off x="10241014" y="4436331"/>
            <a:ext cx="1593575" cy="318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IN" dirty="0"/>
              <a:t>❌ </a:t>
            </a:r>
            <a:endParaRPr lang="en-US" sz="1400" dirty="0">
              <a:solidFill>
                <a:srgbClr val="000000"/>
              </a:solidFill>
              <a:ea typeface="Garet"/>
              <a:cs typeface="Garet"/>
              <a:sym typeface="Garet"/>
            </a:endParaRPr>
          </a:p>
        </p:txBody>
      </p:sp>
      <p:sp>
        <p:nvSpPr>
          <p:cNvPr id="155" name="AutoShape 69">
            <a:extLst>
              <a:ext uri="{FF2B5EF4-FFF2-40B4-BE49-F238E27FC236}">
                <a16:creationId xmlns:a16="http://schemas.microsoft.com/office/drawing/2014/main" id="{C4709E28-CAFA-A616-769F-07C5F562E174}"/>
              </a:ext>
            </a:extLst>
          </p:cNvPr>
          <p:cNvSpPr/>
          <p:nvPr/>
        </p:nvSpPr>
        <p:spPr>
          <a:xfrm flipV="1">
            <a:off x="9516357" y="4659983"/>
            <a:ext cx="573466" cy="1569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56" name="Group 26">
            <a:extLst>
              <a:ext uri="{FF2B5EF4-FFF2-40B4-BE49-F238E27FC236}">
                <a16:creationId xmlns:a16="http://schemas.microsoft.com/office/drawing/2014/main" id="{F45D55B3-2133-B4B7-8EDC-8A229A76DD36}"/>
              </a:ext>
            </a:extLst>
          </p:cNvPr>
          <p:cNvGrpSpPr/>
          <p:nvPr/>
        </p:nvGrpSpPr>
        <p:grpSpPr>
          <a:xfrm>
            <a:off x="7647776" y="5486674"/>
            <a:ext cx="1917117" cy="933179"/>
            <a:chOff x="0" y="0"/>
            <a:chExt cx="812800" cy="441477"/>
          </a:xfrm>
        </p:grpSpPr>
        <p:sp>
          <p:nvSpPr>
            <p:cNvPr id="157" name="Freeform 27">
              <a:extLst>
                <a:ext uri="{FF2B5EF4-FFF2-40B4-BE49-F238E27FC236}">
                  <a16:creationId xmlns:a16="http://schemas.microsoft.com/office/drawing/2014/main" id="{F40661FF-74A0-EE48-09B8-95B617813ABA}"/>
                </a:ext>
              </a:extLst>
            </p:cNvPr>
            <p:cNvSpPr/>
            <p:nvPr/>
          </p:nvSpPr>
          <p:spPr>
            <a:xfrm>
              <a:off x="0" y="0"/>
              <a:ext cx="812800" cy="441477"/>
            </a:xfrm>
            <a:custGeom>
              <a:avLst/>
              <a:gdLst/>
              <a:ahLst/>
              <a:cxnLst/>
              <a:rect l="l" t="t" r="r" b="b"/>
              <a:pathLst>
                <a:path w="812800" h="441477">
                  <a:moveTo>
                    <a:pt x="32358" y="0"/>
                  </a:moveTo>
                  <a:lnTo>
                    <a:pt x="780442" y="0"/>
                  </a:lnTo>
                  <a:cubicBezTo>
                    <a:pt x="798313" y="0"/>
                    <a:pt x="812800" y="14487"/>
                    <a:pt x="812800" y="32358"/>
                  </a:cubicBezTo>
                  <a:lnTo>
                    <a:pt x="812800" y="409119"/>
                  </a:lnTo>
                  <a:cubicBezTo>
                    <a:pt x="812800" y="426990"/>
                    <a:pt x="798313" y="441477"/>
                    <a:pt x="780442" y="441477"/>
                  </a:cubicBezTo>
                  <a:lnTo>
                    <a:pt x="32358" y="441477"/>
                  </a:lnTo>
                  <a:cubicBezTo>
                    <a:pt x="14487" y="441477"/>
                    <a:pt x="0" y="426990"/>
                    <a:pt x="0" y="409119"/>
                  </a:cubicBezTo>
                  <a:lnTo>
                    <a:pt x="0" y="32358"/>
                  </a:lnTo>
                  <a:cubicBezTo>
                    <a:pt x="0" y="14487"/>
                    <a:pt x="14487" y="0"/>
                    <a:pt x="32358" y="0"/>
                  </a:cubicBezTo>
                  <a:close/>
                </a:path>
              </a:pathLst>
            </a:custGeom>
            <a:solidFill>
              <a:srgbClr val="EAEAEC"/>
            </a:solidFill>
            <a:ln cap="sq">
              <a:noFill/>
              <a:prstDash val="solid"/>
              <a:miter/>
            </a:ln>
          </p:spPr>
        </p:sp>
        <p:sp>
          <p:nvSpPr>
            <p:cNvPr id="158" name="TextBox 28">
              <a:extLst>
                <a:ext uri="{FF2B5EF4-FFF2-40B4-BE49-F238E27FC236}">
                  <a16:creationId xmlns:a16="http://schemas.microsoft.com/office/drawing/2014/main" id="{3D1356AA-ED14-578E-4C89-006940C8CD7F}"/>
                </a:ext>
              </a:extLst>
            </p:cNvPr>
            <p:cNvSpPr txBox="1"/>
            <p:nvPr/>
          </p:nvSpPr>
          <p:spPr>
            <a:xfrm>
              <a:off x="0" y="0"/>
              <a:ext cx="812800" cy="44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31"/>
                </a:lnSpc>
              </a:pPr>
              <a:endParaRPr/>
            </a:p>
          </p:txBody>
        </p:sp>
      </p:grpSp>
      <p:sp>
        <p:nvSpPr>
          <p:cNvPr id="159" name="TextBox 32">
            <a:extLst>
              <a:ext uri="{FF2B5EF4-FFF2-40B4-BE49-F238E27FC236}">
                <a16:creationId xmlns:a16="http://schemas.microsoft.com/office/drawing/2014/main" id="{0A33A251-ABEF-319F-3886-DE0E86759AC7}"/>
              </a:ext>
            </a:extLst>
          </p:cNvPr>
          <p:cNvSpPr txBox="1"/>
          <p:nvPr/>
        </p:nvSpPr>
        <p:spPr>
          <a:xfrm>
            <a:off x="7818326" y="5746656"/>
            <a:ext cx="1593575" cy="318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  <a:spcBef>
                <a:spcPct val="0"/>
              </a:spcBef>
            </a:pPr>
            <a:r>
              <a:rPr lang="en-IN" dirty="0"/>
              <a:t>❌ </a:t>
            </a:r>
            <a:endParaRPr lang="en-US" sz="1400" dirty="0">
              <a:solidFill>
                <a:srgbClr val="000000"/>
              </a:solidFill>
              <a:ea typeface="Garet"/>
              <a:cs typeface="Garet"/>
              <a:sym typeface="Garet"/>
            </a:endParaRPr>
          </a:p>
        </p:txBody>
      </p:sp>
      <p:sp>
        <p:nvSpPr>
          <p:cNvPr id="160" name="AutoShape 69">
            <a:extLst>
              <a:ext uri="{FF2B5EF4-FFF2-40B4-BE49-F238E27FC236}">
                <a16:creationId xmlns:a16="http://schemas.microsoft.com/office/drawing/2014/main" id="{EF0ECAD9-5EE8-828B-6A7F-62E231C35E5E}"/>
              </a:ext>
            </a:extLst>
          </p:cNvPr>
          <p:cNvSpPr/>
          <p:nvPr/>
        </p:nvSpPr>
        <p:spPr>
          <a:xfrm flipV="1">
            <a:off x="7093669" y="5970308"/>
            <a:ext cx="573466" cy="1569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</p:spTree>
    <p:extLst>
      <p:ext uri="{BB962C8B-B14F-4D97-AF65-F5344CB8AC3E}">
        <p14:creationId xmlns:p14="http://schemas.microsoft.com/office/powerpoint/2010/main" val="2477911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F9B85-6676-0A73-529B-D1DBD2AA6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3">
            <a:extLst>
              <a:ext uri="{FF2B5EF4-FFF2-40B4-BE49-F238E27FC236}">
                <a16:creationId xmlns:a16="http://schemas.microsoft.com/office/drawing/2014/main" id="{9B326F57-A6CB-CAC3-FD79-D808A89A0402}"/>
              </a:ext>
            </a:extLst>
          </p:cNvPr>
          <p:cNvGrpSpPr/>
          <p:nvPr/>
        </p:nvGrpSpPr>
        <p:grpSpPr>
          <a:xfrm>
            <a:off x="0" y="0"/>
            <a:ext cx="12197080" cy="123825"/>
            <a:chOff x="0" y="828738"/>
            <a:chExt cx="12197080" cy="12382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951C09D1-E7E1-E3C1-681F-651F192980EE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0D49D1A0-BB80-0185-F2C5-5BE058B35747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3">
            <a:extLst>
              <a:ext uri="{FF2B5EF4-FFF2-40B4-BE49-F238E27FC236}">
                <a16:creationId xmlns:a16="http://schemas.microsoft.com/office/drawing/2014/main" id="{893BFF00-49DC-640E-E255-51E693235EC7}"/>
              </a:ext>
            </a:extLst>
          </p:cNvPr>
          <p:cNvGrpSpPr/>
          <p:nvPr/>
        </p:nvGrpSpPr>
        <p:grpSpPr>
          <a:xfrm>
            <a:off x="0" y="1196383"/>
            <a:ext cx="12197080" cy="123825"/>
            <a:chOff x="0" y="828738"/>
            <a:chExt cx="12197080" cy="123825"/>
          </a:xfrm>
        </p:grpSpPr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3C012500-A0C0-33D7-DE88-198C1435742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  <a:lnTo>
                    <a:pt x="12187236" y="0"/>
                  </a:lnTo>
                  <a:close/>
                </a:path>
              </a:pathLst>
            </a:custGeom>
            <a:solidFill>
              <a:srgbClr val="252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8F3E302D-6A43-C0F1-C93A-0370CBB57888}"/>
                </a:ext>
              </a:extLst>
            </p:cNvPr>
            <p:cNvSpPr/>
            <p:nvPr/>
          </p:nvSpPr>
          <p:spPr>
            <a:xfrm>
              <a:off x="4763" y="833500"/>
              <a:ext cx="12187555" cy="114300"/>
            </a:xfrm>
            <a:custGeom>
              <a:avLst/>
              <a:gdLst/>
              <a:ahLst/>
              <a:cxnLst/>
              <a:rect l="l" t="t" r="r" b="b"/>
              <a:pathLst>
                <a:path w="12187555" h="114300">
                  <a:moveTo>
                    <a:pt x="121872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2187236" y="1143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>
            <a:extLst>
              <a:ext uri="{FF2B5EF4-FFF2-40B4-BE49-F238E27FC236}">
                <a16:creationId xmlns:a16="http://schemas.microsoft.com/office/drawing/2014/main" id="{554F605C-2CEA-C0E0-94A6-9231BBE9BD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63770" y="3065233"/>
            <a:ext cx="362608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Arial Black" panose="020B0A04020102020204" pitchFamily="34" charset="0"/>
              </a:rPr>
              <a:t>Thank</a:t>
            </a:r>
            <a:r>
              <a:rPr b="1" spc="-200" dirty="0">
                <a:latin typeface="Arial Black" panose="020B0A04020102020204" pitchFamily="34" charset="0"/>
              </a:rPr>
              <a:t> </a:t>
            </a:r>
            <a:r>
              <a:rPr b="1" spc="-60" dirty="0">
                <a:latin typeface="Arial Black" panose="020B0A04020102020204" pitchFamily="34" charset="0"/>
              </a:rPr>
              <a:t>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7481A8-1958-B30A-55BB-C82C55954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56"/>
            <a:ext cx="3827282" cy="102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724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1831</TotalTime>
  <Words>513</Words>
  <Application>Microsoft Office PowerPoint</Application>
  <PresentationFormat>Widescreen</PresentationFormat>
  <Paragraphs>116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Arial MT</vt:lpstr>
      <vt:lpstr>Calibri</vt:lpstr>
      <vt:lpstr>Calibri Light</vt:lpstr>
      <vt:lpstr>Garet</vt:lpstr>
      <vt:lpstr>Garet Bold</vt:lpstr>
      <vt:lpstr>Office Theme</vt:lpstr>
      <vt:lpstr>PowerPoint Presentation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BALAJI MUTHUKUMAR</dc:creator>
  <cp:lastModifiedBy>BALAJI MUTHUKUMAR</cp:lastModifiedBy>
  <cp:revision>31</cp:revision>
  <dcterms:created xsi:type="dcterms:W3CDTF">2025-03-04T17:03:01Z</dcterms:created>
  <dcterms:modified xsi:type="dcterms:W3CDTF">2026-02-28T15:14:08Z</dcterms:modified>
</cp:coreProperties>
</file>